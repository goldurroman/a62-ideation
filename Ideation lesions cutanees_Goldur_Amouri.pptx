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8" r:id="rId3"/>
    <p:sldId id="257" r:id="rId4"/>
    <p:sldId id="258" r:id="rId5"/>
    <p:sldId id="259" r:id="rId6"/>
    <p:sldId id="261" r:id="rId7"/>
    <p:sldId id="269" r:id="rId8"/>
    <p:sldId id="272" r:id="rId9"/>
    <p:sldId id="273" r:id="rId10"/>
    <p:sldId id="275" r:id="rId11"/>
    <p:sldId id="276"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77119" autoAdjust="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FFE1FE-AA1F-48F6-8CB9-D27223B56D84}" type="doc">
      <dgm:prSet loTypeId="urn:microsoft.com/office/officeart/2005/8/layout/vList2" loCatId="list" qsTypeId="urn:microsoft.com/office/officeart/2005/8/quickstyle/simple5" qsCatId="simple" csTypeId="urn:microsoft.com/office/officeart/2005/8/colors/accent2_1" csCatId="accent2" phldr="1"/>
      <dgm:spPr/>
      <dgm:t>
        <a:bodyPr/>
        <a:lstStyle/>
        <a:p>
          <a:endParaRPr lang="fr-CA"/>
        </a:p>
      </dgm:t>
    </dgm:pt>
    <dgm:pt modelId="{6F6837C5-3993-4416-975F-9F59BC1D3D18}">
      <dgm:prSet/>
      <dgm:spPr/>
      <dgm:t>
        <a:bodyPr/>
        <a:lstStyle/>
        <a:p>
          <a:r>
            <a:rPr lang="fr-CA"/>
            <a:t>Préparation de datasets pour l’entraînement YOLOv8</a:t>
          </a:r>
        </a:p>
      </dgm:t>
    </dgm:pt>
    <dgm:pt modelId="{32D79C55-8D46-43E3-B440-AA34E989A52E}" type="parTrans" cxnId="{443F2A60-CCCE-4913-9ADE-D0CB52A324D4}">
      <dgm:prSet/>
      <dgm:spPr/>
      <dgm:t>
        <a:bodyPr/>
        <a:lstStyle/>
        <a:p>
          <a:endParaRPr lang="fr-CA"/>
        </a:p>
      </dgm:t>
    </dgm:pt>
    <dgm:pt modelId="{05A67555-A726-4511-9AB2-EC4D0F8A38C9}" type="sibTrans" cxnId="{443F2A60-CCCE-4913-9ADE-D0CB52A324D4}">
      <dgm:prSet/>
      <dgm:spPr/>
      <dgm:t>
        <a:bodyPr/>
        <a:lstStyle/>
        <a:p>
          <a:endParaRPr lang="fr-CA"/>
        </a:p>
      </dgm:t>
    </dgm:pt>
    <dgm:pt modelId="{F5B47BC8-0490-42B3-9112-3FF2E89516B3}">
      <dgm:prSet/>
      <dgm:spPr/>
      <dgm:t>
        <a:bodyPr/>
        <a:lstStyle/>
        <a:p>
          <a:r>
            <a:rPr lang="fr-CA"/>
            <a:t>Organisation des images et labels (train/, val/)</a:t>
          </a:r>
        </a:p>
      </dgm:t>
    </dgm:pt>
    <dgm:pt modelId="{842B1997-96BC-4AB4-8EEA-4E3889610EE8}" type="parTrans" cxnId="{86A5617F-1FAE-4CC3-A8E7-B3880227B73C}">
      <dgm:prSet/>
      <dgm:spPr/>
      <dgm:t>
        <a:bodyPr/>
        <a:lstStyle/>
        <a:p>
          <a:endParaRPr lang="fr-CA"/>
        </a:p>
      </dgm:t>
    </dgm:pt>
    <dgm:pt modelId="{6EBD2870-6560-4183-932C-F6C2DD1B3D21}" type="sibTrans" cxnId="{86A5617F-1FAE-4CC3-A8E7-B3880227B73C}">
      <dgm:prSet/>
      <dgm:spPr/>
      <dgm:t>
        <a:bodyPr/>
        <a:lstStyle/>
        <a:p>
          <a:endParaRPr lang="fr-CA"/>
        </a:p>
      </dgm:t>
    </dgm:pt>
    <dgm:pt modelId="{E4E4109E-6E2E-45B6-BF98-7C4A28042AA6}">
      <dgm:prSet/>
      <dgm:spPr/>
      <dgm:t>
        <a:bodyPr/>
        <a:lstStyle/>
        <a:p>
          <a:r>
            <a:rPr lang="fr-CA"/>
            <a:t>Mise en place d’une architecture MLOps modulaire et évolutive</a:t>
          </a:r>
        </a:p>
      </dgm:t>
    </dgm:pt>
    <dgm:pt modelId="{D39621CC-38D3-4535-AE68-944CBEE44BCA}" type="parTrans" cxnId="{A02933A3-D6D8-405D-9FE9-10DC004A93F6}">
      <dgm:prSet/>
      <dgm:spPr/>
      <dgm:t>
        <a:bodyPr/>
        <a:lstStyle/>
        <a:p>
          <a:endParaRPr lang="fr-CA"/>
        </a:p>
      </dgm:t>
    </dgm:pt>
    <dgm:pt modelId="{3F685D28-0790-4AD1-84B1-3261F8A061BE}" type="sibTrans" cxnId="{A02933A3-D6D8-405D-9FE9-10DC004A93F6}">
      <dgm:prSet/>
      <dgm:spPr/>
      <dgm:t>
        <a:bodyPr/>
        <a:lstStyle/>
        <a:p>
          <a:endParaRPr lang="fr-CA"/>
        </a:p>
      </dgm:t>
    </dgm:pt>
    <dgm:pt modelId="{0C82DE19-7EAD-42A3-AA2B-9233F3492F0A}">
      <dgm:prSet/>
      <dgm:spPr/>
      <dgm:t>
        <a:bodyPr/>
        <a:lstStyle/>
        <a:p>
          <a:r>
            <a:rPr lang="fr-CA"/>
            <a:t>Pipeline complet de versioning de données avec DVC</a:t>
          </a:r>
        </a:p>
      </dgm:t>
    </dgm:pt>
    <dgm:pt modelId="{FD1F03BB-0625-4AC6-ABB5-DF38B032F0AC}" type="parTrans" cxnId="{AF2ADEDF-05BC-464A-91E2-2A9DDBA9DA10}">
      <dgm:prSet/>
      <dgm:spPr/>
      <dgm:t>
        <a:bodyPr/>
        <a:lstStyle/>
        <a:p>
          <a:endParaRPr lang="fr-CA"/>
        </a:p>
      </dgm:t>
    </dgm:pt>
    <dgm:pt modelId="{C736D80F-D5C9-476B-92AC-925CFF6BB03E}" type="sibTrans" cxnId="{AF2ADEDF-05BC-464A-91E2-2A9DDBA9DA10}">
      <dgm:prSet/>
      <dgm:spPr/>
      <dgm:t>
        <a:bodyPr/>
        <a:lstStyle/>
        <a:p>
          <a:endParaRPr lang="fr-CA"/>
        </a:p>
      </dgm:t>
    </dgm:pt>
    <dgm:pt modelId="{E25EAF62-BCD1-41D8-B29B-9823A7F456ED}">
      <dgm:prSet/>
      <dgm:spPr/>
      <dgm:t>
        <a:bodyPr/>
        <a:lstStyle/>
        <a:p>
          <a:r>
            <a:rPr lang="fr-CA" dirty="0"/>
            <a:t>Versioning et synchronisation du code et des données</a:t>
          </a:r>
        </a:p>
      </dgm:t>
    </dgm:pt>
    <dgm:pt modelId="{E11FFD6C-A4D9-44AD-B046-1C2AACDE9CCA}" type="parTrans" cxnId="{E9151193-05F5-4F1C-8C64-059102CBA349}">
      <dgm:prSet/>
      <dgm:spPr/>
      <dgm:t>
        <a:bodyPr/>
        <a:lstStyle/>
        <a:p>
          <a:endParaRPr lang="fr-CA"/>
        </a:p>
      </dgm:t>
    </dgm:pt>
    <dgm:pt modelId="{982640C8-7AB9-4FE6-8C13-0EEF09C4CBF4}" type="sibTrans" cxnId="{E9151193-05F5-4F1C-8C64-059102CBA349}">
      <dgm:prSet/>
      <dgm:spPr/>
      <dgm:t>
        <a:bodyPr/>
        <a:lstStyle/>
        <a:p>
          <a:endParaRPr lang="fr-CA"/>
        </a:p>
      </dgm:t>
    </dgm:pt>
    <dgm:pt modelId="{779E12BC-A72B-4FA7-9FB8-B8E57805FE1D}">
      <dgm:prSet/>
      <dgm:spPr/>
      <dgm:t>
        <a:bodyPr/>
        <a:lstStyle/>
        <a:p>
          <a:r>
            <a:rPr lang="fr-CA"/>
            <a:t>Synchronisation Git ↔ DVC ↔ MinIO ↔ Streamlit intégré au workflow pour la reproductibilité</a:t>
          </a:r>
        </a:p>
      </dgm:t>
    </dgm:pt>
    <dgm:pt modelId="{9AD47404-3BA4-4D2D-904C-992FBEE02C30}" type="parTrans" cxnId="{1ACE49D9-B52C-4BE5-895B-5BF0D94C0ABE}">
      <dgm:prSet/>
      <dgm:spPr/>
      <dgm:t>
        <a:bodyPr/>
        <a:lstStyle/>
        <a:p>
          <a:endParaRPr lang="fr-CA"/>
        </a:p>
      </dgm:t>
    </dgm:pt>
    <dgm:pt modelId="{B967577A-ABB3-443B-86B4-00648346F91B}" type="sibTrans" cxnId="{1ACE49D9-B52C-4BE5-895B-5BF0D94C0ABE}">
      <dgm:prSet/>
      <dgm:spPr/>
      <dgm:t>
        <a:bodyPr/>
        <a:lstStyle/>
        <a:p>
          <a:endParaRPr lang="fr-CA"/>
        </a:p>
      </dgm:t>
    </dgm:pt>
    <dgm:pt modelId="{FB1AD2F3-034D-45F4-BFFA-0EE96ACC36B9}">
      <dgm:prSet/>
      <dgm:spPr/>
      <dgm:t>
        <a:bodyPr/>
        <a:lstStyle/>
        <a:p>
          <a:r>
            <a:rPr lang="fr-CA"/>
            <a:t>Gestion des conteneurs</a:t>
          </a:r>
        </a:p>
      </dgm:t>
    </dgm:pt>
    <dgm:pt modelId="{8E93DD55-4508-442E-8E1E-B94EFAEAC984}" type="parTrans" cxnId="{3CB2CE11-D50E-4530-BC25-076536EE0D62}">
      <dgm:prSet/>
      <dgm:spPr/>
      <dgm:t>
        <a:bodyPr/>
        <a:lstStyle/>
        <a:p>
          <a:endParaRPr lang="fr-CA"/>
        </a:p>
      </dgm:t>
    </dgm:pt>
    <dgm:pt modelId="{7B11B438-FCEE-4D7C-83ED-9D0AB9ED3F3B}" type="sibTrans" cxnId="{3CB2CE11-D50E-4530-BC25-076536EE0D62}">
      <dgm:prSet/>
      <dgm:spPr/>
      <dgm:t>
        <a:bodyPr/>
        <a:lstStyle/>
        <a:p>
          <a:endParaRPr lang="fr-CA"/>
        </a:p>
      </dgm:t>
    </dgm:pt>
    <dgm:pt modelId="{90C94B23-3664-4C4D-9D89-DEC27EC579D4}" type="pres">
      <dgm:prSet presAssocID="{B3FFE1FE-AA1F-48F6-8CB9-D27223B56D84}" presName="linear" presStyleCnt="0">
        <dgm:presLayoutVars>
          <dgm:animLvl val="lvl"/>
          <dgm:resizeHandles val="exact"/>
        </dgm:presLayoutVars>
      </dgm:prSet>
      <dgm:spPr/>
    </dgm:pt>
    <dgm:pt modelId="{BB932603-82EC-4120-90A4-7C8B75DC0560}" type="pres">
      <dgm:prSet presAssocID="{6F6837C5-3993-4416-975F-9F59BC1D3D18}" presName="parentText" presStyleLbl="node1" presStyleIdx="0" presStyleCnt="7" custLinFactNeighborY="2557">
        <dgm:presLayoutVars>
          <dgm:chMax val="0"/>
          <dgm:bulletEnabled val="1"/>
        </dgm:presLayoutVars>
      </dgm:prSet>
      <dgm:spPr/>
    </dgm:pt>
    <dgm:pt modelId="{6999901B-56A4-4E8F-A9FD-98364C79E918}" type="pres">
      <dgm:prSet presAssocID="{05A67555-A726-4511-9AB2-EC4D0F8A38C9}" presName="spacer" presStyleCnt="0"/>
      <dgm:spPr/>
    </dgm:pt>
    <dgm:pt modelId="{14E94A38-17DF-41C2-9FC0-32A2FC5D79DB}" type="pres">
      <dgm:prSet presAssocID="{F5B47BC8-0490-42B3-9112-3FF2E89516B3}" presName="parentText" presStyleLbl="node1" presStyleIdx="1" presStyleCnt="7">
        <dgm:presLayoutVars>
          <dgm:chMax val="0"/>
          <dgm:bulletEnabled val="1"/>
        </dgm:presLayoutVars>
      </dgm:prSet>
      <dgm:spPr/>
    </dgm:pt>
    <dgm:pt modelId="{EE4F7A65-8706-40D8-A756-3FAE33BBE6C7}" type="pres">
      <dgm:prSet presAssocID="{6EBD2870-6560-4183-932C-F6C2DD1B3D21}" presName="spacer" presStyleCnt="0"/>
      <dgm:spPr/>
    </dgm:pt>
    <dgm:pt modelId="{1545C6B6-3C6A-4D14-8D9B-01DFAB1A99DC}" type="pres">
      <dgm:prSet presAssocID="{E4E4109E-6E2E-45B6-BF98-7C4A28042AA6}" presName="parentText" presStyleLbl="node1" presStyleIdx="2" presStyleCnt="7">
        <dgm:presLayoutVars>
          <dgm:chMax val="0"/>
          <dgm:bulletEnabled val="1"/>
        </dgm:presLayoutVars>
      </dgm:prSet>
      <dgm:spPr/>
    </dgm:pt>
    <dgm:pt modelId="{3A2C1BAE-DFB5-40C2-853C-698ADCBCFE63}" type="pres">
      <dgm:prSet presAssocID="{3F685D28-0790-4AD1-84B1-3261F8A061BE}" presName="spacer" presStyleCnt="0"/>
      <dgm:spPr/>
    </dgm:pt>
    <dgm:pt modelId="{169C5110-2A0C-43E1-8B49-BFA2A5252318}" type="pres">
      <dgm:prSet presAssocID="{0C82DE19-7EAD-42A3-AA2B-9233F3492F0A}" presName="parentText" presStyleLbl="node1" presStyleIdx="3" presStyleCnt="7">
        <dgm:presLayoutVars>
          <dgm:chMax val="0"/>
          <dgm:bulletEnabled val="1"/>
        </dgm:presLayoutVars>
      </dgm:prSet>
      <dgm:spPr/>
    </dgm:pt>
    <dgm:pt modelId="{2632D04E-742E-4CBD-954A-F1D76431C796}" type="pres">
      <dgm:prSet presAssocID="{C736D80F-D5C9-476B-92AC-925CFF6BB03E}" presName="spacer" presStyleCnt="0"/>
      <dgm:spPr/>
    </dgm:pt>
    <dgm:pt modelId="{D0E9DA6F-69FF-405D-BB36-2D7C204EDA53}" type="pres">
      <dgm:prSet presAssocID="{E25EAF62-BCD1-41D8-B29B-9823A7F456ED}" presName="parentText" presStyleLbl="node1" presStyleIdx="4" presStyleCnt="7">
        <dgm:presLayoutVars>
          <dgm:chMax val="0"/>
          <dgm:bulletEnabled val="1"/>
        </dgm:presLayoutVars>
      </dgm:prSet>
      <dgm:spPr/>
    </dgm:pt>
    <dgm:pt modelId="{113F005E-7ECF-4F39-A134-4FD17B762F8A}" type="pres">
      <dgm:prSet presAssocID="{982640C8-7AB9-4FE6-8C13-0EEF09C4CBF4}" presName="spacer" presStyleCnt="0"/>
      <dgm:spPr/>
    </dgm:pt>
    <dgm:pt modelId="{63766BFD-4EF1-4361-B2A7-872FF878AC01}" type="pres">
      <dgm:prSet presAssocID="{779E12BC-A72B-4FA7-9FB8-B8E57805FE1D}" presName="parentText" presStyleLbl="node1" presStyleIdx="5" presStyleCnt="7">
        <dgm:presLayoutVars>
          <dgm:chMax val="0"/>
          <dgm:bulletEnabled val="1"/>
        </dgm:presLayoutVars>
      </dgm:prSet>
      <dgm:spPr/>
    </dgm:pt>
    <dgm:pt modelId="{1D8C33FB-0EED-4E65-B21B-DF069C1EE209}" type="pres">
      <dgm:prSet presAssocID="{B967577A-ABB3-443B-86B4-00648346F91B}" presName="spacer" presStyleCnt="0"/>
      <dgm:spPr/>
    </dgm:pt>
    <dgm:pt modelId="{CE3AFD5E-A9FB-4ECB-9874-276B6B4CD718}" type="pres">
      <dgm:prSet presAssocID="{FB1AD2F3-034D-45F4-BFFA-0EE96ACC36B9}" presName="parentText" presStyleLbl="node1" presStyleIdx="6" presStyleCnt="7">
        <dgm:presLayoutVars>
          <dgm:chMax val="0"/>
          <dgm:bulletEnabled val="1"/>
        </dgm:presLayoutVars>
      </dgm:prSet>
      <dgm:spPr/>
    </dgm:pt>
  </dgm:ptLst>
  <dgm:cxnLst>
    <dgm:cxn modelId="{3CB2CE11-D50E-4530-BC25-076536EE0D62}" srcId="{B3FFE1FE-AA1F-48F6-8CB9-D27223B56D84}" destId="{FB1AD2F3-034D-45F4-BFFA-0EE96ACC36B9}" srcOrd="6" destOrd="0" parTransId="{8E93DD55-4508-442E-8E1E-B94EFAEAC984}" sibTransId="{7B11B438-FCEE-4D7C-83ED-9D0AB9ED3F3B}"/>
    <dgm:cxn modelId="{04403214-3DBB-4992-B2BA-3D783463C96D}" type="presOf" srcId="{FB1AD2F3-034D-45F4-BFFA-0EE96ACC36B9}" destId="{CE3AFD5E-A9FB-4ECB-9874-276B6B4CD718}" srcOrd="0" destOrd="0" presId="urn:microsoft.com/office/officeart/2005/8/layout/vList2"/>
    <dgm:cxn modelId="{6CD3A62B-6C36-420E-B865-B33DA852A5A9}" type="presOf" srcId="{F5B47BC8-0490-42B3-9112-3FF2E89516B3}" destId="{14E94A38-17DF-41C2-9FC0-32A2FC5D79DB}" srcOrd="0" destOrd="0" presId="urn:microsoft.com/office/officeart/2005/8/layout/vList2"/>
    <dgm:cxn modelId="{443F2A60-CCCE-4913-9ADE-D0CB52A324D4}" srcId="{B3FFE1FE-AA1F-48F6-8CB9-D27223B56D84}" destId="{6F6837C5-3993-4416-975F-9F59BC1D3D18}" srcOrd="0" destOrd="0" parTransId="{32D79C55-8D46-43E3-B440-AA34E989A52E}" sibTransId="{05A67555-A726-4511-9AB2-EC4D0F8A38C9}"/>
    <dgm:cxn modelId="{C2492246-3472-4C58-801A-9355CC977163}" type="presOf" srcId="{E25EAF62-BCD1-41D8-B29B-9823A7F456ED}" destId="{D0E9DA6F-69FF-405D-BB36-2D7C204EDA53}" srcOrd="0" destOrd="0" presId="urn:microsoft.com/office/officeart/2005/8/layout/vList2"/>
    <dgm:cxn modelId="{2E05EE7D-0225-45D7-8FA3-386311A0DF0C}" type="presOf" srcId="{E4E4109E-6E2E-45B6-BF98-7C4A28042AA6}" destId="{1545C6B6-3C6A-4D14-8D9B-01DFAB1A99DC}" srcOrd="0" destOrd="0" presId="urn:microsoft.com/office/officeart/2005/8/layout/vList2"/>
    <dgm:cxn modelId="{86A5617F-1FAE-4CC3-A8E7-B3880227B73C}" srcId="{B3FFE1FE-AA1F-48F6-8CB9-D27223B56D84}" destId="{F5B47BC8-0490-42B3-9112-3FF2E89516B3}" srcOrd="1" destOrd="0" parTransId="{842B1997-96BC-4AB4-8EEA-4E3889610EE8}" sibTransId="{6EBD2870-6560-4183-932C-F6C2DD1B3D21}"/>
    <dgm:cxn modelId="{4B842789-F007-4856-9697-4B84FB500BAE}" type="presOf" srcId="{779E12BC-A72B-4FA7-9FB8-B8E57805FE1D}" destId="{63766BFD-4EF1-4361-B2A7-872FF878AC01}" srcOrd="0" destOrd="0" presId="urn:microsoft.com/office/officeart/2005/8/layout/vList2"/>
    <dgm:cxn modelId="{C4B3DF90-CA13-415D-ACEC-1809B736B84A}" type="presOf" srcId="{6F6837C5-3993-4416-975F-9F59BC1D3D18}" destId="{BB932603-82EC-4120-90A4-7C8B75DC0560}" srcOrd="0" destOrd="0" presId="urn:microsoft.com/office/officeart/2005/8/layout/vList2"/>
    <dgm:cxn modelId="{E9151193-05F5-4F1C-8C64-059102CBA349}" srcId="{B3FFE1FE-AA1F-48F6-8CB9-D27223B56D84}" destId="{E25EAF62-BCD1-41D8-B29B-9823A7F456ED}" srcOrd="4" destOrd="0" parTransId="{E11FFD6C-A4D9-44AD-B046-1C2AACDE9CCA}" sibTransId="{982640C8-7AB9-4FE6-8C13-0EEF09C4CBF4}"/>
    <dgm:cxn modelId="{A02933A3-D6D8-405D-9FE9-10DC004A93F6}" srcId="{B3FFE1FE-AA1F-48F6-8CB9-D27223B56D84}" destId="{E4E4109E-6E2E-45B6-BF98-7C4A28042AA6}" srcOrd="2" destOrd="0" parTransId="{D39621CC-38D3-4535-AE68-944CBEE44BCA}" sibTransId="{3F685D28-0790-4AD1-84B1-3261F8A061BE}"/>
    <dgm:cxn modelId="{1ACE49D9-B52C-4BE5-895B-5BF0D94C0ABE}" srcId="{B3FFE1FE-AA1F-48F6-8CB9-D27223B56D84}" destId="{779E12BC-A72B-4FA7-9FB8-B8E57805FE1D}" srcOrd="5" destOrd="0" parTransId="{9AD47404-3BA4-4D2D-904C-992FBEE02C30}" sibTransId="{B967577A-ABB3-443B-86B4-00648346F91B}"/>
    <dgm:cxn modelId="{6C74C7D9-2AFB-4A2A-9D5B-EDE0BFA0BB33}" type="presOf" srcId="{B3FFE1FE-AA1F-48F6-8CB9-D27223B56D84}" destId="{90C94B23-3664-4C4D-9D89-DEC27EC579D4}" srcOrd="0" destOrd="0" presId="urn:microsoft.com/office/officeart/2005/8/layout/vList2"/>
    <dgm:cxn modelId="{AF2ADEDF-05BC-464A-91E2-2A9DDBA9DA10}" srcId="{B3FFE1FE-AA1F-48F6-8CB9-D27223B56D84}" destId="{0C82DE19-7EAD-42A3-AA2B-9233F3492F0A}" srcOrd="3" destOrd="0" parTransId="{FD1F03BB-0625-4AC6-ABB5-DF38B032F0AC}" sibTransId="{C736D80F-D5C9-476B-92AC-925CFF6BB03E}"/>
    <dgm:cxn modelId="{C513C9F6-BF01-4FDB-97B3-2C587655A9C2}" type="presOf" srcId="{0C82DE19-7EAD-42A3-AA2B-9233F3492F0A}" destId="{169C5110-2A0C-43E1-8B49-BFA2A5252318}" srcOrd="0" destOrd="0" presId="urn:microsoft.com/office/officeart/2005/8/layout/vList2"/>
    <dgm:cxn modelId="{E965F4B2-F5C1-4F4A-A4F6-120AA6702972}" type="presParOf" srcId="{90C94B23-3664-4C4D-9D89-DEC27EC579D4}" destId="{BB932603-82EC-4120-90A4-7C8B75DC0560}" srcOrd="0" destOrd="0" presId="urn:microsoft.com/office/officeart/2005/8/layout/vList2"/>
    <dgm:cxn modelId="{C0795609-7EB1-453D-B526-7CB6DD766CC3}" type="presParOf" srcId="{90C94B23-3664-4C4D-9D89-DEC27EC579D4}" destId="{6999901B-56A4-4E8F-A9FD-98364C79E918}" srcOrd="1" destOrd="0" presId="urn:microsoft.com/office/officeart/2005/8/layout/vList2"/>
    <dgm:cxn modelId="{1816B4FB-5221-4F42-821C-6834F8CDC70C}" type="presParOf" srcId="{90C94B23-3664-4C4D-9D89-DEC27EC579D4}" destId="{14E94A38-17DF-41C2-9FC0-32A2FC5D79DB}" srcOrd="2" destOrd="0" presId="urn:microsoft.com/office/officeart/2005/8/layout/vList2"/>
    <dgm:cxn modelId="{1E3F37D6-BC61-4567-B695-84285B4AA122}" type="presParOf" srcId="{90C94B23-3664-4C4D-9D89-DEC27EC579D4}" destId="{EE4F7A65-8706-40D8-A756-3FAE33BBE6C7}" srcOrd="3" destOrd="0" presId="urn:microsoft.com/office/officeart/2005/8/layout/vList2"/>
    <dgm:cxn modelId="{9B4A4951-4C54-49E8-962C-F7A04B12CFF9}" type="presParOf" srcId="{90C94B23-3664-4C4D-9D89-DEC27EC579D4}" destId="{1545C6B6-3C6A-4D14-8D9B-01DFAB1A99DC}" srcOrd="4" destOrd="0" presId="urn:microsoft.com/office/officeart/2005/8/layout/vList2"/>
    <dgm:cxn modelId="{C33F6BB3-ABAB-463F-83F2-C7D3BD58D2C3}" type="presParOf" srcId="{90C94B23-3664-4C4D-9D89-DEC27EC579D4}" destId="{3A2C1BAE-DFB5-40C2-853C-698ADCBCFE63}" srcOrd="5" destOrd="0" presId="urn:microsoft.com/office/officeart/2005/8/layout/vList2"/>
    <dgm:cxn modelId="{B8383AC9-378E-4721-B5C5-ACBDB39E4EA3}" type="presParOf" srcId="{90C94B23-3664-4C4D-9D89-DEC27EC579D4}" destId="{169C5110-2A0C-43E1-8B49-BFA2A5252318}" srcOrd="6" destOrd="0" presId="urn:microsoft.com/office/officeart/2005/8/layout/vList2"/>
    <dgm:cxn modelId="{5C2EAAFD-B07A-4994-B649-6649D32137DC}" type="presParOf" srcId="{90C94B23-3664-4C4D-9D89-DEC27EC579D4}" destId="{2632D04E-742E-4CBD-954A-F1D76431C796}" srcOrd="7" destOrd="0" presId="urn:microsoft.com/office/officeart/2005/8/layout/vList2"/>
    <dgm:cxn modelId="{513445B1-0526-473C-8AA7-E89E1F244E02}" type="presParOf" srcId="{90C94B23-3664-4C4D-9D89-DEC27EC579D4}" destId="{D0E9DA6F-69FF-405D-BB36-2D7C204EDA53}" srcOrd="8" destOrd="0" presId="urn:microsoft.com/office/officeart/2005/8/layout/vList2"/>
    <dgm:cxn modelId="{DA9B379A-03FD-4DBC-A521-A3058E4483DA}" type="presParOf" srcId="{90C94B23-3664-4C4D-9D89-DEC27EC579D4}" destId="{113F005E-7ECF-4F39-A134-4FD17B762F8A}" srcOrd="9" destOrd="0" presId="urn:microsoft.com/office/officeart/2005/8/layout/vList2"/>
    <dgm:cxn modelId="{AFFF917A-CC83-4A54-B331-A06AB02D8929}" type="presParOf" srcId="{90C94B23-3664-4C4D-9D89-DEC27EC579D4}" destId="{63766BFD-4EF1-4361-B2A7-872FF878AC01}" srcOrd="10" destOrd="0" presId="urn:microsoft.com/office/officeart/2005/8/layout/vList2"/>
    <dgm:cxn modelId="{9D48EE2D-E880-497F-B814-3E5125097816}" type="presParOf" srcId="{90C94B23-3664-4C4D-9D89-DEC27EC579D4}" destId="{1D8C33FB-0EED-4E65-B21B-DF069C1EE209}" srcOrd="11" destOrd="0" presId="urn:microsoft.com/office/officeart/2005/8/layout/vList2"/>
    <dgm:cxn modelId="{9C807702-700F-4197-A7DA-EF1CF264B753}" type="presParOf" srcId="{90C94B23-3664-4C4D-9D89-DEC27EC579D4}" destId="{CE3AFD5E-A9FB-4ECB-9874-276B6B4CD718}"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932603-82EC-4120-90A4-7C8B75DC0560}">
      <dsp:nvSpPr>
        <dsp:cNvPr id="0" name=""/>
        <dsp:cNvSpPr/>
      </dsp:nvSpPr>
      <dsp:spPr>
        <a:xfrm>
          <a:off x="0" y="941552"/>
          <a:ext cx="8412480" cy="38376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CA" sz="1600" kern="1200"/>
            <a:t>Préparation de datasets pour l’entraînement YOLOv8</a:t>
          </a:r>
        </a:p>
      </dsp:txBody>
      <dsp:txXfrm>
        <a:off x="18734" y="960286"/>
        <a:ext cx="8375012" cy="346292"/>
      </dsp:txXfrm>
    </dsp:sp>
    <dsp:sp modelId="{14E94A38-17DF-41C2-9FC0-32A2FC5D79DB}">
      <dsp:nvSpPr>
        <dsp:cNvPr id="0" name=""/>
        <dsp:cNvSpPr/>
      </dsp:nvSpPr>
      <dsp:spPr>
        <a:xfrm>
          <a:off x="0" y="1370214"/>
          <a:ext cx="8412480" cy="38376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CA" sz="1600" kern="1200"/>
            <a:t>Organisation des images et labels (train/, val/)</a:t>
          </a:r>
        </a:p>
      </dsp:txBody>
      <dsp:txXfrm>
        <a:off x="18734" y="1388948"/>
        <a:ext cx="8375012" cy="346292"/>
      </dsp:txXfrm>
    </dsp:sp>
    <dsp:sp modelId="{1545C6B6-3C6A-4D14-8D9B-01DFAB1A99DC}">
      <dsp:nvSpPr>
        <dsp:cNvPr id="0" name=""/>
        <dsp:cNvSpPr/>
      </dsp:nvSpPr>
      <dsp:spPr>
        <a:xfrm>
          <a:off x="0" y="1800054"/>
          <a:ext cx="8412480" cy="38376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CA" sz="1600" kern="1200"/>
            <a:t>Mise en place d’une architecture MLOps modulaire et évolutive</a:t>
          </a:r>
        </a:p>
      </dsp:txBody>
      <dsp:txXfrm>
        <a:off x="18734" y="1818788"/>
        <a:ext cx="8375012" cy="346292"/>
      </dsp:txXfrm>
    </dsp:sp>
    <dsp:sp modelId="{169C5110-2A0C-43E1-8B49-BFA2A5252318}">
      <dsp:nvSpPr>
        <dsp:cNvPr id="0" name=""/>
        <dsp:cNvSpPr/>
      </dsp:nvSpPr>
      <dsp:spPr>
        <a:xfrm>
          <a:off x="0" y="2229894"/>
          <a:ext cx="8412480" cy="38376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CA" sz="1600" kern="1200"/>
            <a:t>Pipeline complet de versioning de données avec DVC</a:t>
          </a:r>
        </a:p>
      </dsp:txBody>
      <dsp:txXfrm>
        <a:off x="18734" y="2248628"/>
        <a:ext cx="8375012" cy="346292"/>
      </dsp:txXfrm>
    </dsp:sp>
    <dsp:sp modelId="{D0E9DA6F-69FF-405D-BB36-2D7C204EDA53}">
      <dsp:nvSpPr>
        <dsp:cNvPr id="0" name=""/>
        <dsp:cNvSpPr/>
      </dsp:nvSpPr>
      <dsp:spPr>
        <a:xfrm>
          <a:off x="0" y="2659734"/>
          <a:ext cx="8412480" cy="38376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CA" sz="1600" kern="1200" dirty="0"/>
            <a:t>Versioning et synchronisation du code et des données</a:t>
          </a:r>
        </a:p>
      </dsp:txBody>
      <dsp:txXfrm>
        <a:off x="18734" y="2678468"/>
        <a:ext cx="8375012" cy="346292"/>
      </dsp:txXfrm>
    </dsp:sp>
    <dsp:sp modelId="{63766BFD-4EF1-4361-B2A7-872FF878AC01}">
      <dsp:nvSpPr>
        <dsp:cNvPr id="0" name=""/>
        <dsp:cNvSpPr/>
      </dsp:nvSpPr>
      <dsp:spPr>
        <a:xfrm>
          <a:off x="0" y="3089574"/>
          <a:ext cx="8412480" cy="38376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CA" sz="1600" kern="1200"/>
            <a:t>Synchronisation Git ↔ DVC ↔ MinIO ↔ Streamlit intégré au workflow pour la reproductibilité</a:t>
          </a:r>
        </a:p>
      </dsp:txBody>
      <dsp:txXfrm>
        <a:off x="18734" y="3108308"/>
        <a:ext cx="8375012" cy="346292"/>
      </dsp:txXfrm>
    </dsp:sp>
    <dsp:sp modelId="{CE3AFD5E-A9FB-4ECB-9874-276B6B4CD718}">
      <dsp:nvSpPr>
        <dsp:cNvPr id="0" name=""/>
        <dsp:cNvSpPr/>
      </dsp:nvSpPr>
      <dsp:spPr>
        <a:xfrm>
          <a:off x="0" y="3519414"/>
          <a:ext cx="8412480" cy="38376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CA" sz="1600" kern="1200"/>
            <a:t>Gestion des conteneurs</a:t>
          </a:r>
        </a:p>
      </dsp:txBody>
      <dsp:txXfrm>
        <a:off x="18734" y="3538148"/>
        <a:ext cx="8375012"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42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Doiet </a:t>
            </a:r>
            <a:r>
              <a:rPr lang="en-US" dirty="0" err="1"/>
              <a:t>etre</a:t>
            </a:r>
            <a:r>
              <a:rPr lang="en-US" dirty="0"/>
              <a:t> </a:t>
            </a:r>
            <a:r>
              <a:rPr lang="en-US" dirty="0" err="1"/>
              <a:t>explicite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 </a:t>
            </a:r>
            <a:r>
              <a:rPr lang="en-US" dirty="0" err="1"/>
              <a:t>nempeche</a:t>
            </a:r>
            <a:r>
              <a:rPr lang="en-US" dirty="0"/>
              <a:t> pas le </a:t>
            </a:r>
            <a:r>
              <a:rPr lang="en-US" dirty="0" err="1"/>
              <a:t>systeme</a:t>
            </a:r>
            <a:r>
              <a:rPr lang="en-US" dirty="0"/>
              <a:t> de </a:t>
            </a:r>
            <a:r>
              <a:rPr lang="en-US" dirty="0" err="1"/>
              <a:t>fonctionner</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fr-CA" dirty="0"/>
              <a:t>1-Trouver le bon </a:t>
            </a:r>
            <a:r>
              <a:rPr lang="fr-CA" dirty="0" err="1"/>
              <a:t>dataset</a:t>
            </a:r>
            <a:r>
              <a:rPr lang="fr-CA" dirty="0"/>
              <a:t> qui permet la segmentation. </a:t>
            </a:r>
          </a:p>
          <a:p>
            <a:r>
              <a:rPr lang="fr-CA" dirty="0"/>
              <a:t>2-La classification qu’on a faite avant est seulement une classification (clustering).</a:t>
            </a:r>
            <a:br>
              <a:rPr lang="fr-CA" dirty="0"/>
            </a:br>
            <a:r>
              <a:rPr lang="fr-CA" dirty="0"/>
              <a:t>3-La segmentation vise plutôt à détecter l’image et les surfaces afin de déterminer s’il s’agit d’une lésion anormale. Si la forme n’est pas régulière, cela peut potentiellement indiquer une maladie. </a:t>
            </a:r>
          </a:p>
          <a:p>
            <a:r>
              <a:rPr lang="fr-CA" dirty="0"/>
              <a:t>4-La taille du </a:t>
            </a:r>
            <a:r>
              <a:rPr lang="fr-CA" dirty="0" err="1"/>
              <a:t>dataset</a:t>
            </a:r>
            <a:r>
              <a:rPr lang="fr-CA" dirty="0"/>
              <a:t> pour entraîner le modèle : plus de 2300 images (environ 10 Go d’images visuelles). </a:t>
            </a:r>
          </a:p>
          <a:p>
            <a:r>
              <a:rPr lang="fr-CA" dirty="0"/>
              <a:t>5-Supprimer les </a:t>
            </a:r>
            <a:r>
              <a:rPr lang="fr-CA" dirty="0" err="1"/>
              <a:t>datasets</a:t>
            </a:r>
            <a:r>
              <a:rPr lang="fr-CA" dirty="0"/>
              <a:t> inutiles afin de réduire la taille du stockage. </a:t>
            </a:r>
          </a:p>
          <a:p>
            <a:r>
              <a:rPr lang="fr-CA" dirty="0"/>
              <a:t>6-Entraîner le modèle avec un plus petit </a:t>
            </a:r>
            <a:r>
              <a:rPr lang="fr-CA" dirty="0" err="1"/>
              <a:t>dataset</a:t>
            </a:r>
            <a:r>
              <a:rPr lang="fr-CA" dirty="0"/>
              <a:t>. </a:t>
            </a:r>
          </a:p>
          <a:p>
            <a:r>
              <a:rPr lang="fr-CA" dirty="0"/>
              <a:t>7-Limite du Drive. </a:t>
            </a:r>
          </a:p>
          <a:p>
            <a:r>
              <a:rPr lang="fr-CA" dirty="0"/>
              <a:t>8-Lenteur lors de l’</a:t>
            </a:r>
            <a:r>
              <a:rPr lang="fr-CA" dirty="0" err="1"/>
              <a:t>upload</a:t>
            </a:r>
            <a:r>
              <a:rPr lang="fr-CA" dirty="0"/>
              <a:t>. </a:t>
            </a:r>
          </a:p>
          <a:p>
            <a:r>
              <a:rPr lang="fr-CA" dirty="0"/>
              <a:t>9-Lors de l’</a:t>
            </a:r>
            <a:r>
              <a:rPr lang="fr-CA" dirty="0" err="1"/>
              <a:t>upload</a:t>
            </a:r>
            <a:r>
              <a:rPr lang="fr-CA" dirty="0"/>
              <a:t> du fichier ZIP, le </a:t>
            </a:r>
            <a:r>
              <a:rPr lang="fr-CA" dirty="0" err="1"/>
              <a:t>dézippage</a:t>
            </a:r>
            <a:r>
              <a:rPr lang="fr-CA" dirty="0"/>
              <a:t> prend beaucoup de temps. </a:t>
            </a:r>
          </a:p>
          <a:p>
            <a:r>
              <a:rPr lang="fr-CA" dirty="0"/>
              <a:t>10-Utilisation du GPU pour de meilleures performances. </a:t>
            </a:r>
          </a:p>
          <a:p>
            <a:r>
              <a:rPr lang="fr-CA" dirty="0"/>
              <a:t>11-Limite du GPU T4 disponible. </a:t>
            </a:r>
          </a:p>
          <a:p>
            <a:r>
              <a:rPr lang="fr-CA" dirty="0"/>
              <a:t>12-Limite de 5 Go sur </a:t>
            </a:r>
            <a:r>
              <a:rPr lang="fr-CA" dirty="0" err="1"/>
              <a:t>Colab</a:t>
            </a:r>
            <a:r>
              <a:rPr lang="fr-CA" dirty="0"/>
              <a:t>. </a:t>
            </a:r>
          </a:p>
          <a:p>
            <a:r>
              <a:rPr lang="fr-CA" dirty="0"/>
              <a:t>13-Lorsque nous essayons d’entraîner le modèle, le kernel plante. </a:t>
            </a:r>
          </a:p>
          <a:p>
            <a:r>
              <a:rPr lang="fr-CA" dirty="0"/>
              <a:t>14-Prendre un échantillon du </a:t>
            </a:r>
            <a:r>
              <a:rPr lang="fr-CA" dirty="0" err="1"/>
              <a:t>dataset</a:t>
            </a:r>
            <a:r>
              <a:rPr lang="fr-CA" dirty="0"/>
              <a:t> afin d’éviter le surentraînement ou le </a:t>
            </a:r>
            <a:r>
              <a:rPr lang="fr-CA" dirty="0" err="1"/>
              <a:t>sous-entraînement</a:t>
            </a:r>
            <a:r>
              <a:rPr lang="fr-CA" dirty="0"/>
              <a:t>. </a:t>
            </a:r>
          </a:p>
          <a:p>
            <a:r>
              <a:rPr lang="fr-CA" dirty="0"/>
              <a:t>15- On a essaye de </a:t>
            </a:r>
            <a:r>
              <a:rPr lang="fr-CA" dirty="0" err="1"/>
              <a:t>kaggle</a:t>
            </a:r>
            <a:r>
              <a:rPr lang="fr-CA" dirty="0"/>
              <a:t> pour entrainer, permet utilisation de plusieurs ressources sauf que </a:t>
            </a:r>
            <a:r>
              <a:rPr lang="fr-CA" dirty="0" err="1"/>
              <a:t>kaggle</a:t>
            </a:r>
            <a:r>
              <a:rPr lang="fr-CA" dirty="0"/>
              <a:t> ne sauvegarde pas le </a:t>
            </a:r>
            <a:r>
              <a:rPr lang="fr-CA" dirty="0" err="1"/>
              <a:t>resultat</a:t>
            </a:r>
            <a:r>
              <a:rPr lang="fr-CA" dirty="0"/>
              <a:t> d`exécution après la </a:t>
            </a:r>
            <a:r>
              <a:rPr lang="fr-CA" dirty="0" err="1"/>
              <a:t>deconnexion</a:t>
            </a:r>
            <a:r>
              <a:rPr lang="fr-CA" dirty="0"/>
              <a:t> du run time</a:t>
            </a:r>
          </a:p>
          <a:p>
            <a:r>
              <a:rPr lang="fr-CA" dirty="0"/>
              <a:t>16- pris 150 images pour le train, 50 test, 50 validation</a:t>
            </a:r>
          </a:p>
          <a:p>
            <a:endParaRPr lang="fr-CA" dirty="0"/>
          </a:p>
        </p:txBody>
      </p:sp>
    </p:spTree>
    <p:extLst>
      <p:ext uri="{BB962C8B-B14F-4D97-AF65-F5344CB8AC3E}">
        <p14:creationId xmlns:p14="http://schemas.microsoft.com/office/powerpoint/2010/main" val="4071040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5029200" y="0"/>
            <a:ext cx="4114800" cy="5143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orthographicFront"/>
            <a:lightRig rig="threePt" dir="t"/>
          </a:scene3d>
          <a:sp3d>
            <a:bevelT w="165100" prst="coolSlant"/>
          </a:sp3d>
        </p:spPr>
      </p:pic>
      <p:sp>
        <p:nvSpPr>
          <p:cNvPr id="4" name="Shape 1"/>
          <p:cNvSpPr/>
          <p:nvPr/>
        </p:nvSpPr>
        <p:spPr>
          <a:xfrm>
            <a:off x="4846320" y="0"/>
            <a:ext cx="457200" cy="5143500"/>
          </a:xfrm>
          <a:prstGeom prst="rect">
            <a:avLst/>
          </a:prstGeom>
          <a:solidFill>
            <a:srgbClr val="0D1B2A"/>
          </a:solidFill>
          <a:ln/>
        </p:spPr>
        <p:txBody>
          <a:bodyPr/>
          <a:lstStyle/>
          <a:p>
            <a:endParaRPr lang="fr-CA"/>
          </a:p>
        </p:txBody>
      </p:sp>
      <p:sp>
        <p:nvSpPr>
          <p:cNvPr id="5" name="Shape 2"/>
          <p:cNvSpPr/>
          <p:nvPr/>
        </p:nvSpPr>
        <p:spPr>
          <a:xfrm>
            <a:off x="5029200" y="0"/>
            <a:ext cx="274320" cy="5143500"/>
          </a:xfrm>
          <a:prstGeom prst="rect">
            <a:avLst/>
          </a:prstGeom>
          <a:solidFill>
            <a:schemeClr val="bg2">
              <a:alpha val="80000"/>
            </a:schemeClr>
          </a:solidFill>
          <a:ln/>
          <a:scene3d>
            <a:camera prst="orthographicFront"/>
            <a:lightRig rig="threePt" dir="t"/>
          </a:scene3d>
          <a:sp3d>
            <a:bevelT w="152400" h="50800" prst="softRound"/>
          </a:sp3d>
        </p:spPr>
        <p:txBody>
          <a:bodyPr/>
          <a:lstStyle/>
          <a:p>
            <a:endParaRPr lang="fr-CA" dirty="0"/>
          </a:p>
        </p:txBody>
      </p:sp>
      <p:sp>
        <p:nvSpPr>
          <p:cNvPr id="6" name="Shape 3"/>
          <p:cNvSpPr/>
          <p:nvPr/>
        </p:nvSpPr>
        <p:spPr>
          <a:xfrm>
            <a:off x="0" y="0"/>
            <a:ext cx="109728" cy="5143500"/>
          </a:xfrm>
          <a:prstGeom prst="rect">
            <a:avLst/>
          </a:prstGeom>
          <a:solidFill>
            <a:srgbClr val="00B4D8"/>
          </a:solidFill>
          <a:ln/>
        </p:spPr>
        <p:txBody>
          <a:bodyPr/>
          <a:lstStyle/>
          <a:p>
            <a:endParaRPr lang="fr-CA"/>
          </a:p>
        </p:txBody>
      </p:sp>
      <p:sp>
        <p:nvSpPr>
          <p:cNvPr id="7" name="Shape 4"/>
          <p:cNvSpPr/>
          <p:nvPr/>
        </p:nvSpPr>
        <p:spPr>
          <a:xfrm>
            <a:off x="457200" y="457200"/>
            <a:ext cx="2560320" cy="384048"/>
          </a:xfrm>
          <a:prstGeom prst="roundRect">
            <a:avLst>
              <a:gd name="adj" fmla="val 35714"/>
            </a:avLst>
          </a:prstGeom>
          <a:solidFill>
            <a:srgbClr val="00B4D8">
              <a:alpha val="80000"/>
            </a:srgbClr>
          </a:solidFill>
          <a:ln/>
          <a:scene3d>
            <a:camera prst="orthographicFront"/>
            <a:lightRig rig="threePt" dir="t"/>
          </a:scene3d>
          <a:sp3d>
            <a:bevelT w="165100" prst="coolSlant"/>
          </a:sp3d>
        </p:spPr>
        <p:txBody>
          <a:bodyPr/>
          <a:lstStyle/>
          <a:p>
            <a:endParaRPr lang="fr-CA" dirty="0"/>
          </a:p>
        </p:txBody>
      </p:sp>
      <p:sp>
        <p:nvSpPr>
          <p:cNvPr id="8" name="Text 5"/>
          <p:cNvSpPr/>
          <p:nvPr/>
        </p:nvSpPr>
        <p:spPr>
          <a:xfrm>
            <a:off x="457200" y="457200"/>
            <a:ext cx="2560320" cy="384048"/>
          </a:xfrm>
          <a:prstGeom prst="rect">
            <a:avLst/>
          </a:prstGeom>
          <a:noFill/>
          <a:ln/>
        </p:spPr>
        <p:txBody>
          <a:bodyPr wrap="square" lIns="0" tIns="0" rIns="0" bIns="0" rtlCol="0" anchor="ctr"/>
          <a:lstStyle/>
          <a:p>
            <a:pPr marL="0" indent="0" algn="ctr">
              <a:buNone/>
            </a:pPr>
            <a:r>
              <a:rPr lang="en-US" sz="900" b="1" kern="0" spc="200" dirty="0">
                <a:solidFill>
                  <a:srgbClr val="FFFFFF"/>
                </a:solidFill>
              </a:rPr>
              <a:t>PROJET DE SYNTHÈSE</a:t>
            </a:r>
          </a:p>
          <a:p>
            <a:pPr algn="ctr"/>
            <a:r>
              <a:rPr lang="en-US" sz="900" b="1" kern="0" spc="200" dirty="0" err="1">
                <a:solidFill>
                  <a:srgbClr val="FFFFFF"/>
                </a:solidFill>
              </a:rPr>
              <a:t>Pr</a:t>
            </a:r>
            <a:r>
              <a:rPr lang="en-US" sz="900" b="1" kern="0" spc="200" dirty="0">
                <a:solidFill>
                  <a:srgbClr val="FFFFFF"/>
                </a:solidFill>
              </a:rPr>
              <a:t>: </a:t>
            </a:r>
            <a:r>
              <a:rPr lang="fr-CA" sz="900" b="1" kern="0" spc="200" dirty="0">
                <a:solidFill>
                  <a:srgbClr val="FFFFFF"/>
                </a:solidFill>
              </a:rPr>
              <a:t>Hafed </a:t>
            </a:r>
            <a:r>
              <a:rPr lang="fr-CA" sz="900" b="1" kern="0" spc="200" dirty="0" err="1">
                <a:solidFill>
                  <a:srgbClr val="FFFFFF"/>
                </a:solidFill>
              </a:rPr>
              <a:t>Benteftifa</a:t>
            </a:r>
            <a:r>
              <a:rPr lang="fr-CA" sz="900" b="1" kern="0" spc="200" dirty="0">
                <a:solidFill>
                  <a:srgbClr val="FFFFFF"/>
                </a:solidFill>
              </a:rPr>
              <a:t> </a:t>
            </a:r>
            <a:endParaRPr lang="en-US" sz="900" b="1" kern="0" spc="200" dirty="0">
              <a:solidFill>
                <a:srgbClr val="FFFFFF"/>
              </a:solidFill>
            </a:endParaRPr>
          </a:p>
        </p:txBody>
      </p:sp>
      <p:sp>
        <p:nvSpPr>
          <p:cNvPr id="9" name="Text 6"/>
          <p:cNvSpPr/>
          <p:nvPr/>
        </p:nvSpPr>
        <p:spPr>
          <a:xfrm>
            <a:off x="457200" y="1005840"/>
            <a:ext cx="4754880" cy="7772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Segmentation de</a:t>
            </a:r>
            <a:endParaRPr lang="en-US" sz="4000" dirty="0"/>
          </a:p>
        </p:txBody>
      </p:sp>
      <p:sp>
        <p:nvSpPr>
          <p:cNvPr id="10" name="Text 7"/>
          <p:cNvSpPr/>
          <p:nvPr/>
        </p:nvSpPr>
        <p:spPr>
          <a:xfrm>
            <a:off x="457200" y="1691640"/>
            <a:ext cx="4754880" cy="777240"/>
          </a:xfrm>
          <a:prstGeom prst="rect">
            <a:avLst/>
          </a:prstGeom>
          <a:noFill/>
          <a:ln/>
        </p:spPr>
        <p:txBody>
          <a:bodyPr wrap="square" rtlCol="0" anchor="ctr"/>
          <a:lstStyle/>
          <a:p>
            <a:pPr marL="0" indent="0">
              <a:buNone/>
            </a:pPr>
            <a:r>
              <a:rPr lang="en-US" sz="4000" b="1" dirty="0">
                <a:solidFill>
                  <a:srgbClr val="00B4D8"/>
                </a:solidFill>
                <a:latin typeface="Calibri" pitchFamily="34" charset="0"/>
                <a:ea typeface="Calibri" pitchFamily="34" charset="-122"/>
                <a:cs typeface="Calibri" pitchFamily="34" charset="-120"/>
              </a:rPr>
              <a:t>Lésions Cutanées</a:t>
            </a:r>
            <a:endParaRPr lang="en-US" sz="4000" dirty="0"/>
          </a:p>
        </p:txBody>
      </p:sp>
      <p:sp>
        <p:nvSpPr>
          <p:cNvPr id="11" name="Text 8"/>
          <p:cNvSpPr/>
          <p:nvPr/>
        </p:nvSpPr>
        <p:spPr>
          <a:xfrm>
            <a:off x="457200" y="2423160"/>
            <a:ext cx="4572000" cy="594360"/>
          </a:xfrm>
          <a:prstGeom prst="rect">
            <a:avLst/>
          </a:prstGeom>
          <a:noFill/>
          <a:ln/>
        </p:spPr>
        <p:txBody>
          <a:bodyPr wrap="square" rtlCol="0" anchor="ctr"/>
          <a:lstStyle/>
          <a:p>
            <a:pPr marL="0" indent="0">
              <a:buNone/>
            </a:pPr>
            <a:r>
              <a:rPr lang="en-US" sz="2200" dirty="0">
                <a:solidFill>
                  <a:srgbClr val="E8F4F8"/>
                </a:solidFill>
                <a:latin typeface="Calibri" pitchFamily="34" charset="0"/>
                <a:ea typeface="Calibri" pitchFamily="34" charset="-122"/>
                <a:cs typeface="Calibri" pitchFamily="34" charset="-120"/>
              </a:rPr>
              <a:t>par Intelligence Artificielle</a:t>
            </a:r>
            <a:endParaRPr lang="en-US" sz="2200" dirty="0"/>
          </a:p>
        </p:txBody>
      </p:sp>
      <p:sp>
        <p:nvSpPr>
          <p:cNvPr id="12" name="Shape 9"/>
          <p:cNvSpPr/>
          <p:nvPr/>
        </p:nvSpPr>
        <p:spPr>
          <a:xfrm>
            <a:off x="457200" y="3154680"/>
            <a:ext cx="1645920" cy="36576"/>
          </a:xfrm>
          <a:prstGeom prst="rect">
            <a:avLst/>
          </a:prstGeom>
          <a:solidFill>
            <a:srgbClr val="00B4D8"/>
          </a:solidFill>
          <a:ln/>
        </p:spPr>
        <p:txBody>
          <a:bodyPr/>
          <a:lstStyle/>
          <a:p>
            <a:endParaRPr lang="fr-CA"/>
          </a:p>
        </p:txBody>
      </p:sp>
      <p:sp>
        <p:nvSpPr>
          <p:cNvPr id="15" name="Text 12"/>
          <p:cNvSpPr/>
          <p:nvPr/>
        </p:nvSpPr>
        <p:spPr>
          <a:xfrm>
            <a:off x="457200" y="4663440"/>
            <a:ext cx="3840480" cy="320040"/>
          </a:xfrm>
          <a:prstGeom prst="rect">
            <a:avLst/>
          </a:prstGeom>
          <a:noFill/>
          <a:ln/>
        </p:spPr>
        <p:txBody>
          <a:bodyPr wrap="square" rtlCol="0" anchor="ctr"/>
          <a:lstStyle/>
          <a:p>
            <a:pPr marL="0" indent="0" algn="ctr">
              <a:buNone/>
            </a:pPr>
            <a:r>
              <a:rPr lang="en-US" sz="900" i="1" dirty="0">
                <a:solidFill>
                  <a:srgbClr val="90E0EF"/>
                </a:solidFill>
                <a:latin typeface="Calibri" pitchFamily="34" charset="0"/>
                <a:ea typeface="Calibri" pitchFamily="34" charset="-122"/>
                <a:cs typeface="Calibri" pitchFamily="34" charset="-120"/>
              </a:rPr>
              <a:t>Analyse dermatoscopique assistée par IA</a:t>
            </a:r>
            <a:endParaRPr lang="en-US" sz="900" dirty="0"/>
          </a:p>
        </p:txBody>
      </p:sp>
      <p:sp>
        <p:nvSpPr>
          <p:cNvPr id="16" name="Text Placeholder 3">
            <a:extLst>
              <a:ext uri="{FF2B5EF4-FFF2-40B4-BE49-F238E27FC236}">
                <a16:creationId xmlns:a16="http://schemas.microsoft.com/office/drawing/2014/main" id="{2B8EE54E-985C-73D1-AE68-0DBAB913106E}"/>
              </a:ext>
            </a:extLst>
          </p:cNvPr>
          <p:cNvSpPr txBox="1">
            <a:spLocks/>
          </p:cNvSpPr>
          <p:nvPr/>
        </p:nvSpPr>
        <p:spPr>
          <a:xfrm>
            <a:off x="227647" y="3372264"/>
            <a:ext cx="4133647" cy="1006061"/>
          </a:xfrm>
          <a:prstGeom prst="rect">
            <a:avLst/>
          </a:prstGeom>
        </p:spPr>
        <p:txBody>
          <a:bodyPr vert="horz" lIns="91440" tIns="45720" rIns="91440" bIns="45720" rtlCol="0">
            <a:normAutofit fontScale="4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70000"/>
              </a:lnSpc>
              <a:buFont typeface="Arial" pitchFamily="34" charset="0"/>
              <a:buNone/>
            </a:pPr>
            <a:r>
              <a:rPr lang="en-US" sz="4300" dirty="0">
                <a:solidFill>
                  <a:schemeClr val="bg1"/>
                </a:solidFill>
              </a:rPr>
              <a:t>Présentés par:</a:t>
            </a:r>
          </a:p>
          <a:p>
            <a:pPr marL="0" indent="0" algn="ctr">
              <a:buNone/>
            </a:pPr>
            <a:r>
              <a:rPr lang="en-US" sz="4300" dirty="0">
                <a:solidFill>
                  <a:schemeClr val="bg1"/>
                </a:solidFill>
              </a:rPr>
              <a:t>Roman </a:t>
            </a:r>
            <a:r>
              <a:rPr lang="en-US" sz="4300" dirty="0" err="1">
                <a:solidFill>
                  <a:schemeClr val="bg1"/>
                </a:solidFill>
              </a:rPr>
              <a:t>Goldur</a:t>
            </a:r>
            <a:endParaRPr lang="en-US" sz="4300" dirty="0">
              <a:solidFill>
                <a:schemeClr val="bg1"/>
              </a:solidFill>
            </a:endParaRPr>
          </a:p>
          <a:p>
            <a:pPr marL="0" indent="0" algn="ctr">
              <a:buNone/>
            </a:pPr>
            <a:r>
              <a:rPr lang="en-US" sz="4300" dirty="0">
                <a:solidFill>
                  <a:schemeClr val="bg1"/>
                </a:solidFill>
              </a:rPr>
              <a:t>Sarah Amouri</a:t>
            </a:r>
          </a:p>
          <a:p>
            <a:pPr marL="0" indent="0" algn="ctr">
              <a:buFont typeface="Arial" pitchFamily="34" charset="0"/>
              <a:buNone/>
            </a:pPr>
            <a:endParaRPr lang="en-US" sz="2000" dirty="0">
              <a:solidFill>
                <a:schemeClr val="bg1"/>
              </a:solidFill>
            </a:endParaRPr>
          </a:p>
          <a:p>
            <a:pPr indent="-228600">
              <a:buFont typeface="System Font Regular"/>
              <a:buChar char="–"/>
            </a:pPr>
            <a:endParaRPr lang="en-US" dirty="0"/>
          </a:p>
        </p:txBody>
      </p:sp>
      <p:pic>
        <p:nvPicPr>
          <p:cNvPr id="17" name="Picture 16">
            <a:extLst>
              <a:ext uri="{FF2B5EF4-FFF2-40B4-BE49-F238E27FC236}">
                <a16:creationId xmlns:a16="http://schemas.microsoft.com/office/drawing/2014/main" id="{448E3867-76C7-57A8-185D-506B207D80F0}"/>
              </a:ext>
            </a:extLst>
          </p:cNvPr>
          <p:cNvPicPr>
            <a:picLocks noChangeAspect="1"/>
          </p:cNvPicPr>
          <p:nvPr/>
        </p:nvPicPr>
        <p:blipFill>
          <a:blip r:embed="rId4"/>
          <a:stretch>
            <a:fillRect/>
          </a:stretch>
        </p:blipFill>
        <p:spPr>
          <a:xfrm>
            <a:off x="5421439" y="4243875"/>
            <a:ext cx="1694794" cy="13274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5">
            <a:extLst>
              <a:ext uri="{FF2B5EF4-FFF2-40B4-BE49-F238E27FC236}">
                <a16:creationId xmlns:a16="http://schemas.microsoft.com/office/drawing/2014/main" id="{CF88195E-56EB-2C04-F4D9-D89FDA786174}"/>
              </a:ext>
            </a:extLst>
          </p:cNvPr>
          <p:cNvSpPr/>
          <p:nvPr/>
        </p:nvSpPr>
        <p:spPr>
          <a:xfrm>
            <a:off x="429768" y="118872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01</a:t>
            </a:r>
            <a:endParaRPr lang="en-US" sz="1800" dirty="0"/>
          </a:p>
        </p:txBody>
      </p:sp>
      <p:sp>
        <p:nvSpPr>
          <p:cNvPr id="4" name="Shape 7">
            <a:extLst>
              <a:ext uri="{FF2B5EF4-FFF2-40B4-BE49-F238E27FC236}">
                <a16:creationId xmlns:a16="http://schemas.microsoft.com/office/drawing/2014/main" id="{40345E6A-B06B-DAB5-5939-308E7A1D99C9}"/>
              </a:ext>
            </a:extLst>
          </p:cNvPr>
          <p:cNvSpPr/>
          <p:nvPr/>
        </p:nvSpPr>
        <p:spPr>
          <a:xfrm>
            <a:off x="320040" y="205740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5" name="Text 9">
            <a:extLst>
              <a:ext uri="{FF2B5EF4-FFF2-40B4-BE49-F238E27FC236}">
                <a16:creationId xmlns:a16="http://schemas.microsoft.com/office/drawing/2014/main" id="{0A1070B9-C6D1-1D50-B7B3-B97D32F99082}"/>
              </a:ext>
            </a:extLst>
          </p:cNvPr>
          <p:cNvSpPr/>
          <p:nvPr/>
        </p:nvSpPr>
        <p:spPr>
          <a:xfrm>
            <a:off x="429768" y="205740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02</a:t>
            </a:r>
            <a:endParaRPr lang="en-US" sz="1800" dirty="0"/>
          </a:p>
        </p:txBody>
      </p:sp>
      <p:sp>
        <p:nvSpPr>
          <p:cNvPr id="6" name="Shape 11">
            <a:extLst>
              <a:ext uri="{FF2B5EF4-FFF2-40B4-BE49-F238E27FC236}">
                <a16:creationId xmlns:a16="http://schemas.microsoft.com/office/drawing/2014/main" id="{32274582-BC4F-8C35-0F5C-5C1D1234935D}"/>
              </a:ext>
            </a:extLst>
          </p:cNvPr>
          <p:cNvSpPr/>
          <p:nvPr/>
        </p:nvSpPr>
        <p:spPr>
          <a:xfrm>
            <a:off x="320040" y="292608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7" name="Text 13">
            <a:extLst>
              <a:ext uri="{FF2B5EF4-FFF2-40B4-BE49-F238E27FC236}">
                <a16:creationId xmlns:a16="http://schemas.microsoft.com/office/drawing/2014/main" id="{864837C3-5C82-2827-39F2-05407827FA66}"/>
              </a:ext>
            </a:extLst>
          </p:cNvPr>
          <p:cNvSpPr/>
          <p:nvPr/>
        </p:nvSpPr>
        <p:spPr>
          <a:xfrm>
            <a:off x="429768" y="292608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03</a:t>
            </a:r>
            <a:endParaRPr lang="en-US" sz="1800" dirty="0"/>
          </a:p>
        </p:txBody>
      </p:sp>
      <p:sp>
        <p:nvSpPr>
          <p:cNvPr id="8" name="Shape 15">
            <a:extLst>
              <a:ext uri="{FF2B5EF4-FFF2-40B4-BE49-F238E27FC236}">
                <a16:creationId xmlns:a16="http://schemas.microsoft.com/office/drawing/2014/main" id="{49224CF4-48D2-767D-AD7C-26386FCB962C}"/>
              </a:ext>
            </a:extLst>
          </p:cNvPr>
          <p:cNvSpPr/>
          <p:nvPr/>
        </p:nvSpPr>
        <p:spPr>
          <a:xfrm>
            <a:off x="320040" y="379476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9" name="Text 17">
            <a:extLst>
              <a:ext uri="{FF2B5EF4-FFF2-40B4-BE49-F238E27FC236}">
                <a16:creationId xmlns:a16="http://schemas.microsoft.com/office/drawing/2014/main" id="{D74A4CAC-081F-DC17-F7AA-D51C559879C8}"/>
              </a:ext>
            </a:extLst>
          </p:cNvPr>
          <p:cNvSpPr/>
          <p:nvPr/>
        </p:nvSpPr>
        <p:spPr>
          <a:xfrm>
            <a:off x="429768" y="379476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04</a:t>
            </a:r>
            <a:endParaRPr lang="en-US" sz="1800" dirty="0"/>
          </a:p>
        </p:txBody>
      </p:sp>
      <p:sp>
        <p:nvSpPr>
          <p:cNvPr id="10" name="Shape 4">
            <a:extLst>
              <a:ext uri="{FF2B5EF4-FFF2-40B4-BE49-F238E27FC236}">
                <a16:creationId xmlns:a16="http://schemas.microsoft.com/office/drawing/2014/main" id="{DD194245-B003-6D53-3C7A-561E884D9366}"/>
              </a:ext>
            </a:extLst>
          </p:cNvPr>
          <p:cNvSpPr/>
          <p:nvPr/>
        </p:nvSpPr>
        <p:spPr>
          <a:xfrm>
            <a:off x="320040" y="1188720"/>
            <a:ext cx="54864" cy="685800"/>
          </a:xfrm>
          <a:prstGeom prst="rect">
            <a:avLst/>
          </a:prstGeom>
          <a:solidFill>
            <a:srgbClr val="0D9488"/>
          </a:solidFill>
          <a:ln w="12700">
            <a:solidFill>
              <a:srgbClr val="0D9488"/>
            </a:solidFill>
            <a:prstDash val="solid"/>
          </a:ln>
        </p:spPr>
        <p:txBody>
          <a:bodyPr/>
          <a:lstStyle/>
          <a:p>
            <a:endParaRPr lang="fr-CA"/>
          </a:p>
        </p:txBody>
      </p:sp>
      <p:sp>
        <p:nvSpPr>
          <p:cNvPr id="11" name="Shape 8">
            <a:extLst>
              <a:ext uri="{FF2B5EF4-FFF2-40B4-BE49-F238E27FC236}">
                <a16:creationId xmlns:a16="http://schemas.microsoft.com/office/drawing/2014/main" id="{89280C27-A48E-8674-A2D2-EA1F4B86D651}"/>
              </a:ext>
            </a:extLst>
          </p:cNvPr>
          <p:cNvSpPr/>
          <p:nvPr/>
        </p:nvSpPr>
        <p:spPr>
          <a:xfrm>
            <a:off x="320040" y="2057400"/>
            <a:ext cx="54864" cy="685800"/>
          </a:xfrm>
          <a:prstGeom prst="rect">
            <a:avLst/>
          </a:prstGeom>
          <a:solidFill>
            <a:srgbClr val="1A2B5E"/>
          </a:solidFill>
          <a:ln w="12700">
            <a:solidFill>
              <a:srgbClr val="1A2B5E"/>
            </a:solidFill>
            <a:prstDash val="solid"/>
          </a:ln>
        </p:spPr>
        <p:txBody>
          <a:bodyPr/>
          <a:lstStyle/>
          <a:p>
            <a:endParaRPr lang="fr-CA"/>
          </a:p>
        </p:txBody>
      </p:sp>
      <p:sp>
        <p:nvSpPr>
          <p:cNvPr id="12" name="Shape 12">
            <a:extLst>
              <a:ext uri="{FF2B5EF4-FFF2-40B4-BE49-F238E27FC236}">
                <a16:creationId xmlns:a16="http://schemas.microsoft.com/office/drawing/2014/main" id="{D5900EED-CAF1-E54B-E245-BA5D1A8452B4}"/>
              </a:ext>
            </a:extLst>
          </p:cNvPr>
          <p:cNvSpPr/>
          <p:nvPr/>
        </p:nvSpPr>
        <p:spPr>
          <a:xfrm>
            <a:off x="320040" y="2926080"/>
            <a:ext cx="54864" cy="685800"/>
          </a:xfrm>
          <a:prstGeom prst="rect">
            <a:avLst/>
          </a:prstGeom>
          <a:solidFill>
            <a:srgbClr val="0D9488"/>
          </a:solidFill>
          <a:ln w="12700">
            <a:solidFill>
              <a:srgbClr val="0D9488"/>
            </a:solidFill>
            <a:prstDash val="solid"/>
          </a:ln>
        </p:spPr>
        <p:txBody>
          <a:bodyPr/>
          <a:lstStyle/>
          <a:p>
            <a:endParaRPr lang="fr-CA"/>
          </a:p>
        </p:txBody>
      </p:sp>
      <p:sp>
        <p:nvSpPr>
          <p:cNvPr id="13" name="Shape 16">
            <a:extLst>
              <a:ext uri="{FF2B5EF4-FFF2-40B4-BE49-F238E27FC236}">
                <a16:creationId xmlns:a16="http://schemas.microsoft.com/office/drawing/2014/main" id="{AA38BEA1-DB60-C682-CB0C-595808FBC614}"/>
              </a:ext>
            </a:extLst>
          </p:cNvPr>
          <p:cNvSpPr/>
          <p:nvPr/>
        </p:nvSpPr>
        <p:spPr>
          <a:xfrm>
            <a:off x="320040" y="3794760"/>
            <a:ext cx="54864" cy="685800"/>
          </a:xfrm>
          <a:prstGeom prst="rect">
            <a:avLst/>
          </a:prstGeom>
          <a:solidFill>
            <a:srgbClr val="1A2B5E"/>
          </a:solidFill>
          <a:ln w="12700">
            <a:solidFill>
              <a:srgbClr val="1A2B5E"/>
            </a:solidFill>
            <a:prstDash val="solid"/>
          </a:ln>
        </p:spPr>
        <p:txBody>
          <a:bodyPr/>
          <a:lstStyle/>
          <a:p>
            <a:endParaRPr lang="fr-CA"/>
          </a:p>
        </p:txBody>
      </p:sp>
      <p:sp>
        <p:nvSpPr>
          <p:cNvPr id="14" name="Shape 19">
            <a:extLst>
              <a:ext uri="{FF2B5EF4-FFF2-40B4-BE49-F238E27FC236}">
                <a16:creationId xmlns:a16="http://schemas.microsoft.com/office/drawing/2014/main" id="{A23E1339-6257-81D2-77D1-AC20D95F5D27}"/>
              </a:ext>
            </a:extLst>
          </p:cNvPr>
          <p:cNvSpPr/>
          <p:nvPr/>
        </p:nvSpPr>
        <p:spPr>
          <a:xfrm>
            <a:off x="4754880" y="118872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5" name="Shape 23">
            <a:extLst>
              <a:ext uri="{FF2B5EF4-FFF2-40B4-BE49-F238E27FC236}">
                <a16:creationId xmlns:a16="http://schemas.microsoft.com/office/drawing/2014/main" id="{43BABFCB-8780-2782-58C9-D455D198E887}"/>
              </a:ext>
            </a:extLst>
          </p:cNvPr>
          <p:cNvSpPr/>
          <p:nvPr/>
        </p:nvSpPr>
        <p:spPr>
          <a:xfrm>
            <a:off x="4818888" y="2051165"/>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16" name="Shape 27">
            <a:extLst>
              <a:ext uri="{FF2B5EF4-FFF2-40B4-BE49-F238E27FC236}">
                <a16:creationId xmlns:a16="http://schemas.microsoft.com/office/drawing/2014/main" id="{02B168B7-81AB-F37D-94A1-952CEA0BDBA8}"/>
              </a:ext>
            </a:extLst>
          </p:cNvPr>
          <p:cNvSpPr/>
          <p:nvPr/>
        </p:nvSpPr>
        <p:spPr>
          <a:xfrm>
            <a:off x="4754880" y="292608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7" name="Shape 27">
            <a:extLst>
              <a:ext uri="{FF2B5EF4-FFF2-40B4-BE49-F238E27FC236}">
                <a16:creationId xmlns:a16="http://schemas.microsoft.com/office/drawing/2014/main" id="{6223092A-93DD-03F5-D12A-708D4A7DB867}"/>
              </a:ext>
            </a:extLst>
          </p:cNvPr>
          <p:cNvSpPr/>
          <p:nvPr/>
        </p:nvSpPr>
        <p:spPr>
          <a:xfrm>
            <a:off x="4754880" y="376428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8" name="Text 21">
            <a:extLst>
              <a:ext uri="{FF2B5EF4-FFF2-40B4-BE49-F238E27FC236}">
                <a16:creationId xmlns:a16="http://schemas.microsoft.com/office/drawing/2014/main" id="{1316AAA3-1E60-008F-0C97-B74A7B42A18B}"/>
              </a:ext>
            </a:extLst>
          </p:cNvPr>
          <p:cNvSpPr/>
          <p:nvPr/>
        </p:nvSpPr>
        <p:spPr>
          <a:xfrm>
            <a:off x="4864608" y="118872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05</a:t>
            </a:r>
            <a:endParaRPr lang="en-US" sz="1800" dirty="0"/>
          </a:p>
        </p:txBody>
      </p:sp>
      <p:sp>
        <p:nvSpPr>
          <p:cNvPr id="19" name="Text 25">
            <a:extLst>
              <a:ext uri="{FF2B5EF4-FFF2-40B4-BE49-F238E27FC236}">
                <a16:creationId xmlns:a16="http://schemas.microsoft.com/office/drawing/2014/main" id="{126577C2-AC59-F04A-5164-8F1276DB9D0B}"/>
              </a:ext>
            </a:extLst>
          </p:cNvPr>
          <p:cNvSpPr/>
          <p:nvPr/>
        </p:nvSpPr>
        <p:spPr>
          <a:xfrm>
            <a:off x="4864608" y="205740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06</a:t>
            </a:r>
            <a:endParaRPr lang="en-US" sz="1800" dirty="0"/>
          </a:p>
        </p:txBody>
      </p:sp>
      <p:sp>
        <p:nvSpPr>
          <p:cNvPr id="20" name="Text 29">
            <a:extLst>
              <a:ext uri="{FF2B5EF4-FFF2-40B4-BE49-F238E27FC236}">
                <a16:creationId xmlns:a16="http://schemas.microsoft.com/office/drawing/2014/main" id="{4CBD5A27-5FC8-F30A-6956-5607F1807BF6}"/>
              </a:ext>
            </a:extLst>
          </p:cNvPr>
          <p:cNvSpPr/>
          <p:nvPr/>
        </p:nvSpPr>
        <p:spPr>
          <a:xfrm>
            <a:off x="4864608" y="292608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07</a:t>
            </a:r>
            <a:endParaRPr lang="en-US" sz="1800" dirty="0"/>
          </a:p>
        </p:txBody>
      </p:sp>
      <p:sp>
        <p:nvSpPr>
          <p:cNvPr id="21" name="Text 25">
            <a:extLst>
              <a:ext uri="{FF2B5EF4-FFF2-40B4-BE49-F238E27FC236}">
                <a16:creationId xmlns:a16="http://schemas.microsoft.com/office/drawing/2014/main" id="{3BF5D223-1695-2A34-263A-A54ACDC11C02}"/>
              </a:ext>
            </a:extLst>
          </p:cNvPr>
          <p:cNvSpPr/>
          <p:nvPr/>
        </p:nvSpPr>
        <p:spPr>
          <a:xfrm>
            <a:off x="4856770" y="371856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08</a:t>
            </a:r>
            <a:endParaRPr lang="en-US" sz="1800" dirty="0"/>
          </a:p>
        </p:txBody>
      </p:sp>
      <p:sp>
        <p:nvSpPr>
          <p:cNvPr id="22" name="Shape 20">
            <a:extLst>
              <a:ext uri="{FF2B5EF4-FFF2-40B4-BE49-F238E27FC236}">
                <a16:creationId xmlns:a16="http://schemas.microsoft.com/office/drawing/2014/main" id="{BD97568A-676C-B874-5BF8-961626AFA73A}"/>
              </a:ext>
            </a:extLst>
          </p:cNvPr>
          <p:cNvSpPr/>
          <p:nvPr/>
        </p:nvSpPr>
        <p:spPr>
          <a:xfrm>
            <a:off x="4754880" y="1188720"/>
            <a:ext cx="54864" cy="685800"/>
          </a:xfrm>
          <a:prstGeom prst="rect">
            <a:avLst/>
          </a:prstGeom>
          <a:solidFill>
            <a:srgbClr val="0D9488"/>
          </a:solidFill>
          <a:ln w="12700">
            <a:solidFill>
              <a:srgbClr val="0D9488"/>
            </a:solidFill>
            <a:prstDash val="solid"/>
          </a:ln>
        </p:spPr>
        <p:txBody>
          <a:bodyPr/>
          <a:lstStyle/>
          <a:p>
            <a:endParaRPr lang="fr-CA"/>
          </a:p>
        </p:txBody>
      </p:sp>
      <p:sp>
        <p:nvSpPr>
          <p:cNvPr id="23" name="Shape 24">
            <a:extLst>
              <a:ext uri="{FF2B5EF4-FFF2-40B4-BE49-F238E27FC236}">
                <a16:creationId xmlns:a16="http://schemas.microsoft.com/office/drawing/2014/main" id="{C628DA28-1052-96A4-7371-E430BCE6C835}"/>
              </a:ext>
            </a:extLst>
          </p:cNvPr>
          <p:cNvSpPr/>
          <p:nvPr/>
        </p:nvSpPr>
        <p:spPr>
          <a:xfrm>
            <a:off x="4754880" y="2057400"/>
            <a:ext cx="54864" cy="685800"/>
          </a:xfrm>
          <a:prstGeom prst="rect">
            <a:avLst/>
          </a:prstGeom>
          <a:solidFill>
            <a:srgbClr val="1A2B5E"/>
          </a:solidFill>
          <a:ln w="12700">
            <a:solidFill>
              <a:srgbClr val="1A2B5E"/>
            </a:solidFill>
            <a:prstDash val="solid"/>
          </a:ln>
        </p:spPr>
        <p:txBody>
          <a:bodyPr/>
          <a:lstStyle/>
          <a:p>
            <a:endParaRPr lang="fr-CA" dirty="0"/>
          </a:p>
        </p:txBody>
      </p:sp>
      <p:sp>
        <p:nvSpPr>
          <p:cNvPr id="24" name="Shape 24">
            <a:extLst>
              <a:ext uri="{FF2B5EF4-FFF2-40B4-BE49-F238E27FC236}">
                <a16:creationId xmlns:a16="http://schemas.microsoft.com/office/drawing/2014/main" id="{AF6D8281-C87F-9333-CBE0-59E806570E56}"/>
              </a:ext>
            </a:extLst>
          </p:cNvPr>
          <p:cNvSpPr/>
          <p:nvPr/>
        </p:nvSpPr>
        <p:spPr>
          <a:xfrm>
            <a:off x="4754880" y="3764280"/>
            <a:ext cx="54864" cy="685800"/>
          </a:xfrm>
          <a:prstGeom prst="rect">
            <a:avLst/>
          </a:prstGeom>
          <a:solidFill>
            <a:srgbClr val="1A2B5E"/>
          </a:solidFill>
          <a:ln w="12700">
            <a:solidFill>
              <a:srgbClr val="1A2B5E"/>
            </a:solidFill>
            <a:prstDash val="solid"/>
          </a:ln>
        </p:spPr>
        <p:txBody>
          <a:bodyPr/>
          <a:lstStyle/>
          <a:p>
            <a:endParaRPr lang="fr-CA" dirty="0"/>
          </a:p>
        </p:txBody>
      </p:sp>
      <p:sp>
        <p:nvSpPr>
          <p:cNvPr id="25" name="Shape 28">
            <a:extLst>
              <a:ext uri="{FF2B5EF4-FFF2-40B4-BE49-F238E27FC236}">
                <a16:creationId xmlns:a16="http://schemas.microsoft.com/office/drawing/2014/main" id="{04BA256C-60BA-F508-5F6C-C69AB751BE21}"/>
              </a:ext>
            </a:extLst>
          </p:cNvPr>
          <p:cNvSpPr/>
          <p:nvPr/>
        </p:nvSpPr>
        <p:spPr>
          <a:xfrm>
            <a:off x="4754880" y="2926080"/>
            <a:ext cx="54864" cy="685800"/>
          </a:xfrm>
          <a:prstGeom prst="rect">
            <a:avLst/>
          </a:prstGeom>
          <a:solidFill>
            <a:srgbClr val="0D9488"/>
          </a:solidFill>
          <a:ln w="12700">
            <a:solidFill>
              <a:srgbClr val="0D9488"/>
            </a:solidFill>
            <a:prstDash val="solid"/>
          </a:ln>
        </p:spPr>
        <p:txBody>
          <a:bodyPr/>
          <a:lstStyle/>
          <a:p>
            <a:endParaRPr lang="fr-CA"/>
          </a:p>
        </p:txBody>
      </p:sp>
      <p:sp>
        <p:nvSpPr>
          <p:cNvPr id="26" name="Text 6">
            <a:extLst>
              <a:ext uri="{FF2B5EF4-FFF2-40B4-BE49-F238E27FC236}">
                <a16:creationId xmlns:a16="http://schemas.microsoft.com/office/drawing/2014/main" id="{1B2EA02E-863F-D450-4E9D-B1FE91B1528A}"/>
              </a:ext>
            </a:extLst>
          </p:cNvPr>
          <p:cNvSpPr/>
          <p:nvPr/>
        </p:nvSpPr>
        <p:spPr>
          <a:xfrm>
            <a:off x="374904" y="1188720"/>
            <a:ext cx="3493008" cy="685800"/>
          </a:xfrm>
          <a:prstGeom prst="rect">
            <a:avLst/>
          </a:prstGeom>
          <a:noFill/>
          <a:ln/>
        </p:spPr>
        <p:txBody>
          <a:bodyPr wrap="square" rtlCol="0" anchor="ctr"/>
          <a:lstStyle/>
          <a:p>
            <a:endParaRPr lang="en-US" sz="1300" dirty="0"/>
          </a:p>
        </p:txBody>
      </p:sp>
      <p:sp>
        <p:nvSpPr>
          <p:cNvPr id="27" name="Text 10">
            <a:extLst>
              <a:ext uri="{FF2B5EF4-FFF2-40B4-BE49-F238E27FC236}">
                <a16:creationId xmlns:a16="http://schemas.microsoft.com/office/drawing/2014/main" id="{76C9B278-2756-8BE6-D1DE-45D057C70D1D}"/>
              </a:ext>
            </a:extLst>
          </p:cNvPr>
          <p:cNvSpPr/>
          <p:nvPr/>
        </p:nvSpPr>
        <p:spPr>
          <a:xfrm>
            <a:off x="803148" y="1180407"/>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Contexte</a:t>
            </a:r>
            <a:r>
              <a:rPr lang="en-US" sz="1300" dirty="0">
                <a:solidFill>
                  <a:srgbClr val="0F172A"/>
                </a:solidFill>
                <a:latin typeface="Calibri" pitchFamily="34" charset="0"/>
                <a:ea typeface="Calibri" pitchFamily="34" charset="-122"/>
                <a:cs typeface="Calibri" pitchFamily="34" charset="-120"/>
              </a:rPr>
              <a:t> &amp; </a:t>
            </a:r>
            <a:r>
              <a:rPr lang="en-US" sz="1300" dirty="0" err="1">
                <a:solidFill>
                  <a:srgbClr val="0F172A"/>
                </a:solidFill>
                <a:latin typeface="Calibri" pitchFamily="34" charset="0"/>
                <a:ea typeface="Calibri" pitchFamily="34" charset="-122"/>
                <a:cs typeface="Calibri" pitchFamily="34" charset="-120"/>
              </a:rPr>
              <a:t>Problématique</a:t>
            </a:r>
            <a:endParaRPr lang="en-US" sz="1300" dirty="0">
              <a:solidFill>
                <a:srgbClr val="0F172A"/>
              </a:solidFill>
              <a:latin typeface="Calibri" pitchFamily="34" charset="0"/>
              <a:ea typeface="Calibri" pitchFamily="34" charset="-122"/>
              <a:cs typeface="Calibri" pitchFamily="34" charset="-120"/>
            </a:endParaRPr>
          </a:p>
        </p:txBody>
      </p:sp>
      <p:sp>
        <p:nvSpPr>
          <p:cNvPr id="28" name="Text 6">
            <a:extLst>
              <a:ext uri="{FF2B5EF4-FFF2-40B4-BE49-F238E27FC236}">
                <a16:creationId xmlns:a16="http://schemas.microsoft.com/office/drawing/2014/main" id="{5C518F6D-9EB1-9AEE-B82B-5382B6EC97A9}"/>
              </a:ext>
            </a:extLst>
          </p:cNvPr>
          <p:cNvSpPr/>
          <p:nvPr/>
        </p:nvSpPr>
        <p:spPr>
          <a:xfrm>
            <a:off x="914400" y="2034540"/>
            <a:ext cx="3493008" cy="685800"/>
          </a:xfrm>
          <a:prstGeom prst="rect">
            <a:avLst/>
          </a:prstGeom>
          <a:noFill/>
          <a:ln/>
        </p:spPr>
        <p:txBody>
          <a:bodyPr wrap="square" rtlCol="0" anchor="ctr"/>
          <a:lstStyle/>
          <a:p>
            <a:pPr marL="0" indent="0">
              <a:buNone/>
            </a:pPr>
            <a:endParaRPr lang="en-US" sz="1300" dirty="0"/>
          </a:p>
        </p:txBody>
      </p:sp>
      <p:sp>
        <p:nvSpPr>
          <p:cNvPr id="29" name="Text 10">
            <a:extLst>
              <a:ext uri="{FF2B5EF4-FFF2-40B4-BE49-F238E27FC236}">
                <a16:creationId xmlns:a16="http://schemas.microsoft.com/office/drawing/2014/main" id="{D022CFAC-C1FC-C99E-2679-0C55D41CE910}"/>
              </a:ext>
            </a:extLst>
          </p:cNvPr>
          <p:cNvSpPr/>
          <p:nvPr/>
        </p:nvSpPr>
        <p:spPr>
          <a:xfrm>
            <a:off x="872490" y="2903220"/>
            <a:ext cx="3493008" cy="685800"/>
          </a:xfrm>
          <a:prstGeom prst="rect">
            <a:avLst/>
          </a:prstGeom>
          <a:noFill/>
          <a:ln/>
        </p:spPr>
        <p:txBody>
          <a:bodyPr wrap="square" rtlCol="0" anchor="ctr"/>
          <a:lstStyle/>
          <a:p>
            <a:pPr marL="0" indent="0">
              <a:buNone/>
            </a:pPr>
            <a:endParaRPr lang="en-US" sz="1300" dirty="0"/>
          </a:p>
        </p:txBody>
      </p:sp>
      <p:sp>
        <p:nvSpPr>
          <p:cNvPr id="30" name="Text 14">
            <a:extLst>
              <a:ext uri="{FF2B5EF4-FFF2-40B4-BE49-F238E27FC236}">
                <a16:creationId xmlns:a16="http://schemas.microsoft.com/office/drawing/2014/main" id="{B4C719A0-F3EE-8413-A8CA-6A4AB2C5A0D7}"/>
              </a:ext>
            </a:extLst>
          </p:cNvPr>
          <p:cNvSpPr/>
          <p:nvPr/>
        </p:nvSpPr>
        <p:spPr>
          <a:xfrm>
            <a:off x="960120" y="3764280"/>
            <a:ext cx="3493008" cy="685800"/>
          </a:xfrm>
          <a:prstGeom prst="rect">
            <a:avLst/>
          </a:prstGeom>
          <a:noFill/>
          <a:ln/>
        </p:spPr>
        <p:txBody>
          <a:bodyPr wrap="square" rtlCol="0" anchor="ctr"/>
          <a:lstStyle/>
          <a:p>
            <a:pPr marL="0" indent="0">
              <a:buNone/>
            </a:pPr>
            <a:endParaRPr lang="en-US" sz="1300" dirty="0"/>
          </a:p>
        </p:txBody>
      </p:sp>
      <p:sp>
        <p:nvSpPr>
          <p:cNvPr id="32" name="Text 18">
            <a:extLst>
              <a:ext uri="{FF2B5EF4-FFF2-40B4-BE49-F238E27FC236}">
                <a16:creationId xmlns:a16="http://schemas.microsoft.com/office/drawing/2014/main" id="{7FAB279D-A1F4-2F26-AE54-888E3DB5E025}"/>
              </a:ext>
            </a:extLst>
          </p:cNvPr>
          <p:cNvSpPr/>
          <p:nvPr/>
        </p:nvSpPr>
        <p:spPr>
          <a:xfrm>
            <a:off x="5292852" y="1188720"/>
            <a:ext cx="3493008" cy="685800"/>
          </a:xfrm>
          <a:prstGeom prst="rect">
            <a:avLst/>
          </a:prstGeom>
          <a:noFill/>
          <a:ln/>
        </p:spPr>
        <p:txBody>
          <a:bodyPr wrap="square" rtlCol="0" anchor="ctr"/>
          <a:lstStyle/>
          <a:p>
            <a:pPr marL="0" indent="0">
              <a:buNone/>
            </a:pPr>
            <a:endParaRPr lang="en-US" sz="1300" dirty="0"/>
          </a:p>
        </p:txBody>
      </p:sp>
      <p:sp>
        <p:nvSpPr>
          <p:cNvPr id="33" name="Text 22">
            <a:extLst>
              <a:ext uri="{FF2B5EF4-FFF2-40B4-BE49-F238E27FC236}">
                <a16:creationId xmlns:a16="http://schemas.microsoft.com/office/drawing/2014/main" id="{5562D9AF-2BA1-03F6-4B34-44846BF5934B}"/>
              </a:ext>
            </a:extLst>
          </p:cNvPr>
          <p:cNvSpPr/>
          <p:nvPr/>
        </p:nvSpPr>
        <p:spPr>
          <a:xfrm>
            <a:off x="5221224" y="2076450"/>
            <a:ext cx="3493008" cy="685800"/>
          </a:xfrm>
          <a:prstGeom prst="rect">
            <a:avLst/>
          </a:prstGeom>
          <a:noFill/>
          <a:ln/>
        </p:spPr>
        <p:txBody>
          <a:bodyPr wrap="square" rtlCol="0" anchor="ctr"/>
          <a:lstStyle/>
          <a:p>
            <a:pPr marL="0" indent="0">
              <a:buNone/>
            </a:pPr>
            <a:endParaRPr lang="en-US" sz="1300" dirty="0"/>
          </a:p>
        </p:txBody>
      </p:sp>
      <p:sp>
        <p:nvSpPr>
          <p:cNvPr id="34" name="Text 26">
            <a:extLst>
              <a:ext uri="{FF2B5EF4-FFF2-40B4-BE49-F238E27FC236}">
                <a16:creationId xmlns:a16="http://schemas.microsoft.com/office/drawing/2014/main" id="{B455BE0B-E357-700A-6554-4677A34BC194}"/>
              </a:ext>
            </a:extLst>
          </p:cNvPr>
          <p:cNvSpPr/>
          <p:nvPr/>
        </p:nvSpPr>
        <p:spPr>
          <a:xfrm>
            <a:off x="5266944" y="2914650"/>
            <a:ext cx="3493008" cy="685800"/>
          </a:xfrm>
          <a:prstGeom prst="rect">
            <a:avLst/>
          </a:prstGeom>
          <a:noFill/>
          <a:ln/>
        </p:spPr>
        <p:txBody>
          <a:bodyPr wrap="square" rtlCol="0" anchor="ctr"/>
          <a:lstStyle/>
          <a:p>
            <a:pPr marL="0" indent="0">
              <a:buNone/>
            </a:pPr>
            <a:endParaRPr lang="en-US" sz="1300" dirty="0"/>
          </a:p>
        </p:txBody>
      </p:sp>
      <p:sp>
        <p:nvSpPr>
          <p:cNvPr id="35" name="Text 30">
            <a:extLst>
              <a:ext uri="{FF2B5EF4-FFF2-40B4-BE49-F238E27FC236}">
                <a16:creationId xmlns:a16="http://schemas.microsoft.com/office/drawing/2014/main" id="{7E3EBA57-0B58-8126-7A29-F8212F28FDC4}"/>
              </a:ext>
            </a:extLst>
          </p:cNvPr>
          <p:cNvSpPr/>
          <p:nvPr/>
        </p:nvSpPr>
        <p:spPr>
          <a:xfrm>
            <a:off x="5266944" y="3699510"/>
            <a:ext cx="3493008" cy="685800"/>
          </a:xfrm>
          <a:prstGeom prst="rect">
            <a:avLst/>
          </a:prstGeom>
          <a:noFill/>
          <a:ln/>
        </p:spPr>
        <p:txBody>
          <a:bodyPr wrap="square" rtlCol="0" anchor="ctr"/>
          <a:lstStyle/>
          <a:p>
            <a:pPr marL="0" indent="0">
              <a:buNone/>
            </a:pPr>
            <a:endParaRPr lang="en-US" sz="1300" dirty="0"/>
          </a:p>
        </p:txBody>
      </p:sp>
      <p:sp>
        <p:nvSpPr>
          <p:cNvPr id="36" name="Shape 0">
            <a:extLst>
              <a:ext uri="{FF2B5EF4-FFF2-40B4-BE49-F238E27FC236}">
                <a16:creationId xmlns:a16="http://schemas.microsoft.com/office/drawing/2014/main" id="{5EB0781E-F43A-2E06-AE10-E63CD36B896F}"/>
              </a:ext>
            </a:extLst>
          </p:cNvPr>
          <p:cNvSpPr/>
          <p:nvPr/>
        </p:nvSpPr>
        <p:spPr>
          <a:xfrm>
            <a:off x="0" y="0"/>
            <a:ext cx="9144000" cy="914400"/>
          </a:xfrm>
          <a:prstGeom prst="rect">
            <a:avLst/>
          </a:prstGeom>
          <a:solidFill>
            <a:srgbClr val="1A2B5E"/>
          </a:solidFill>
          <a:ln w="12700">
            <a:solidFill>
              <a:srgbClr val="1A2B5E"/>
            </a:solidFill>
            <a:prstDash val="solid"/>
          </a:ln>
        </p:spPr>
        <p:txBody>
          <a:bodyPr/>
          <a:lstStyle/>
          <a:p>
            <a:endParaRPr lang="en-US" b="1" dirty="0">
              <a:solidFill>
                <a:srgbClr val="FFFFFF"/>
              </a:solidFill>
              <a:latin typeface="Trebuchet MS" pitchFamily="34" charset="0"/>
              <a:ea typeface="Trebuchet MS" pitchFamily="34" charset="-122"/>
              <a:cs typeface="Trebuchet MS" pitchFamily="34" charset="-120"/>
            </a:endParaRPr>
          </a:p>
          <a:p>
            <a:r>
              <a:rPr lang="fr-CA" sz="2800" b="1" dirty="0">
                <a:solidFill>
                  <a:srgbClr val="FFFFFF"/>
                </a:solidFill>
                <a:latin typeface="Calibri" pitchFamily="34" charset="0"/>
                <a:ea typeface="Calibri" pitchFamily="34" charset="-122"/>
                <a:cs typeface="Calibri" pitchFamily="34" charset="-120"/>
              </a:rPr>
              <a:t>Plan de la présentation</a:t>
            </a:r>
            <a:endParaRPr lang="en-US" sz="2800" b="1" dirty="0">
              <a:solidFill>
                <a:srgbClr val="FFFFFF"/>
              </a:solidFill>
              <a:latin typeface="Calibri" pitchFamily="34" charset="0"/>
              <a:ea typeface="Calibri" pitchFamily="34" charset="-122"/>
              <a:cs typeface="Calibri" pitchFamily="34" charset="-120"/>
            </a:endParaRPr>
          </a:p>
        </p:txBody>
      </p:sp>
      <p:sp>
        <p:nvSpPr>
          <p:cNvPr id="37" name="Shape 1">
            <a:extLst>
              <a:ext uri="{FF2B5EF4-FFF2-40B4-BE49-F238E27FC236}">
                <a16:creationId xmlns:a16="http://schemas.microsoft.com/office/drawing/2014/main" id="{A3B63988-AC09-19EA-D77B-FC90AFF31FCD}"/>
              </a:ext>
            </a:extLst>
          </p:cNvPr>
          <p:cNvSpPr/>
          <p:nvPr/>
        </p:nvSpPr>
        <p:spPr>
          <a:xfrm>
            <a:off x="0" y="914400"/>
            <a:ext cx="9144000" cy="54864"/>
          </a:xfrm>
          <a:prstGeom prst="rect">
            <a:avLst/>
          </a:prstGeom>
          <a:solidFill>
            <a:srgbClr val="0D9488"/>
          </a:solidFill>
          <a:ln w="12700">
            <a:solidFill>
              <a:srgbClr val="0D9488"/>
            </a:solidFill>
            <a:prstDash val="solid"/>
          </a:ln>
        </p:spPr>
        <p:txBody>
          <a:bodyPr/>
          <a:lstStyle/>
          <a:p>
            <a:endParaRPr lang="fr-CA"/>
          </a:p>
        </p:txBody>
      </p:sp>
      <p:sp>
        <p:nvSpPr>
          <p:cNvPr id="38" name="Text 10">
            <a:extLst>
              <a:ext uri="{FF2B5EF4-FFF2-40B4-BE49-F238E27FC236}">
                <a16:creationId xmlns:a16="http://schemas.microsoft.com/office/drawing/2014/main" id="{CF6EC863-209A-BCCD-0A2D-7B2DE1DCC1CE}"/>
              </a:ext>
            </a:extLst>
          </p:cNvPr>
          <p:cNvSpPr/>
          <p:nvPr/>
        </p:nvSpPr>
        <p:spPr>
          <a:xfrm>
            <a:off x="786384" y="2051165"/>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Objectifs</a:t>
            </a:r>
            <a:r>
              <a:rPr lang="en-US" sz="1300" dirty="0">
                <a:solidFill>
                  <a:srgbClr val="0F172A"/>
                </a:solidFill>
                <a:latin typeface="Calibri" pitchFamily="34" charset="0"/>
                <a:ea typeface="Calibri" pitchFamily="34" charset="-122"/>
                <a:cs typeface="Calibri" pitchFamily="34" charset="-120"/>
              </a:rPr>
              <a:t> du </a:t>
            </a:r>
            <a:r>
              <a:rPr lang="en-US" sz="1300" dirty="0" err="1">
                <a:solidFill>
                  <a:srgbClr val="0F172A"/>
                </a:solidFill>
                <a:latin typeface="Calibri" pitchFamily="34" charset="0"/>
                <a:ea typeface="Calibri" pitchFamily="34" charset="-122"/>
                <a:cs typeface="Calibri" pitchFamily="34" charset="-120"/>
              </a:rPr>
              <a:t>projet</a:t>
            </a:r>
            <a:endParaRPr lang="en-US" sz="1300" dirty="0">
              <a:solidFill>
                <a:srgbClr val="0F172A"/>
              </a:solidFill>
              <a:latin typeface="Calibri" pitchFamily="34" charset="0"/>
              <a:ea typeface="Calibri" pitchFamily="34" charset="-122"/>
              <a:cs typeface="Calibri" pitchFamily="34" charset="-120"/>
            </a:endParaRPr>
          </a:p>
        </p:txBody>
      </p:sp>
      <p:sp>
        <p:nvSpPr>
          <p:cNvPr id="40" name="Text 10">
            <a:extLst>
              <a:ext uri="{FF2B5EF4-FFF2-40B4-BE49-F238E27FC236}">
                <a16:creationId xmlns:a16="http://schemas.microsoft.com/office/drawing/2014/main" id="{8430A501-456E-1320-E725-E15CD653B01B}"/>
              </a:ext>
            </a:extLst>
          </p:cNvPr>
          <p:cNvSpPr/>
          <p:nvPr/>
        </p:nvSpPr>
        <p:spPr>
          <a:xfrm>
            <a:off x="777240" y="2918460"/>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Besoins</a:t>
            </a:r>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fonctionnels</a:t>
            </a:r>
            <a:endParaRPr lang="en-US" sz="1300" dirty="0">
              <a:solidFill>
                <a:srgbClr val="0F172A"/>
              </a:solidFill>
              <a:latin typeface="Calibri" pitchFamily="34" charset="0"/>
              <a:ea typeface="Calibri" pitchFamily="34" charset="-122"/>
              <a:cs typeface="Calibri" pitchFamily="34" charset="-120"/>
            </a:endParaRPr>
          </a:p>
        </p:txBody>
      </p:sp>
      <p:sp>
        <p:nvSpPr>
          <p:cNvPr id="42" name="Text 10">
            <a:extLst>
              <a:ext uri="{FF2B5EF4-FFF2-40B4-BE49-F238E27FC236}">
                <a16:creationId xmlns:a16="http://schemas.microsoft.com/office/drawing/2014/main" id="{597247FC-9DF6-6FDA-38FE-FE3AF617D321}"/>
              </a:ext>
            </a:extLst>
          </p:cNvPr>
          <p:cNvSpPr/>
          <p:nvPr/>
        </p:nvSpPr>
        <p:spPr>
          <a:xfrm>
            <a:off x="758952" y="3781598"/>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Besoins</a:t>
            </a:r>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technologiques</a:t>
            </a:r>
            <a:endParaRPr lang="en-US" sz="1300" dirty="0">
              <a:solidFill>
                <a:srgbClr val="0F172A"/>
              </a:solidFill>
              <a:latin typeface="Calibri" pitchFamily="34" charset="0"/>
              <a:ea typeface="Calibri" pitchFamily="34" charset="-122"/>
              <a:cs typeface="Calibri" pitchFamily="34" charset="-120"/>
            </a:endParaRPr>
          </a:p>
        </p:txBody>
      </p:sp>
      <p:sp>
        <p:nvSpPr>
          <p:cNvPr id="44" name="Text 10">
            <a:extLst>
              <a:ext uri="{FF2B5EF4-FFF2-40B4-BE49-F238E27FC236}">
                <a16:creationId xmlns:a16="http://schemas.microsoft.com/office/drawing/2014/main" id="{2926DDC7-6073-3BEB-C83B-D0E4D9498D35}"/>
              </a:ext>
            </a:extLst>
          </p:cNvPr>
          <p:cNvSpPr/>
          <p:nvPr/>
        </p:nvSpPr>
        <p:spPr>
          <a:xfrm>
            <a:off x="5266944" y="1183358"/>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Definition des </a:t>
            </a:r>
            <a:r>
              <a:rPr lang="en-US" sz="1300" dirty="0" err="1">
                <a:solidFill>
                  <a:srgbClr val="0F172A"/>
                </a:solidFill>
                <a:latin typeface="Calibri" pitchFamily="34" charset="0"/>
                <a:ea typeface="Calibri" pitchFamily="34" charset="-122"/>
                <a:cs typeface="Calibri" pitchFamily="34" charset="-120"/>
              </a:rPr>
              <a:t>objectifs</a:t>
            </a:r>
            <a:endParaRPr lang="en-US" sz="1300" dirty="0">
              <a:solidFill>
                <a:srgbClr val="0F172A"/>
              </a:solidFill>
              <a:latin typeface="Calibri" pitchFamily="34" charset="0"/>
              <a:ea typeface="Calibri" pitchFamily="34" charset="-122"/>
              <a:cs typeface="Calibri" pitchFamily="34" charset="-120"/>
            </a:endParaRPr>
          </a:p>
        </p:txBody>
      </p:sp>
      <p:sp>
        <p:nvSpPr>
          <p:cNvPr id="46" name="Text 10">
            <a:extLst>
              <a:ext uri="{FF2B5EF4-FFF2-40B4-BE49-F238E27FC236}">
                <a16:creationId xmlns:a16="http://schemas.microsoft.com/office/drawing/2014/main" id="{8EDB4463-DC66-3A5B-662F-DCEACAFB9526}"/>
              </a:ext>
            </a:extLst>
          </p:cNvPr>
          <p:cNvSpPr/>
          <p:nvPr/>
        </p:nvSpPr>
        <p:spPr>
          <a:xfrm>
            <a:off x="5248656" y="2032988"/>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Besoin</a:t>
            </a:r>
            <a:r>
              <a:rPr lang="en-US" sz="1300" dirty="0">
                <a:solidFill>
                  <a:srgbClr val="0F172A"/>
                </a:solidFill>
                <a:latin typeface="Calibri" pitchFamily="34" charset="0"/>
                <a:ea typeface="Calibri" pitchFamily="34" charset="-122"/>
                <a:cs typeface="Calibri" pitchFamily="34" charset="-120"/>
              </a:rPr>
              <a:t> pour </a:t>
            </a:r>
            <a:r>
              <a:rPr lang="en-US" sz="1300" dirty="0" err="1">
                <a:solidFill>
                  <a:srgbClr val="0F172A"/>
                </a:solidFill>
                <a:latin typeface="Calibri" pitchFamily="34" charset="0"/>
                <a:ea typeface="Calibri" pitchFamily="34" charset="-122"/>
                <a:cs typeface="Calibri" pitchFamily="34" charset="-120"/>
              </a:rPr>
              <a:t>une</a:t>
            </a:r>
            <a:r>
              <a:rPr lang="en-US" sz="1300" dirty="0">
                <a:solidFill>
                  <a:srgbClr val="0F172A"/>
                </a:solidFill>
                <a:latin typeface="Calibri" pitchFamily="34" charset="0"/>
                <a:ea typeface="Calibri" pitchFamily="34" charset="-122"/>
                <a:cs typeface="Calibri" pitchFamily="34" charset="-120"/>
              </a:rPr>
              <a:t> cha</a:t>
            </a:r>
            <a:r>
              <a:rPr lang="fr-CA" sz="1300" dirty="0">
                <a:solidFill>
                  <a:srgbClr val="0F172A"/>
                </a:solidFill>
                <a:latin typeface="Calibri" pitchFamily="34" charset="0"/>
                <a:ea typeface="Calibri" pitchFamily="34" charset="-122"/>
                <a:cs typeface="Calibri" pitchFamily="34" charset="-120"/>
              </a:rPr>
              <a:t>î</a:t>
            </a:r>
            <a:r>
              <a:rPr lang="en-US" sz="1300" dirty="0">
                <a:solidFill>
                  <a:srgbClr val="0F172A"/>
                </a:solidFill>
                <a:latin typeface="Calibri" pitchFamily="34" charset="0"/>
                <a:ea typeface="Calibri" pitchFamily="34" charset="-122"/>
                <a:cs typeface="Calibri" pitchFamily="34" charset="-120"/>
              </a:rPr>
              <a:t>ne CI/DC</a:t>
            </a:r>
          </a:p>
        </p:txBody>
      </p:sp>
      <p:sp>
        <p:nvSpPr>
          <p:cNvPr id="48" name="Text 10">
            <a:extLst>
              <a:ext uri="{FF2B5EF4-FFF2-40B4-BE49-F238E27FC236}">
                <a16:creationId xmlns:a16="http://schemas.microsoft.com/office/drawing/2014/main" id="{2405AEB5-404F-F1D2-17A8-D65ED6A3E37E}"/>
              </a:ext>
            </a:extLst>
          </p:cNvPr>
          <p:cNvSpPr/>
          <p:nvPr/>
        </p:nvSpPr>
        <p:spPr>
          <a:xfrm>
            <a:off x="5221224" y="2901668"/>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Composantes</a:t>
            </a:r>
            <a:r>
              <a:rPr lang="en-US" sz="1300" dirty="0">
                <a:solidFill>
                  <a:srgbClr val="0F172A"/>
                </a:solidFill>
                <a:latin typeface="Calibri" pitchFamily="34" charset="0"/>
                <a:ea typeface="Calibri" pitchFamily="34" charset="-122"/>
                <a:cs typeface="Calibri" pitchFamily="34" charset="-120"/>
              </a:rPr>
              <a:t> de la cha</a:t>
            </a:r>
            <a:r>
              <a:rPr lang="fr-CA" sz="1300" dirty="0">
                <a:solidFill>
                  <a:srgbClr val="0F172A"/>
                </a:solidFill>
                <a:latin typeface="Calibri" pitchFamily="34" charset="0"/>
                <a:ea typeface="Calibri" pitchFamily="34" charset="-122"/>
                <a:cs typeface="Calibri" pitchFamily="34" charset="-120"/>
              </a:rPr>
              <a:t>î</a:t>
            </a:r>
            <a:r>
              <a:rPr lang="en-US" sz="1300" dirty="0">
                <a:solidFill>
                  <a:srgbClr val="0F172A"/>
                </a:solidFill>
                <a:latin typeface="Calibri" pitchFamily="34" charset="0"/>
                <a:ea typeface="Calibri" pitchFamily="34" charset="-122"/>
                <a:cs typeface="Calibri" pitchFamily="34" charset="-120"/>
              </a:rPr>
              <a:t>ne CI/DC </a:t>
            </a:r>
          </a:p>
        </p:txBody>
      </p:sp>
      <p:sp>
        <p:nvSpPr>
          <p:cNvPr id="50" name="Text 10">
            <a:extLst>
              <a:ext uri="{FF2B5EF4-FFF2-40B4-BE49-F238E27FC236}">
                <a16:creationId xmlns:a16="http://schemas.microsoft.com/office/drawing/2014/main" id="{30326ABB-7422-9CB0-4893-D866F2F743D8}"/>
              </a:ext>
            </a:extLst>
          </p:cNvPr>
          <p:cNvSpPr/>
          <p:nvPr/>
        </p:nvSpPr>
        <p:spPr>
          <a:xfrm>
            <a:off x="5213386" y="3709035"/>
            <a:ext cx="3493008" cy="685800"/>
          </a:xfrm>
          <a:prstGeom prst="rect">
            <a:avLst/>
          </a:prstGeom>
          <a:noFill/>
          <a:ln/>
        </p:spPr>
        <p:txBody>
          <a:bodyPr wrap="square" rtlCol="0" anchor="ctr"/>
          <a:lstStyle/>
          <a:p>
            <a:r>
              <a:rPr lang="en-US" sz="1300" dirty="0">
                <a:solidFill>
                  <a:srgbClr val="0F172A"/>
                </a:solidFill>
                <a:latin typeface="Calibri" pitchFamily="34" charset="0"/>
                <a:ea typeface="Calibri" pitchFamily="34" charset="-122"/>
                <a:cs typeface="Calibri" pitchFamily="34" charset="-120"/>
              </a:rPr>
              <a:t> </a:t>
            </a:r>
            <a:r>
              <a:rPr lang="en-US" sz="1300" dirty="0" err="1">
                <a:solidFill>
                  <a:srgbClr val="0F172A"/>
                </a:solidFill>
                <a:latin typeface="Calibri" pitchFamily="34" charset="0"/>
                <a:ea typeface="Calibri" pitchFamily="34" charset="-122"/>
                <a:cs typeface="Calibri" pitchFamily="34" charset="-120"/>
              </a:rPr>
              <a:t>Contraintes</a:t>
            </a:r>
            <a:r>
              <a:rPr lang="en-US" sz="1300" dirty="0">
                <a:solidFill>
                  <a:srgbClr val="0F172A"/>
                </a:solidFill>
                <a:latin typeface="Calibri" pitchFamily="34" charset="0"/>
                <a:ea typeface="Calibri" pitchFamily="34" charset="-122"/>
                <a:cs typeface="Calibri" pitchFamily="34" charset="-120"/>
              </a:rPr>
              <a:t> et </a:t>
            </a:r>
            <a:r>
              <a:rPr lang="en-US" sz="1300" dirty="0" err="1">
                <a:solidFill>
                  <a:srgbClr val="0F172A"/>
                </a:solidFill>
                <a:latin typeface="Calibri" pitchFamily="34" charset="0"/>
                <a:ea typeface="Calibri" pitchFamily="34" charset="-122"/>
                <a:cs typeface="Calibri" pitchFamily="34" charset="-120"/>
              </a:rPr>
              <a:t>compétences</a:t>
            </a:r>
            <a:endParaRPr lang="en-US" sz="1300" dirty="0">
              <a:solidFill>
                <a:srgbClr val="0F172A"/>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285716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p:spPr>
        <p:txBody>
          <a:bodyPr/>
          <a:lstStyle/>
          <a:p>
            <a:endParaRPr lang="fr-CA"/>
          </a:p>
        </p:txBody>
      </p:sp>
      <p:sp>
        <p:nvSpPr>
          <p:cNvPr id="3" name="Text 1"/>
          <p:cNvSpPr/>
          <p:nvPr/>
        </p:nvSpPr>
        <p:spPr>
          <a:xfrm>
            <a:off x="457200" y="228600"/>
            <a:ext cx="8229600" cy="548640"/>
          </a:xfrm>
          <a:prstGeom prst="rect">
            <a:avLst/>
          </a:prstGeom>
          <a:noFill/>
          <a:ln/>
        </p:spPr>
        <p:txBody>
          <a:bodyPr wrap="square" rtlCol="0" anchor="ctr"/>
          <a:lstStyle/>
          <a:p>
            <a:r>
              <a:rPr lang="en-US" sz="2800" b="1" dirty="0">
                <a:solidFill>
                  <a:srgbClr val="FFFFFF"/>
                </a:solidFill>
                <a:latin typeface="Trebuchet MS" pitchFamily="34" charset="0"/>
                <a:ea typeface="Trebuchet MS" pitchFamily="34" charset="-122"/>
                <a:cs typeface="Trebuchet MS" pitchFamily="34" charset="-120"/>
              </a:rPr>
              <a:t>01  · </a:t>
            </a:r>
            <a:r>
              <a:rPr lang="en-US" sz="2800" b="1" dirty="0" err="1">
                <a:solidFill>
                  <a:srgbClr val="FFFFFF"/>
                </a:solidFill>
                <a:latin typeface="Calibri" pitchFamily="34" charset="0"/>
                <a:ea typeface="Calibri" pitchFamily="34" charset="-122"/>
                <a:cs typeface="Calibri" pitchFamily="34" charset="-120"/>
              </a:rPr>
              <a:t>Contexte</a:t>
            </a:r>
            <a:r>
              <a:rPr lang="en-US" sz="2800" b="1" dirty="0">
                <a:solidFill>
                  <a:srgbClr val="FFFFFF"/>
                </a:solidFill>
                <a:latin typeface="Calibri" pitchFamily="34" charset="0"/>
                <a:ea typeface="Calibri" pitchFamily="34" charset="-122"/>
                <a:cs typeface="Calibri" pitchFamily="34" charset="-120"/>
              </a:rPr>
              <a:t> &amp; Problématique</a:t>
            </a:r>
            <a:endParaRPr lang="en-US" sz="2800" dirty="0"/>
          </a:p>
        </p:txBody>
      </p:sp>
      <p:sp>
        <p:nvSpPr>
          <p:cNvPr id="4" name="Shape 2"/>
          <p:cNvSpPr/>
          <p:nvPr/>
        </p:nvSpPr>
        <p:spPr>
          <a:xfrm>
            <a:off x="320040" y="960120"/>
            <a:ext cx="3840480" cy="34747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5" name="Shape 3"/>
          <p:cNvSpPr/>
          <p:nvPr/>
        </p:nvSpPr>
        <p:spPr>
          <a:xfrm>
            <a:off x="320040" y="960120"/>
            <a:ext cx="3840480" cy="73152"/>
          </a:xfrm>
          <a:prstGeom prst="rect">
            <a:avLst/>
          </a:prstGeom>
          <a:solidFill>
            <a:srgbClr val="00B4D8"/>
          </a:solidFill>
          <a:ln/>
        </p:spPr>
        <p:txBody>
          <a:bodyPr/>
          <a:lstStyle/>
          <a:p>
            <a:endParaRPr lang="fr-CA"/>
          </a:p>
        </p:txBody>
      </p:sp>
      <p:sp>
        <p:nvSpPr>
          <p:cNvPr id="6" name="Text 4"/>
          <p:cNvSpPr/>
          <p:nvPr/>
        </p:nvSpPr>
        <p:spPr>
          <a:xfrm>
            <a:off x="502920" y="1097280"/>
            <a:ext cx="3474720" cy="41148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 CONTEXTE</a:t>
            </a:r>
            <a:endParaRPr lang="en-US" sz="1300" dirty="0"/>
          </a:p>
        </p:txBody>
      </p:sp>
      <p:sp>
        <p:nvSpPr>
          <p:cNvPr id="7" name="Text 5"/>
          <p:cNvSpPr/>
          <p:nvPr/>
        </p:nvSpPr>
        <p:spPr>
          <a:xfrm>
            <a:off x="457200" y="1691640"/>
            <a:ext cx="3474720" cy="2651760"/>
          </a:xfrm>
          <a:prstGeom prst="rect">
            <a:avLst/>
          </a:prstGeom>
          <a:noFill/>
          <a:ln/>
        </p:spPr>
        <p:txBody>
          <a:bodyPr wrap="square" rtlCol="0" anchor="t"/>
          <a:lstStyle/>
          <a:p>
            <a:pPr marL="171450" indent="-171450">
              <a:buFont typeface="Wingdings" panose="05000000000000000000" pitchFamily="2" charset="2"/>
              <a:buChar char="Ø"/>
            </a:pPr>
            <a:r>
              <a:rPr lang="en-US" sz="1200" dirty="0">
                <a:solidFill>
                  <a:schemeClr val="bg1"/>
                </a:solidFill>
                <a:latin typeface="Calibri" pitchFamily="34" charset="0"/>
                <a:ea typeface="Calibri" pitchFamily="34" charset="-122"/>
                <a:cs typeface="Calibri" pitchFamily="34" charset="-120"/>
              </a:rPr>
              <a:t>La vision par </a:t>
            </a:r>
            <a:r>
              <a:rPr lang="en-US" sz="1200" dirty="0" err="1">
                <a:solidFill>
                  <a:schemeClr val="bg1"/>
                </a:solidFill>
                <a:latin typeface="Calibri" pitchFamily="34" charset="0"/>
                <a:ea typeface="Calibri" pitchFamily="34" charset="-122"/>
                <a:cs typeface="Calibri" pitchFamily="34" charset="-120"/>
              </a:rPr>
              <a:t>ordinateur</a:t>
            </a:r>
            <a:r>
              <a:rPr lang="en-US" sz="1200" dirty="0">
                <a:solidFill>
                  <a:schemeClr val="bg1"/>
                </a:solidFill>
                <a:latin typeface="Calibri" pitchFamily="34" charset="0"/>
                <a:ea typeface="Calibri" pitchFamily="34" charset="-122"/>
                <a:cs typeface="Calibri" pitchFamily="34" charset="-120"/>
              </a:rPr>
              <a:t> </a:t>
            </a:r>
            <a:r>
              <a:rPr lang="en-US" sz="1200" dirty="0">
                <a:solidFill>
                  <a:srgbClr val="E8F4F8"/>
                </a:solidFill>
                <a:latin typeface="Calibri" pitchFamily="34" charset="0"/>
                <a:ea typeface="Calibri" pitchFamily="34" charset="-122"/>
                <a:cs typeface="Calibri" pitchFamily="34" charset="-120"/>
              </a:rPr>
              <a:t>extrait </a:t>
            </a:r>
            <a:r>
              <a:rPr lang="en-US" sz="1200" dirty="0" err="1">
                <a:solidFill>
                  <a:srgbClr val="E8F4F8"/>
                </a:solidFill>
                <a:latin typeface="Calibri" pitchFamily="34" charset="0"/>
                <a:ea typeface="Calibri" pitchFamily="34" charset="-122"/>
                <a:cs typeface="Calibri" pitchFamily="34" charset="-120"/>
              </a:rPr>
              <a:t>automatiquement</a:t>
            </a:r>
            <a:r>
              <a:rPr lang="en-US" sz="1200" dirty="0">
                <a:solidFill>
                  <a:srgbClr val="E8F4F8"/>
                </a:solidFill>
                <a:latin typeface="Calibri" pitchFamily="34" charset="0"/>
                <a:ea typeface="Calibri" pitchFamily="34" charset="-122"/>
                <a:cs typeface="Calibri" pitchFamily="34" charset="-120"/>
              </a:rPr>
              <a:t> des </a:t>
            </a:r>
            <a:r>
              <a:rPr lang="en-US" sz="1200" dirty="0" err="1">
                <a:solidFill>
                  <a:srgbClr val="E8F4F8"/>
                </a:solidFill>
                <a:latin typeface="Calibri" pitchFamily="34" charset="0"/>
                <a:ea typeface="Calibri" pitchFamily="34" charset="-122"/>
                <a:cs typeface="Calibri" pitchFamily="34" charset="-120"/>
              </a:rPr>
              <a:t>informations</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depuis</a:t>
            </a:r>
            <a:r>
              <a:rPr lang="en-US" sz="1200" dirty="0">
                <a:solidFill>
                  <a:srgbClr val="E8F4F8"/>
                </a:solidFill>
                <a:latin typeface="Calibri" pitchFamily="34" charset="0"/>
                <a:ea typeface="Calibri" pitchFamily="34" charset="-122"/>
                <a:cs typeface="Calibri" pitchFamily="34" charset="-120"/>
              </a:rPr>
              <a:t> des images </a:t>
            </a:r>
            <a:r>
              <a:rPr lang="en-US" sz="1200" dirty="0" err="1">
                <a:solidFill>
                  <a:srgbClr val="E8F4F8"/>
                </a:solidFill>
                <a:latin typeface="Calibri" pitchFamily="34" charset="0"/>
                <a:ea typeface="Calibri" pitchFamily="34" charset="-122"/>
                <a:cs typeface="Calibri" pitchFamily="34" charset="-120"/>
              </a:rPr>
              <a:t>médicales</a:t>
            </a:r>
            <a:r>
              <a:rPr lang="en-US" sz="1200" dirty="0">
                <a:solidFill>
                  <a:srgbClr val="E8F4F8"/>
                </a:solidFill>
                <a:latin typeface="Calibri" pitchFamily="34" charset="0"/>
                <a:ea typeface="Calibri" pitchFamily="34" charset="-122"/>
                <a:cs typeface="Calibri" pitchFamily="34" charset="-120"/>
              </a:rPr>
              <a:t>.</a:t>
            </a:r>
          </a:p>
          <a:p>
            <a:endParaRPr lang="en-US" sz="1200" dirty="0">
              <a:solidFill>
                <a:srgbClr val="E8F4F8"/>
              </a:solidFill>
              <a:latin typeface="Calibri" pitchFamily="34" charset="0"/>
              <a:ea typeface="Calibri" pitchFamily="34" charset="-122"/>
              <a:cs typeface="Calibri" pitchFamily="34" charset="-120"/>
            </a:endParaRPr>
          </a:p>
          <a:p>
            <a:pPr marL="171450" indent="-171450">
              <a:buFont typeface="Wingdings" panose="05000000000000000000" pitchFamily="2" charset="2"/>
              <a:buChar char="Ø"/>
            </a:pPr>
            <a:r>
              <a:rPr lang="en-US" sz="1200" dirty="0" err="1">
                <a:solidFill>
                  <a:srgbClr val="E8F4F8"/>
                </a:solidFill>
                <a:latin typeface="Calibri" pitchFamily="34" charset="0"/>
                <a:ea typeface="Calibri" pitchFamily="34" charset="-122"/>
                <a:cs typeface="Calibri" pitchFamily="34" charset="-120"/>
              </a:rPr>
              <a:t>Analyse</a:t>
            </a:r>
            <a:r>
              <a:rPr lang="en-US" sz="1200" dirty="0">
                <a:solidFill>
                  <a:srgbClr val="E8F4F8"/>
                </a:solidFill>
                <a:latin typeface="Calibri" pitchFamily="34" charset="0"/>
                <a:ea typeface="Calibri" pitchFamily="34" charset="-122"/>
                <a:cs typeface="Calibri" pitchFamily="34" charset="-120"/>
              </a:rPr>
              <a:t> des </a:t>
            </a:r>
            <a:r>
              <a:rPr lang="en-US" sz="1200" dirty="0" err="1">
                <a:solidFill>
                  <a:srgbClr val="E8F4F8"/>
                </a:solidFill>
                <a:latin typeface="Calibri" pitchFamily="34" charset="0"/>
                <a:ea typeface="Calibri" pitchFamily="34" charset="-122"/>
                <a:cs typeface="Calibri" pitchFamily="34" charset="-120"/>
              </a:rPr>
              <a:t>lésions</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cutanées</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en</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dermatologie</a:t>
            </a:r>
            <a:r>
              <a:rPr lang="en-US" sz="1200" dirty="0">
                <a:solidFill>
                  <a:srgbClr val="E8F4F8"/>
                </a:solidFill>
                <a:latin typeface="Calibri" pitchFamily="34" charset="0"/>
                <a:ea typeface="Calibri" pitchFamily="34" charset="-122"/>
                <a:cs typeface="Calibri" pitchFamily="34" charset="-120"/>
              </a:rPr>
              <a:t>.</a:t>
            </a:r>
          </a:p>
          <a:p>
            <a:pPr marL="171450" indent="-171450">
              <a:buFont typeface="Wingdings" panose="05000000000000000000" pitchFamily="2" charset="2"/>
              <a:buChar char="Ø"/>
            </a:pPr>
            <a:endParaRPr lang="en-US" sz="1200" dirty="0">
              <a:solidFill>
                <a:srgbClr val="E8F4F8"/>
              </a:solidFill>
              <a:latin typeface="Calibri" pitchFamily="34" charset="0"/>
              <a:ea typeface="Calibri" pitchFamily="34" charset="-122"/>
              <a:cs typeface="Calibri" pitchFamily="34" charset="-120"/>
            </a:endParaRPr>
          </a:p>
          <a:p>
            <a:pPr marL="171450" indent="-171450">
              <a:buFont typeface="Wingdings" panose="05000000000000000000" pitchFamily="2" charset="2"/>
              <a:buChar char="Ø"/>
            </a:pPr>
            <a:r>
              <a:rPr lang="en-US" sz="1200" dirty="0" err="1">
                <a:solidFill>
                  <a:srgbClr val="E8F4F8"/>
                </a:solidFill>
                <a:latin typeface="Calibri" pitchFamily="34" charset="0"/>
                <a:ea typeface="Calibri" pitchFamily="34" charset="-122"/>
                <a:cs typeface="Calibri" pitchFamily="34" charset="-120"/>
              </a:rPr>
              <a:t>Amélioration</a:t>
            </a:r>
            <a:r>
              <a:rPr lang="en-US" sz="1200" dirty="0">
                <a:solidFill>
                  <a:srgbClr val="E8F4F8"/>
                </a:solidFill>
                <a:latin typeface="Calibri" pitchFamily="34" charset="0"/>
                <a:ea typeface="Calibri" pitchFamily="34" charset="-122"/>
                <a:cs typeface="Calibri" pitchFamily="34" charset="-120"/>
              </a:rPr>
              <a:t> de la </a:t>
            </a:r>
            <a:r>
              <a:rPr lang="en-US" sz="1200" dirty="0" err="1">
                <a:solidFill>
                  <a:srgbClr val="E8F4F8"/>
                </a:solidFill>
                <a:latin typeface="Calibri" pitchFamily="34" charset="0"/>
                <a:ea typeface="Calibri" pitchFamily="34" charset="-122"/>
                <a:cs typeface="Calibri" pitchFamily="34" charset="-120"/>
              </a:rPr>
              <a:t>rapidité</a:t>
            </a:r>
            <a:r>
              <a:rPr lang="en-US" sz="1200" dirty="0">
                <a:solidFill>
                  <a:srgbClr val="E8F4F8"/>
                </a:solidFill>
                <a:latin typeface="Calibri" pitchFamily="34" charset="0"/>
                <a:ea typeface="Calibri" pitchFamily="34" charset="-122"/>
                <a:cs typeface="Calibri" pitchFamily="34" charset="-120"/>
              </a:rPr>
              <a:t> et la </a:t>
            </a:r>
            <a:r>
              <a:rPr lang="en-US" sz="1200" dirty="0" err="1">
                <a:solidFill>
                  <a:srgbClr val="E8F4F8"/>
                </a:solidFill>
                <a:latin typeface="Calibri" pitchFamily="34" charset="0"/>
                <a:ea typeface="Calibri" pitchFamily="34" charset="-122"/>
                <a:cs typeface="Calibri" pitchFamily="34" charset="-120"/>
              </a:rPr>
              <a:t>précision</a:t>
            </a:r>
            <a:r>
              <a:rPr lang="en-US" sz="1200" dirty="0">
                <a:solidFill>
                  <a:srgbClr val="E8F4F8"/>
                </a:solidFill>
                <a:latin typeface="Calibri" pitchFamily="34" charset="0"/>
                <a:ea typeface="Calibri" pitchFamily="34" charset="-122"/>
                <a:cs typeface="Calibri" pitchFamily="34" charset="-120"/>
              </a:rPr>
              <a:t> du diagnostic.</a:t>
            </a:r>
          </a:p>
          <a:p>
            <a:endParaRPr lang="en-US" sz="1200" dirty="0">
              <a:solidFill>
                <a:srgbClr val="E8F4F8"/>
              </a:solidFill>
              <a:latin typeface="Calibri" pitchFamily="34" charset="0"/>
              <a:ea typeface="Calibri" pitchFamily="34" charset="-122"/>
              <a:cs typeface="Calibri" pitchFamily="34" charset="-120"/>
            </a:endParaRPr>
          </a:p>
          <a:p>
            <a:endParaRPr lang="en-US" sz="1200" dirty="0"/>
          </a:p>
        </p:txBody>
      </p:sp>
      <p:sp>
        <p:nvSpPr>
          <p:cNvPr id="8" name="Shape 6"/>
          <p:cNvSpPr/>
          <p:nvPr/>
        </p:nvSpPr>
        <p:spPr>
          <a:xfrm>
            <a:off x="4983480" y="960120"/>
            <a:ext cx="3840480" cy="34747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9" name="Shape 7"/>
          <p:cNvSpPr/>
          <p:nvPr/>
        </p:nvSpPr>
        <p:spPr>
          <a:xfrm>
            <a:off x="4983480" y="960120"/>
            <a:ext cx="3840480" cy="73152"/>
          </a:xfrm>
          <a:prstGeom prst="rect">
            <a:avLst/>
          </a:prstGeom>
          <a:solidFill>
            <a:srgbClr val="06D6A0"/>
          </a:solidFill>
          <a:ln/>
        </p:spPr>
        <p:txBody>
          <a:bodyPr/>
          <a:lstStyle/>
          <a:p>
            <a:endParaRPr lang="fr-CA"/>
          </a:p>
        </p:txBody>
      </p:sp>
      <p:sp>
        <p:nvSpPr>
          <p:cNvPr id="10" name="Text 8"/>
          <p:cNvSpPr/>
          <p:nvPr/>
        </p:nvSpPr>
        <p:spPr>
          <a:xfrm>
            <a:off x="5166360" y="1097280"/>
            <a:ext cx="3474720" cy="411480"/>
          </a:xfrm>
          <a:prstGeom prst="rect">
            <a:avLst/>
          </a:prstGeom>
          <a:noFill/>
          <a:ln/>
        </p:spPr>
        <p:txBody>
          <a:bodyPr wrap="square" rtlCol="0" anchor="ctr"/>
          <a:lstStyle/>
          <a:p>
            <a:pPr marL="0" indent="0">
              <a:buNone/>
            </a:pPr>
            <a:r>
              <a:rPr lang="en-US" sz="1300" b="1" dirty="0">
                <a:solidFill>
                  <a:srgbClr val="06D6A0"/>
                </a:solidFill>
                <a:latin typeface="Calibri" pitchFamily="34" charset="0"/>
                <a:ea typeface="Calibri" pitchFamily="34" charset="-122"/>
                <a:cs typeface="Calibri" pitchFamily="34" charset="-120"/>
              </a:rPr>
              <a:t>❓ PROBLÉMATIQUE</a:t>
            </a:r>
            <a:endParaRPr lang="en-US" sz="1300" dirty="0"/>
          </a:p>
        </p:txBody>
      </p:sp>
      <p:sp>
        <p:nvSpPr>
          <p:cNvPr id="11" name="Text 9"/>
          <p:cNvSpPr/>
          <p:nvPr/>
        </p:nvSpPr>
        <p:spPr>
          <a:xfrm>
            <a:off x="5166360" y="1600200"/>
            <a:ext cx="3474720" cy="457200"/>
          </a:xfrm>
          <a:prstGeom prst="rect">
            <a:avLst/>
          </a:prstGeom>
          <a:noFill/>
          <a:ln/>
        </p:spPr>
        <p:txBody>
          <a:bodyPr wrap="square" rtlCol="0" anchor="ctr"/>
          <a:lstStyle/>
          <a:p>
            <a:pPr marL="0" indent="0">
              <a:buNone/>
            </a:pPr>
            <a:r>
              <a:rPr lang="en-US" sz="1200" b="1" dirty="0">
                <a:solidFill>
                  <a:srgbClr val="E8F4F8"/>
                </a:solidFill>
                <a:latin typeface="Calibri" pitchFamily="34" charset="0"/>
                <a:ea typeface="Calibri" pitchFamily="34" charset="-122"/>
                <a:cs typeface="Calibri" pitchFamily="34" charset="-120"/>
              </a:rPr>
              <a:t>Comment développer un système capable de :</a:t>
            </a:r>
            <a:endParaRPr lang="en-US" sz="1200" dirty="0"/>
          </a:p>
        </p:txBody>
      </p:sp>
      <p:sp>
        <p:nvSpPr>
          <p:cNvPr id="12" name="Text 10"/>
          <p:cNvSpPr/>
          <p:nvPr/>
        </p:nvSpPr>
        <p:spPr>
          <a:xfrm>
            <a:off x="5166360" y="2148840"/>
            <a:ext cx="3474720" cy="2103120"/>
          </a:xfrm>
          <a:prstGeom prst="rect">
            <a:avLst/>
          </a:prstGeom>
          <a:noFill/>
          <a:ln/>
        </p:spPr>
        <p:txBody>
          <a:bodyPr wrap="square" rtlCol="0" anchor="t"/>
          <a:lstStyle/>
          <a:p>
            <a:pPr marL="0" indent="0">
              <a:spcAft>
                <a:spcPts val="800"/>
              </a:spcAft>
              <a:buNone/>
            </a:pPr>
            <a:r>
              <a:rPr lang="en-US" sz="1200" dirty="0">
                <a:solidFill>
                  <a:srgbClr val="E8F4F8"/>
                </a:solidFill>
                <a:latin typeface="Calibri" pitchFamily="34" charset="0"/>
                <a:ea typeface="Calibri" pitchFamily="34" charset="-122"/>
                <a:cs typeface="Calibri" pitchFamily="34" charset="-120"/>
              </a:rPr>
              <a:t>1. Segmenter automatiquement une lésion cutanée</a:t>
            </a:r>
            <a:endParaRPr lang="en-US" sz="1200" dirty="0"/>
          </a:p>
          <a:p>
            <a:pPr marL="0" indent="0">
              <a:spcAft>
                <a:spcPts val="800"/>
              </a:spcAft>
              <a:buNone/>
            </a:pPr>
            <a:r>
              <a:rPr lang="en-US" sz="1200" dirty="0">
                <a:solidFill>
                  <a:srgbClr val="E8F4F8"/>
                </a:solidFill>
                <a:latin typeface="Calibri" pitchFamily="34" charset="0"/>
                <a:ea typeface="Calibri" pitchFamily="34" charset="-122"/>
                <a:cs typeface="Calibri" pitchFamily="34" charset="-120"/>
              </a:rPr>
              <a:t>2. Extraire des indicateurs géométriques fiables</a:t>
            </a:r>
            <a:endParaRPr lang="en-US" sz="1200" dirty="0"/>
          </a:p>
          <a:p>
            <a:pPr marL="0" indent="0">
              <a:spcAft>
                <a:spcPts val="800"/>
              </a:spcAft>
              <a:buNone/>
            </a:pPr>
            <a:r>
              <a:rPr lang="en-US" sz="1200" dirty="0">
                <a:solidFill>
                  <a:srgbClr val="E8F4F8"/>
                </a:solidFill>
                <a:latin typeface="Calibri" pitchFamily="34" charset="0"/>
                <a:ea typeface="Calibri" pitchFamily="34" charset="-122"/>
                <a:cs typeface="Calibri" pitchFamily="34" charset="-120"/>
              </a:rPr>
              <a:t>3. Produire un score d'analyse visuel et interprétable</a:t>
            </a:r>
            <a:endParaRPr lang="en-US" sz="1200" dirty="0"/>
          </a:p>
        </p:txBody>
      </p:sp>
      <p:sp>
        <p:nvSpPr>
          <p:cNvPr id="13" name="Shape 11"/>
          <p:cNvSpPr/>
          <p:nvPr/>
        </p:nvSpPr>
        <p:spPr>
          <a:xfrm>
            <a:off x="320040" y="4617720"/>
            <a:ext cx="8503920" cy="365760"/>
          </a:xfrm>
          <a:prstGeom prst="rect">
            <a:avLst/>
          </a:prstGeom>
          <a:solidFill>
            <a:srgbClr val="00B4D8">
              <a:alpha val="20000"/>
            </a:srgbClr>
          </a:solidFill>
          <a:ln/>
        </p:spPr>
        <p:txBody>
          <a:bodyPr/>
          <a:lstStyle/>
          <a:p>
            <a:endParaRPr lang="fr-CA" dirty="0"/>
          </a:p>
        </p:txBody>
      </p:sp>
      <p:sp>
        <p:nvSpPr>
          <p:cNvPr id="14" name="Text 12"/>
          <p:cNvSpPr/>
          <p:nvPr/>
        </p:nvSpPr>
        <p:spPr>
          <a:xfrm>
            <a:off x="457200" y="4636008"/>
            <a:ext cx="8229600" cy="329184"/>
          </a:xfrm>
          <a:prstGeom prst="rect">
            <a:avLst/>
          </a:prstGeom>
          <a:noFill/>
          <a:ln/>
        </p:spPr>
        <p:txBody>
          <a:bodyPr wrap="square" rtlCol="0" anchor="ctr"/>
          <a:lstStyle/>
          <a:p>
            <a:pPr marL="0" indent="0">
              <a:buNone/>
            </a:pPr>
            <a:r>
              <a:rPr lang="en-US" sz="1000" i="1" dirty="0">
                <a:solidFill>
                  <a:srgbClr val="90E0EF"/>
                </a:solidFill>
                <a:latin typeface="Calibri" pitchFamily="34" charset="0"/>
                <a:ea typeface="Calibri" pitchFamily="34" charset="-122"/>
                <a:cs typeface="Calibri" pitchFamily="34" charset="-120"/>
              </a:rPr>
              <a:t>⚠️  Le système ne doit pas être présenté comme un outil de diagnostic médical.</a:t>
            </a:r>
            <a:endParaRPr lang="en-US" sz="1000" dirty="0"/>
          </a:p>
        </p:txBody>
      </p:sp>
      <p:pic>
        <p:nvPicPr>
          <p:cNvPr id="1035" name="Picture 11" descr="179 mille Images et Photos de Context Libres de Droits | Shutterstock">
            <a:extLst>
              <a:ext uri="{FF2B5EF4-FFF2-40B4-BE49-F238E27FC236}">
                <a16:creationId xmlns:a16="http://schemas.microsoft.com/office/drawing/2014/main" id="{DD6F7369-8699-1BC3-5E3C-578AFAE30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517" y="2973432"/>
            <a:ext cx="1704703" cy="1278528"/>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roblematique Vector Art, Icons, and Graphics for Free Download">
            <a:extLst>
              <a:ext uri="{FF2B5EF4-FFF2-40B4-BE49-F238E27FC236}">
                <a16:creationId xmlns:a16="http://schemas.microsoft.com/office/drawing/2014/main" id="{F693F6CB-C978-6873-E3EE-E5D8168B8D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3349" y="3116453"/>
            <a:ext cx="1483451" cy="1153795"/>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Folded Corner 19">
            <a:extLst>
              <a:ext uri="{FF2B5EF4-FFF2-40B4-BE49-F238E27FC236}">
                <a16:creationId xmlns:a16="http://schemas.microsoft.com/office/drawing/2014/main" id="{CCD57CC5-0355-A235-C6FC-8A32DE9112E0}"/>
              </a:ext>
            </a:extLst>
          </p:cNvPr>
          <p:cNvSpPr/>
          <p:nvPr/>
        </p:nvSpPr>
        <p:spPr>
          <a:xfrm>
            <a:off x="8817424" y="8516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D6A0"/>
          </a:solidFill>
          <a:ln/>
        </p:spPr>
        <p:txBody>
          <a:bodyPr/>
          <a:lstStyle/>
          <a:p>
            <a:endParaRPr lang="fr-CA"/>
          </a:p>
        </p:txBody>
      </p:sp>
      <p:sp>
        <p:nvSpPr>
          <p:cNvPr id="3" name="Text 1"/>
          <p:cNvSpPr/>
          <p:nvPr/>
        </p:nvSpPr>
        <p:spPr>
          <a:xfrm>
            <a:off x="457200" y="228600"/>
            <a:ext cx="8229600" cy="548640"/>
          </a:xfrm>
          <a:prstGeom prst="rect">
            <a:avLst/>
          </a:prstGeom>
          <a:noFill/>
          <a:ln/>
        </p:spPr>
        <p:txBody>
          <a:bodyPr wrap="square" rtlCol="0" anchor="ctr"/>
          <a:lstStyle/>
          <a:p>
            <a:r>
              <a:rPr lang="en-US" sz="2800" b="1" dirty="0">
                <a:solidFill>
                  <a:srgbClr val="FFFFFF"/>
                </a:solidFill>
                <a:latin typeface="Trebuchet MS" pitchFamily="34" charset="0"/>
                <a:ea typeface="Trebuchet MS" pitchFamily="34" charset="-122"/>
                <a:cs typeface="Trebuchet MS" pitchFamily="34" charset="-120"/>
              </a:rPr>
              <a:t>02  · </a:t>
            </a:r>
            <a:r>
              <a:rPr lang="en-US" sz="2800" b="1" dirty="0" err="1">
                <a:solidFill>
                  <a:srgbClr val="FFFFFF"/>
                </a:solidFill>
                <a:latin typeface="Calibri" pitchFamily="34" charset="0"/>
                <a:ea typeface="Calibri" pitchFamily="34" charset="-122"/>
                <a:cs typeface="Calibri" pitchFamily="34" charset="-120"/>
              </a:rPr>
              <a:t>Objectifs</a:t>
            </a:r>
            <a:r>
              <a:rPr lang="en-US" sz="2800" b="1" dirty="0">
                <a:solidFill>
                  <a:srgbClr val="FFFFFF"/>
                </a:solidFill>
                <a:latin typeface="Calibri" pitchFamily="34" charset="0"/>
                <a:ea typeface="Calibri" pitchFamily="34" charset="-122"/>
                <a:cs typeface="Calibri" pitchFamily="34" charset="-120"/>
              </a:rPr>
              <a:t> du Projet</a:t>
            </a:r>
            <a:endParaRPr lang="en-US" sz="2800" dirty="0"/>
          </a:p>
        </p:txBody>
      </p:sp>
      <p:sp>
        <p:nvSpPr>
          <p:cNvPr id="4" name="Shape 2"/>
          <p:cNvSpPr/>
          <p:nvPr/>
        </p:nvSpPr>
        <p:spPr>
          <a:xfrm>
            <a:off x="320040" y="878366"/>
            <a:ext cx="8503920" cy="1005840"/>
          </a:xfrm>
          <a:prstGeom prst="rect">
            <a:avLst/>
          </a:prstGeom>
          <a:solidFill>
            <a:srgbClr val="00B4D8">
              <a:alpha val="85000"/>
            </a:srgbClr>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5" name="Text 3"/>
          <p:cNvSpPr/>
          <p:nvPr/>
        </p:nvSpPr>
        <p:spPr>
          <a:xfrm>
            <a:off x="3754436" y="960120"/>
            <a:ext cx="3657600" cy="320040"/>
          </a:xfrm>
          <a:prstGeom prst="rect">
            <a:avLst/>
          </a:prstGeom>
          <a:noFill/>
          <a:ln/>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  </a:t>
            </a:r>
            <a:r>
              <a:rPr lang="en-US" sz="1400" b="1" kern="0" spc="100" dirty="0">
                <a:solidFill>
                  <a:srgbClr val="C00000"/>
                </a:solidFill>
                <a:latin typeface="Calibri" pitchFamily="34" charset="0"/>
                <a:ea typeface="Calibri" pitchFamily="34" charset="-122"/>
                <a:cs typeface="Calibri" pitchFamily="34" charset="-120"/>
              </a:rPr>
              <a:t>OBJECTIF PRINCIPAL</a:t>
            </a:r>
            <a:endParaRPr lang="en-US" sz="1100" dirty="0">
              <a:solidFill>
                <a:srgbClr val="C00000"/>
              </a:solidFill>
            </a:endParaRPr>
          </a:p>
        </p:txBody>
      </p:sp>
      <p:sp>
        <p:nvSpPr>
          <p:cNvPr id="6" name="Text 4"/>
          <p:cNvSpPr/>
          <p:nvPr/>
        </p:nvSpPr>
        <p:spPr>
          <a:xfrm>
            <a:off x="548640" y="1280160"/>
            <a:ext cx="804672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Développer un système basé sur YOLOv8 permettant la segmentation d'instance de lésions cutanées</a:t>
            </a:r>
            <a:endParaRPr lang="en-US" sz="1400" dirty="0"/>
          </a:p>
        </p:txBody>
      </p:sp>
      <p:sp>
        <p:nvSpPr>
          <p:cNvPr id="7" name="Shape 5"/>
          <p:cNvSpPr/>
          <p:nvPr/>
        </p:nvSpPr>
        <p:spPr>
          <a:xfrm>
            <a:off x="32004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8" name="Shape 6"/>
          <p:cNvSpPr/>
          <p:nvPr/>
        </p:nvSpPr>
        <p:spPr>
          <a:xfrm>
            <a:off x="320040" y="2194560"/>
            <a:ext cx="1965960" cy="64008"/>
          </a:xfrm>
          <a:prstGeom prst="rect">
            <a:avLst/>
          </a:prstGeom>
          <a:solidFill>
            <a:srgbClr val="00B4D8"/>
          </a:solidFill>
          <a:ln/>
        </p:spPr>
        <p:txBody>
          <a:bodyPr/>
          <a:lstStyle/>
          <a:p>
            <a:endParaRPr lang="fr-CA"/>
          </a:p>
        </p:txBody>
      </p:sp>
      <p:sp>
        <p:nvSpPr>
          <p:cNvPr id="10" name="Text 8"/>
          <p:cNvSpPr/>
          <p:nvPr/>
        </p:nvSpPr>
        <p:spPr>
          <a:xfrm>
            <a:off x="378455" y="3083912"/>
            <a:ext cx="1783080" cy="365760"/>
          </a:xfrm>
          <a:prstGeom prst="rect">
            <a:avLst/>
          </a:prstGeom>
          <a:noFill/>
          <a:ln/>
        </p:spPr>
        <p:txBody>
          <a:bodyPr wrap="square" rtlCol="0" anchor="ctr"/>
          <a:lstStyle/>
          <a:p>
            <a:pPr marL="0" indent="0" algn="ctr">
              <a:buNone/>
            </a:pPr>
            <a:r>
              <a:rPr lang="en-US" sz="1300" b="1" dirty="0">
                <a:solidFill>
                  <a:srgbClr val="00B4D8"/>
                </a:solidFill>
                <a:latin typeface="Calibri" pitchFamily="34" charset="0"/>
                <a:ea typeface="Calibri" pitchFamily="34" charset="-122"/>
                <a:cs typeface="Calibri" pitchFamily="34" charset="-120"/>
              </a:rPr>
              <a:t>Détection</a:t>
            </a:r>
            <a:endParaRPr lang="en-US" sz="1300" dirty="0"/>
          </a:p>
        </p:txBody>
      </p:sp>
      <p:sp>
        <p:nvSpPr>
          <p:cNvPr id="11" name="Text 9"/>
          <p:cNvSpPr/>
          <p:nvPr/>
        </p:nvSpPr>
        <p:spPr>
          <a:xfrm>
            <a:off x="411480" y="3429000"/>
            <a:ext cx="1783080" cy="1188720"/>
          </a:xfrm>
          <a:prstGeom prst="rect">
            <a:avLst/>
          </a:prstGeom>
          <a:noFill/>
          <a:ln/>
        </p:spPr>
        <p:txBody>
          <a:bodyPr wrap="square" rtlCol="0" anchor="t"/>
          <a:lstStyle/>
          <a:p>
            <a:pPr marL="0" indent="0" algn="ctr">
              <a:buNone/>
            </a:pPr>
            <a:r>
              <a:rPr lang="en-US" sz="1050" dirty="0">
                <a:solidFill>
                  <a:srgbClr val="E8F4F8"/>
                </a:solidFill>
                <a:latin typeface="Calibri" pitchFamily="34" charset="0"/>
                <a:ea typeface="Calibri" pitchFamily="34" charset="-122"/>
                <a:cs typeface="Calibri" pitchFamily="34" charset="-120"/>
              </a:rPr>
              <a:t>Localiser et segmenter automatiquement la lésion dans l'image d'entrée</a:t>
            </a:r>
            <a:endParaRPr lang="en-US" sz="1050" dirty="0"/>
          </a:p>
        </p:txBody>
      </p:sp>
      <p:sp>
        <p:nvSpPr>
          <p:cNvPr id="12" name="Shape 10"/>
          <p:cNvSpPr/>
          <p:nvPr/>
        </p:nvSpPr>
        <p:spPr>
          <a:xfrm>
            <a:off x="246888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13" name="Shape 11"/>
          <p:cNvSpPr/>
          <p:nvPr/>
        </p:nvSpPr>
        <p:spPr>
          <a:xfrm>
            <a:off x="2468880" y="2194560"/>
            <a:ext cx="1965960" cy="64008"/>
          </a:xfrm>
          <a:prstGeom prst="rect">
            <a:avLst/>
          </a:prstGeom>
          <a:solidFill>
            <a:srgbClr val="06D6A0"/>
          </a:solidFill>
          <a:ln/>
        </p:spPr>
        <p:txBody>
          <a:bodyPr/>
          <a:lstStyle/>
          <a:p>
            <a:endParaRPr lang="fr-CA"/>
          </a:p>
        </p:txBody>
      </p:sp>
      <p:sp>
        <p:nvSpPr>
          <p:cNvPr id="15" name="Text 13"/>
          <p:cNvSpPr/>
          <p:nvPr/>
        </p:nvSpPr>
        <p:spPr>
          <a:xfrm>
            <a:off x="2560320" y="3017520"/>
            <a:ext cx="1783080" cy="365760"/>
          </a:xfrm>
          <a:prstGeom prst="rect">
            <a:avLst/>
          </a:prstGeom>
          <a:noFill/>
          <a:ln/>
        </p:spPr>
        <p:txBody>
          <a:bodyPr wrap="square" rtlCol="0" anchor="ctr"/>
          <a:lstStyle/>
          <a:p>
            <a:pPr marL="0" indent="0" algn="ctr">
              <a:buNone/>
            </a:pPr>
            <a:r>
              <a:rPr lang="en-US" sz="1300" b="1" dirty="0">
                <a:solidFill>
                  <a:srgbClr val="06D6A0"/>
                </a:solidFill>
                <a:latin typeface="Calibri" pitchFamily="34" charset="0"/>
                <a:ea typeface="Calibri" pitchFamily="34" charset="-122"/>
                <a:cs typeface="Calibri" pitchFamily="34" charset="-120"/>
              </a:rPr>
              <a:t>Métriques</a:t>
            </a:r>
            <a:endParaRPr lang="en-US" sz="1300" dirty="0"/>
          </a:p>
        </p:txBody>
      </p:sp>
      <p:sp>
        <p:nvSpPr>
          <p:cNvPr id="16" name="Text 14"/>
          <p:cNvSpPr/>
          <p:nvPr/>
        </p:nvSpPr>
        <p:spPr>
          <a:xfrm>
            <a:off x="2560320" y="3429000"/>
            <a:ext cx="1783080" cy="1188720"/>
          </a:xfrm>
          <a:prstGeom prst="rect">
            <a:avLst/>
          </a:prstGeom>
          <a:noFill/>
          <a:ln/>
        </p:spPr>
        <p:txBody>
          <a:bodyPr wrap="square" rtlCol="0" anchor="t"/>
          <a:lstStyle/>
          <a:p>
            <a:pPr algn="ctr"/>
            <a:r>
              <a:rPr lang="en-US" sz="1050" dirty="0" err="1">
                <a:solidFill>
                  <a:srgbClr val="E8F4F8"/>
                </a:solidFill>
                <a:latin typeface="Calibri" pitchFamily="34" charset="0"/>
                <a:ea typeface="Calibri" pitchFamily="34" charset="-122"/>
                <a:cs typeface="Calibri" pitchFamily="34" charset="-120"/>
              </a:rPr>
              <a:t>Calculer</a:t>
            </a:r>
            <a:r>
              <a:rPr lang="en-US" sz="1050" dirty="0">
                <a:solidFill>
                  <a:srgbClr val="E8F4F8"/>
                </a:solidFill>
                <a:latin typeface="Calibri" pitchFamily="34" charset="0"/>
                <a:ea typeface="Calibri" pitchFamily="34" charset="-122"/>
                <a:cs typeface="Calibri" pitchFamily="34" charset="-120"/>
              </a:rPr>
              <a:t> la surface et la </a:t>
            </a:r>
            <a:r>
              <a:rPr lang="en-US" sz="1050" dirty="0" err="1">
                <a:solidFill>
                  <a:srgbClr val="E8F4F8"/>
                </a:solidFill>
                <a:latin typeface="Calibri" pitchFamily="34" charset="0"/>
                <a:ea typeface="Calibri" pitchFamily="34" charset="-122"/>
                <a:cs typeface="Calibri" pitchFamily="34" charset="-120"/>
              </a:rPr>
              <a:t>régularité</a:t>
            </a:r>
            <a:r>
              <a:rPr lang="en-US" sz="1050" dirty="0">
                <a:solidFill>
                  <a:srgbClr val="E8F4F8"/>
                </a:solidFill>
                <a:latin typeface="Calibri" pitchFamily="34" charset="0"/>
                <a:ea typeface="Calibri" pitchFamily="34" charset="-122"/>
                <a:cs typeface="Calibri" pitchFamily="34" charset="-120"/>
              </a:rPr>
              <a:t> la lésion segmentée</a:t>
            </a:r>
            <a:endParaRPr lang="en-US" sz="1050" dirty="0"/>
          </a:p>
        </p:txBody>
      </p:sp>
      <p:sp>
        <p:nvSpPr>
          <p:cNvPr id="17" name="Shape 15"/>
          <p:cNvSpPr/>
          <p:nvPr/>
        </p:nvSpPr>
        <p:spPr>
          <a:xfrm>
            <a:off x="461772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a:p>
        </p:txBody>
      </p:sp>
      <p:sp>
        <p:nvSpPr>
          <p:cNvPr id="18" name="Shape 16"/>
          <p:cNvSpPr/>
          <p:nvPr/>
        </p:nvSpPr>
        <p:spPr>
          <a:xfrm>
            <a:off x="4617720" y="2194560"/>
            <a:ext cx="1965960" cy="64008"/>
          </a:xfrm>
          <a:prstGeom prst="rect">
            <a:avLst/>
          </a:prstGeom>
          <a:solidFill>
            <a:srgbClr val="FFB703"/>
          </a:solidFill>
          <a:ln/>
        </p:spPr>
        <p:txBody>
          <a:bodyPr/>
          <a:lstStyle/>
          <a:p>
            <a:endParaRPr lang="fr-CA"/>
          </a:p>
        </p:txBody>
      </p:sp>
      <p:sp>
        <p:nvSpPr>
          <p:cNvPr id="20" name="Text 18"/>
          <p:cNvSpPr/>
          <p:nvPr/>
        </p:nvSpPr>
        <p:spPr>
          <a:xfrm>
            <a:off x="4709160" y="3017520"/>
            <a:ext cx="1783080" cy="365760"/>
          </a:xfrm>
          <a:prstGeom prst="rect">
            <a:avLst/>
          </a:prstGeom>
          <a:noFill/>
          <a:ln/>
        </p:spPr>
        <p:txBody>
          <a:bodyPr wrap="square" rtlCol="0" anchor="ctr"/>
          <a:lstStyle/>
          <a:p>
            <a:pPr marL="0" indent="0" algn="ctr">
              <a:buNone/>
            </a:pPr>
            <a:r>
              <a:rPr lang="en-US" sz="1300" b="1" dirty="0">
                <a:solidFill>
                  <a:srgbClr val="FFB703"/>
                </a:solidFill>
                <a:latin typeface="Calibri" pitchFamily="34" charset="0"/>
                <a:ea typeface="Calibri" pitchFamily="34" charset="-122"/>
                <a:cs typeface="Calibri" pitchFamily="34" charset="-120"/>
              </a:rPr>
              <a:t>Score</a:t>
            </a:r>
            <a:endParaRPr lang="en-US" sz="1300" dirty="0"/>
          </a:p>
        </p:txBody>
      </p:sp>
      <p:sp>
        <p:nvSpPr>
          <p:cNvPr id="21" name="Text 19"/>
          <p:cNvSpPr/>
          <p:nvPr/>
        </p:nvSpPr>
        <p:spPr>
          <a:xfrm>
            <a:off x="4709160" y="3429000"/>
            <a:ext cx="1783080" cy="1188720"/>
          </a:xfrm>
          <a:prstGeom prst="rect">
            <a:avLst/>
          </a:prstGeom>
          <a:noFill/>
          <a:ln/>
        </p:spPr>
        <p:txBody>
          <a:bodyPr wrap="square" rtlCol="0" anchor="t"/>
          <a:lstStyle/>
          <a:p>
            <a:pPr marL="0" indent="0" algn="ctr">
              <a:buNone/>
            </a:pPr>
            <a:r>
              <a:rPr lang="en-US" sz="1050" dirty="0">
                <a:solidFill>
                  <a:srgbClr val="E8F4F8"/>
                </a:solidFill>
                <a:latin typeface="Calibri" pitchFamily="34" charset="0"/>
                <a:ea typeface="Calibri" pitchFamily="34" charset="-122"/>
                <a:cs typeface="Calibri" pitchFamily="34" charset="-120"/>
              </a:rPr>
              <a:t>Produire un indicateur de sévérité basé sur taille et irrégularité</a:t>
            </a:r>
            <a:endParaRPr lang="en-US" sz="1050" dirty="0"/>
          </a:p>
        </p:txBody>
      </p:sp>
      <p:sp>
        <p:nvSpPr>
          <p:cNvPr id="22" name="Shape 20"/>
          <p:cNvSpPr/>
          <p:nvPr/>
        </p:nvSpPr>
        <p:spPr>
          <a:xfrm>
            <a:off x="676656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a:p>
        </p:txBody>
      </p:sp>
      <p:sp>
        <p:nvSpPr>
          <p:cNvPr id="23" name="Shape 21"/>
          <p:cNvSpPr/>
          <p:nvPr/>
        </p:nvSpPr>
        <p:spPr>
          <a:xfrm>
            <a:off x="6766560" y="2194560"/>
            <a:ext cx="1965960" cy="64008"/>
          </a:xfrm>
          <a:prstGeom prst="rect">
            <a:avLst/>
          </a:prstGeom>
          <a:solidFill>
            <a:srgbClr val="EF476F"/>
          </a:solidFill>
          <a:ln/>
        </p:spPr>
        <p:txBody>
          <a:bodyPr/>
          <a:lstStyle/>
          <a:p>
            <a:endParaRPr lang="fr-CA"/>
          </a:p>
        </p:txBody>
      </p:sp>
      <p:sp>
        <p:nvSpPr>
          <p:cNvPr id="25" name="Text 23"/>
          <p:cNvSpPr/>
          <p:nvPr/>
        </p:nvSpPr>
        <p:spPr>
          <a:xfrm>
            <a:off x="6858000" y="3017520"/>
            <a:ext cx="1783080" cy="365760"/>
          </a:xfrm>
          <a:prstGeom prst="rect">
            <a:avLst/>
          </a:prstGeom>
          <a:noFill/>
          <a:ln/>
        </p:spPr>
        <p:txBody>
          <a:bodyPr wrap="square" rtlCol="0" anchor="ctr"/>
          <a:lstStyle/>
          <a:p>
            <a:pPr marL="0" indent="0" algn="ctr">
              <a:buNone/>
            </a:pPr>
            <a:r>
              <a:rPr lang="en-US" sz="1300" b="1" dirty="0">
                <a:solidFill>
                  <a:srgbClr val="EF476F"/>
                </a:solidFill>
                <a:latin typeface="Calibri" pitchFamily="34" charset="0"/>
                <a:ea typeface="Calibri" pitchFamily="34" charset="-122"/>
                <a:cs typeface="Calibri" pitchFamily="34" charset="-120"/>
              </a:rPr>
              <a:t>Visualisation</a:t>
            </a:r>
            <a:endParaRPr lang="en-US" sz="1300" dirty="0"/>
          </a:p>
        </p:txBody>
      </p:sp>
      <p:sp>
        <p:nvSpPr>
          <p:cNvPr id="26" name="Text 24"/>
          <p:cNvSpPr/>
          <p:nvPr/>
        </p:nvSpPr>
        <p:spPr>
          <a:xfrm>
            <a:off x="6858000" y="3429000"/>
            <a:ext cx="1783080" cy="1188720"/>
          </a:xfrm>
          <a:prstGeom prst="rect">
            <a:avLst/>
          </a:prstGeom>
          <a:noFill/>
          <a:ln/>
        </p:spPr>
        <p:txBody>
          <a:bodyPr wrap="square" rtlCol="0" anchor="t"/>
          <a:lstStyle/>
          <a:p>
            <a:pPr marL="0" indent="0" algn="ctr">
              <a:buNone/>
            </a:pPr>
            <a:r>
              <a:rPr lang="en-US" sz="1050" dirty="0">
                <a:solidFill>
                  <a:srgbClr val="E8F4F8"/>
                </a:solidFill>
                <a:latin typeface="Calibri" pitchFamily="34" charset="0"/>
                <a:ea typeface="Calibri" pitchFamily="34" charset="-122"/>
                <a:cs typeface="Calibri" pitchFamily="34" charset="-120"/>
              </a:rPr>
              <a:t>Afficher masque, contours et métriques de façon claire et lisible</a:t>
            </a:r>
            <a:endParaRPr lang="en-US" sz="1050" dirty="0"/>
          </a:p>
        </p:txBody>
      </p:sp>
      <p:sp>
        <p:nvSpPr>
          <p:cNvPr id="27" name="Text 25"/>
          <p:cNvSpPr/>
          <p:nvPr/>
        </p:nvSpPr>
        <p:spPr>
          <a:xfrm>
            <a:off x="320040" y="4709160"/>
            <a:ext cx="8503920" cy="274320"/>
          </a:xfrm>
          <a:prstGeom prst="rect">
            <a:avLst/>
          </a:prstGeom>
          <a:noFill/>
          <a:ln/>
        </p:spPr>
        <p:txBody>
          <a:bodyPr wrap="square" rtlCol="0" anchor="ctr"/>
          <a:lstStyle/>
          <a:p>
            <a:pPr marL="0" indent="0">
              <a:buNone/>
            </a:pPr>
            <a:r>
              <a:rPr lang="en-US" sz="1100" i="1" dirty="0">
                <a:solidFill>
                  <a:srgbClr val="8EAFC2"/>
                </a:solidFill>
                <a:latin typeface="Calibri" pitchFamily="34" charset="0"/>
                <a:ea typeface="Calibri" pitchFamily="34" charset="-122"/>
                <a:cs typeface="Calibri" pitchFamily="34" charset="-120"/>
              </a:rPr>
              <a:t>Formule de circularité :  C = (4π × A) / P²</a:t>
            </a:r>
            <a:endParaRPr lang="en-US" sz="1100" dirty="0"/>
          </a:p>
        </p:txBody>
      </p:sp>
      <p:pic>
        <p:nvPicPr>
          <p:cNvPr id="2052" name="Picture 4" descr="492,871 Detection Royalty-Free Images, Stock Photos &amp; Pictures |  Shutterstock">
            <a:extLst>
              <a:ext uri="{FF2B5EF4-FFF2-40B4-BE49-F238E27FC236}">
                <a16:creationId xmlns:a16="http://schemas.microsoft.com/office/drawing/2014/main" id="{F16B1745-6E6A-5B47-C6F9-727C09CAB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343" y="2322576"/>
            <a:ext cx="1261304" cy="78200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isualize, IT, Information Technology Conceptual Word Cloud For For Design  Wallpaper, Texture Or Background Stock Photo, Picture and Royalty Free  Image. Image 97308541.">
            <a:extLst>
              <a:ext uri="{FF2B5EF4-FFF2-40B4-BE49-F238E27FC236}">
                <a16:creationId xmlns:a16="http://schemas.microsoft.com/office/drawing/2014/main" id="{77B160C2-596F-58F4-A24A-3ACCC44B30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7832" y="2409986"/>
            <a:ext cx="843415" cy="56181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ICO Score: How It Works &amp; What It's Used For">
            <a:extLst>
              <a:ext uri="{FF2B5EF4-FFF2-40B4-BE49-F238E27FC236}">
                <a16:creationId xmlns:a16="http://schemas.microsoft.com/office/drawing/2014/main" id="{6C68BB7D-BEAD-8F97-C678-8E61C5B327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3846" y="2409986"/>
            <a:ext cx="998781" cy="56181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Ruban à mesurer, métrique/impérial Lufkin, 1,2'' x 25' (8 m) CS8525CME |  RONA">
            <a:extLst>
              <a:ext uri="{FF2B5EF4-FFF2-40B4-BE49-F238E27FC236}">
                <a16:creationId xmlns:a16="http://schemas.microsoft.com/office/drawing/2014/main" id="{2A721D33-1398-F852-D5F6-C2381C5B0A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7896" y="2326929"/>
            <a:ext cx="727928" cy="727928"/>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Une alternative à SMART pour la priorisation des objectifs - Formation et  coaching en performance d'entreprise">
            <a:extLst>
              <a:ext uri="{FF2B5EF4-FFF2-40B4-BE49-F238E27FC236}">
                <a16:creationId xmlns:a16="http://schemas.microsoft.com/office/drawing/2014/main" id="{4568255E-D974-4400-0C89-2C39C00988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4583" y="944446"/>
            <a:ext cx="1985553" cy="454586"/>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Folded Corner 27">
            <a:extLst>
              <a:ext uri="{FF2B5EF4-FFF2-40B4-BE49-F238E27FC236}">
                <a16:creationId xmlns:a16="http://schemas.microsoft.com/office/drawing/2014/main" id="{4FC63C14-4315-1908-9F87-DE25A233B346}"/>
              </a:ext>
            </a:extLst>
          </p:cNvPr>
          <p:cNvSpPr/>
          <p:nvPr/>
        </p:nvSpPr>
        <p:spPr>
          <a:xfrm>
            <a:off x="8817424" y="85160"/>
            <a:ext cx="326576" cy="501446"/>
          </a:xfrm>
          <a:prstGeom prst="foldedCorne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26977"/>
            <a:ext cx="9144000" cy="73152"/>
          </a:xfrm>
          <a:prstGeom prst="rect">
            <a:avLst/>
          </a:prstGeom>
          <a:solidFill>
            <a:schemeClr val="bg1"/>
          </a:solidFill>
          <a:ln/>
        </p:spPr>
        <p:txBody>
          <a:bodyPr/>
          <a:lstStyle/>
          <a:p>
            <a:endParaRPr lang="fr-CA"/>
          </a:p>
        </p:txBody>
      </p:sp>
      <p:sp>
        <p:nvSpPr>
          <p:cNvPr id="3" name="Text 1"/>
          <p:cNvSpPr/>
          <p:nvPr/>
        </p:nvSpPr>
        <p:spPr>
          <a:xfrm>
            <a:off x="457200" y="182880"/>
            <a:ext cx="8229600" cy="548640"/>
          </a:xfrm>
          <a:prstGeom prst="rect">
            <a:avLst/>
          </a:prstGeom>
          <a:noFill/>
          <a:ln/>
        </p:spPr>
        <p:txBody>
          <a:bodyPr wrap="square" rtlCol="0" anchor="ctr"/>
          <a:lstStyle/>
          <a:p>
            <a:r>
              <a:rPr lang="en-US" sz="2800" b="1" dirty="0">
                <a:solidFill>
                  <a:srgbClr val="FFFFFF"/>
                </a:solidFill>
                <a:latin typeface="Trebuchet MS" pitchFamily="34" charset="0"/>
                <a:ea typeface="Trebuchet MS" pitchFamily="34" charset="-122"/>
                <a:cs typeface="Trebuchet MS" pitchFamily="34" charset="-120"/>
              </a:rPr>
              <a:t>03  · </a:t>
            </a:r>
            <a:r>
              <a:rPr lang="en-US" sz="2800" b="1" dirty="0" err="1">
                <a:solidFill>
                  <a:srgbClr val="FFFFFF"/>
                </a:solidFill>
                <a:latin typeface="Trebuchet MS" pitchFamily="34" charset="0"/>
                <a:ea typeface="Trebuchet MS" pitchFamily="34" charset="-122"/>
                <a:cs typeface="Trebuchet MS" pitchFamily="34" charset="-120"/>
              </a:rPr>
              <a:t>Besoins</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err="1">
                <a:solidFill>
                  <a:srgbClr val="FFFFFF"/>
                </a:solidFill>
                <a:latin typeface="Trebuchet MS" pitchFamily="34" charset="0"/>
                <a:ea typeface="Trebuchet MS" pitchFamily="34" charset="-122"/>
                <a:cs typeface="Trebuchet MS" pitchFamily="34" charset="-120"/>
              </a:rPr>
              <a:t>fonctionnels</a:t>
            </a:r>
            <a:endParaRPr lang="en-US" sz="2800" dirty="0"/>
          </a:p>
        </p:txBody>
      </p:sp>
      <p:sp>
        <p:nvSpPr>
          <p:cNvPr id="4" name="Shape 2"/>
          <p:cNvSpPr/>
          <p:nvPr/>
        </p:nvSpPr>
        <p:spPr>
          <a:xfrm>
            <a:off x="3497580" y="2309106"/>
            <a:ext cx="2148840" cy="617383"/>
          </a:xfrm>
          <a:prstGeom prst="rect">
            <a:avLst/>
          </a:prstGeom>
          <a:solidFill>
            <a:srgbClr val="00B4D8">
              <a:alpha val="90000"/>
            </a:srgbClr>
          </a:solidFill>
          <a:ln/>
          <a:effectLst>
            <a:outerShdw blurRad="101600" dist="38100" dir="8100000" algn="bl" rotWithShape="0">
              <a:srgbClr val="000000">
                <a:alpha val="25000"/>
              </a:srgbClr>
            </a:outerShdw>
          </a:effectLst>
        </p:spPr>
        <p:txBody>
          <a:bodyPr/>
          <a:lstStyle/>
          <a:p>
            <a:endParaRPr lang="fr-CA"/>
          </a:p>
        </p:txBody>
      </p:sp>
      <p:sp>
        <p:nvSpPr>
          <p:cNvPr id="5" name="Text 3"/>
          <p:cNvSpPr/>
          <p:nvPr/>
        </p:nvSpPr>
        <p:spPr>
          <a:xfrm>
            <a:off x="3355848" y="2304288"/>
            <a:ext cx="228600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SYSTÈME IA</a:t>
            </a:r>
            <a:endParaRPr lang="en-US" sz="1100" dirty="0"/>
          </a:p>
        </p:txBody>
      </p:sp>
      <p:sp>
        <p:nvSpPr>
          <p:cNvPr id="6" name="Text 4"/>
          <p:cNvSpPr/>
          <p:nvPr/>
        </p:nvSpPr>
        <p:spPr>
          <a:xfrm>
            <a:off x="3442716" y="2482596"/>
            <a:ext cx="2286000" cy="320040"/>
          </a:xfrm>
          <a:prstGeom prst="rect">
            <a:avLst/>
          </a:prstGeom>
          <a:noFill/>
          <a:ln/>
        </p:spPr>
        <p:txBody>
          <a:bodyPr wrap="square" rtlCol="0" anchor="ctr"/>
          <a:lstStyle/>
          <a:p>
            <a:pPr marL="0" indent="0" algn="ctr">
              <a:buNone/>
            </a:pPr>
            <a:endParaRPr lang="en-US" sz="1000" i="1" dirty="0">
              <a:solidFill>
                <a:srgbClr val="90E0EF"/>
              </a:solidFill>
              <a:latin typeface="Calibri" pitchFamily="34" charset="0"/>
              <a:ea typeface="Calibri" pitchFamily="34" charset="-122"/>
              <a:cs typeface="Calibri" pitchFamily="34" charset="-120"/>
            </a:endParaRPr>
          </a:p>
          <a:p>
            <a:pPr marL="0" indent="0" algn="ctr">
              <a:buNone/>
            </a:pPr>
            <a:r>
              <a:rPr lang="en-US" sz="1000" b="1" i="1" dirty="0">
                <a:solidFill>
                  <a:srgbClr val="90E0EF"/>
                </a:solidFill>
                <a:latin typeface="Calibri" pitchFamily="34" charset="0"/>
                <a:ea typeface="Calibri" pitchFamily="34" charset="-122"/>
                <a:cs typeface="Calibri" pitchFamily="34" charset="-120"/>
              </a:rPr>
              <a:t>YOLOv8-seg</a:t>
            </a:r>
            <a:endParaRPr lang="en-US" sz="1000" b="1" dirty="0"/>
          </a:p>
        </p:txBody>
      </p:sp>
      <p:sp>
        <p:nvSpPr>
          <p:cNvPr id="9" name="Shape 7"/>
          <p:cNvSpPr/>
          <p:nvPr/>
        </p:nvSpPr>
        <p:spPr>
          <a:xfrm>
            <a:off x="274320" y="91440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0" name="Shape 8"/>
          <p:cNvSpPr/>
          <p:nvPr/>
        </p:nvSpPr>
        <p:spPr>
          <a:xfrm>
            <a:off x="274320" y="914400"/>
            <a:ext cx="2148840" cy="64008"/>
          </a:xfrm>
          <a:prstGeom prst="rect">
            <a:avLst/>
          </a:prstGeom>
          <a:solidFill>
            <a:srgbClr val="00B4D8"/>
          </a:solidFill>
          <a:ln/>
        </p:spPr>
        <p:txBody>
          <a:bodyPr/>
          <a:lstStyle/>
          <a:p>
            <a:endParaRPr lang="fr-CA"/>
          </a:p>
        </p:txBody>
      </p:sp>
      <p:sp>
        <p:nvSpPr>
          <p:cNvPr id="11" name="Text 9"/>
          <p:cNvSpPr/>
          <p:nvPr/>
        </p:nvSpPr>
        <p:spPr>
          <a:xfrm>
            <a:off x="384048" y="1005840"/>
            <a:ext cx="1920240" cy="274320"/>
          </a:xfrm>
          <a:prstGeom prst="rect">
            <a:avLst/>
          </a:prstGeom>
          <a:noFill/>
          <a:ln/>
        </p:spPr>
        <p:txBody>
          <a:bodyPr wrap="square"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  EF1</a:t>
            </a:r>
            <a:endParaRPr lang="en-US" sz="900" dirty="0"/>
          </a:p>
        </p:txBody>
      </p:sp>
      <p:sp>
        <p:nvSpPr>
          <p:cNvPr id="12" name="Text 10"/>
          <p:cNvSpPr/>
          <p:nvPr/>
        </p:nvSpPr>
        <p:spPr>
          <a:xfrm>
            <a:off x="384048" y="128016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Entrée image</a:t>
            </a:r>
            <a:endParaRPr lang="en-US" sz="1100" dirty="0"/>
          </a:p>
        </p:txBody>
      </p:sp>
      <p:sp>
        <p:nvSpPr>
          <p:cNvPr id="13" name="Text 11"/>
          <p:cNvSpPr/>
          <p:nvPr/>
        </p:nvSpPr>
        <p:spPr>
          <a:xfrm>
            <a:off x="384048" y="157276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Accepter une image de peau en entrée (JPG, PNG)</a:t>
            </a:r>
            <a:endParaRPr lang="en-US" sz="950" dirty="0"/>
          </a:p>
        </p:txBody>
      </p:sp>
      <p:sp>
        <p:nvSpPr>
          <p:cNvPr id="14" name="Shape 12"/>
          <p:cNvSpPr/>
          <p:nvPr/>
        </p:nvSpPr>
        <p:spPr>
          <a:xfrm>
            <a:off x="3429000" y="91440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5" name="Shape 13"/>
          <p:cNvSpPr/>
          <p:nvPr/>
        </p:nvSpPr>
        <p:spPr>
          <a:xfrm>
            <a:off x="3429000" y="914400"/>
            <a:ext cx="2148840" cy="64008"/>
          </a:xfrm>
          <a:prstGeom prst="rect">
            <a:avLst/>
          </a:prstGeom>
          <a:solidFill>
            <a:srgbClr val="06D6A0"/>
          </a:solidFill>
          <a:ln/>
        </p:spPr>
        <p:txBody>
          <a:bodyPr/>
          <a:lstStyle/>
          <a:p>
            <a:endParaRPr lang="fr-CA"/>
          </a:p>
        </p:txBody>
      </p:sp>
      <p:sp>
        <p:nvSpPr>
          <p:cNvPr id="16" name="Text 14"/>
          <p:cNvSpPr/>
          <p:nvPr/>
        </p:nvSpPr>
        <p:spPr>
          <a:xfrm>
            <a:off x="3538728" y="1005840"/>
            <a:ext cx="1920240" cy="274320"/>
          </a:xfrm>
          <a:prstGeom prst="rect">
            <a:avLst/>
          </a:prstGeom>
          <a:noFill/>
          <a:ln/>
        </p:spPr>
        <p:txBody>
          <a:bodyPr wrap="square" rtlCol="0" anchor="ctr"/>
          <a:lstStyle/>
          <a:p>
            <a:pPr marL="0" indent="0">
              <a:buNone/>
            </a:pPr>
            <a:r>
              <a:rPr lang="en-US" sz="900" b="1" dirty="0">
                <a:solidFill>
                  <a:srgbClr val="06D6A0"/>
                </a:solidFill>
                <a:latin typeface="Calibri" pitchFamily="34" charset="0"/>
                <a:ea typeface="Calibri" pitchFamily="34" charset="-122"/>
                <a:cs typeface="Calibri" pitchFamily="34" charset="-120"/>
              </a:rPr>
              <a:t>🎯  EF2</a:t>
            </a:r>
            <a:endParaRPr lang="en-US" sz="900" dirty="0"/>
          </a:p>
        </p:txBody>
      </p:sp>
      <p:sp>
        <p:nvSpPr>
          <p:cNvPr id="17" name="Text 15"/>
          <p:cNvSpPr/>
          <p:nvPr/>
        </p:nvSpPr>
        <p:spPr>
          <a:xfrm>
            <a:off x="3538728" y="128016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Détection &amp; Segmentation</a:t>
            </a:r>
            <a:endParaRPr lang="en-US" sz="1100" dirty="0"/>
          </a:p>
        </p:txBody>
      </p:sp>
      <p:sp>
        <p:nvSpPr>
          <p:cNvPr id="18" name="Text 16"/>
          <p:cNvSpPr/>
          <p:nvPr/>
        </p:nvSpPr>
        <p:spPr>
          <a:xfrm>
            <a:off x="3538728" y="157276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Détecter la lésion et générer un masque précis</a:t>
            </a:r>
            <a:endParaRPr lang="en-US" sz="950" dirty="0"/>
          </a:p>
        </p:txBody>
      </p:sp>
      <p:sp>
        <p:nvSpPr>
          <p:cNvPr id="19" name="Shape 17"/>
          <p:cNvSpPr/>
          <p:nvPr/>
        </p:nvSpPr>
        <p:spPr>
          <a:xfrm>
            <a:off x="6583680" y="91440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0" name="Shape 18"/>
          <p:cNvSpPr/>
          <p:nvPr/>
        </p:nvSpPr>
        <p:spPr>
          <a:xfrm>
            <a:off x="6583680" y="914400"/>
            <a:ext cx="2148840" cy="64008"/>
          </a:xfrm>
          <a:prstGeom prst="rect">
            <a:avLst/>
          </a:prstGeom>
          <a:solidFill>
            <a:srgbClr val="FFB703"/>
          </a:solidFill>
          <a:ln/>
        </p:spPr>
        <p:txBody>
          <a:bodyPr/>
          <a:lstStyle/>
          <a:p>
            <a:endParaRPr lang="fr-CA"/>
          </a:p>
        </p:txBody>
      </p:sp>
      <p:sp>
        <p:nvSpPr>
          <p:cNvPr id="21" name="Text 19"/>
          <p:cNvSpPr/>
          <p:nvPr/>
        </p:nvSpPr>
        <p:spPr>
          <a:xfrm>
            <a:off x="6693408" y="1005840"/>
            <a:ext cx="1920240" cy="274320"/>
          </a:xfrm>
          <a:prstGeom prst="rect">
            <a:avLst/>
          </a:prstGeom>
          <a:noFill/>
          <a:ln/>
        </p:spPr>
        <p:txBody>
          <a:bodyPr wrap="square" rtlCol="0" anchor="ctr"/>
          <a:lstStyle/>
          <a:p>
            <a:pPr marL="0" indent="0">
              <a:buNone/>
            </a:pPr>
            <a:r>
              <a:rPr lang="en-US" sz="900" b="1" dirty="0">
                <a:solidFill>
                  <a:srgbClr val="FFB703"/>
                </a:solidFill>
                <a:latin typeface="Calibri" pitchFamily="34" charset="0"/>
                <a:ea typeface="Calibri" pitchFamily="34" charset="-122"/>
                <a:cs typeface="Calibri" pitchFamily="34" charset="-120"/>
              </a:rPr>
              <a:t>🗺️  EF3</a:t>
            </a:r>
            <a:endParaRPr lang="en-US" sz="900" dirty="0"/>
          </a:p>
        </p:txBody>
      </p:sp>
      <p:sp>
        <p:nvSpPr>
          <p:cNvPr id="22" name="Text 20"/>
          <p:cNvSpPr/>
          <p:nvPr/>
        </p:nvSpPr>
        <p:spPr>
          <a:xfrm>
            <a:off x="6693408" y="128016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Masque de segmentation</a:t>
            </a:r>
            <a:endParaRPr lang="en-US" sz="1100" dirty="0"/>
          </a:p>
        </p:txBody>
      </p:sp>
      <p:sp>
        <p:nvSpPr>
          <p:cNvPr id="23" name="Text 21"/>
          <p:cNvSpPr/>
          <p:nvPr/>
        </p:nvSpPr>
        <p:spPr>
          <a:xfrm>
            <a:off x="6693408" y="157276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Produire un masque binaire isolant la lésion</a:t>
            </a:r>
            <a:endParaRPr lang="en-US" sz="950" dirty="0"/>
          </a:p>
        </p:txBody>
      </p:sp>
      <p:sp>
        <p:nvSpPr>
          <p:cNvPr id="24" name="Shape 22"/>
          <p:cNvSpPr/>
          <p:nvPr/>
        </p:nvSpPr>
        <p:spPr>
          <a:xfrm>
            <a:off x="274320" y="324612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5" name="Shape 23"/>
          <p:cNvSpPr/>
          <p:nvPr/>
        </p:nvSpPr>
        <p:spPr>
          <a:xfrm>
            <a:off x="274320" y="3246120"/>
            <a:ext cx="2148840" cy="64008"/>
          </a:xfrm>
          <a:prstGeom prst="rect">
            <a:avLst/>
          </a:prstGeom>
          <a:solidFill>
            <a:srgbClr val="00B4D8"/>
          </a:solidFill>
          <a:ln/>
        </p:spPr>
        <p:txBody>
          <a:bodyPr/>
          <a:lstStyle/>
          <a:p>
            <a:endParaRPr lang="fr-CA"/>
          </a:p>
        </p:txBody>
      </p:sp>
      <p:sp>
        <p:nvSpPr>
          <p:cNvPr id="26" name="Text 24"/>
          <p:cNvSpPr/>
          <p:nvPr/>
        </p:nvSpPr>
        <p:spPr>
          <a:xfrm>
            <a:off x="384048" y="3337560"/>
            <a:ext cx="1920240" cy="274320"/>
          </a:xfrm>
          <a:prstGeom prst="rect">
            <a:avLst/>
          </a:prstGeom>
          <a:noFill/>
          <a:ln/>
        </p:spPr>
        <p:txBody>
          <a:bodyPr wrap="square"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  EF4</a:t>
            </a:r>
            <a:endParaRPr lang="en-US" sz="900" dirty="0"/>
          </a:p>
        </p:txBody>
      </p:sp>
      <p:sp>
        <p:nvSpPr>
          <p:cNvPr id="27" name="Text 25"/>
          <p:cNvSpPr/>
          <p:nvPr/>
        </p:nvSpPr>
        <p:spPr>
          <a:xfrm>
            <a:off x="384048" y="361188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Aire &amp; Périmètre</a:t>
            </a:r>
            <a:endParaRPr lang="en-US" sz="1100" dirty="0"/>
          </a:p>
        </p:txBody>
      </p:sp>
      <p:sp>
        <p:nvSpPr>
          <p:cNvPr id="28" name="Text 26"/>
          <p:cNvSpPr/>
          <p:nvPr/>
        </p:nvSpPr>
        <p:spPr>
          <a:xfrm>
            <a:off x="384048" y="390448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Calculer surface (px) et périmètre du contour</a:t>
            </a:r>
            <a:endParaRPr lang="en-US" sz="950" dirty="0"/>
          </a:p>
        </p:txBody>
      </p:sp>
      <p:sp>
        <p:nvSpPr>
          <p:cNvPr id="29" name="Shape 27"/>
          <p:cNvSpPr/>
          <p:nvPr/>
        </p:nvSpPr>
        <p:spPr>
          <a:xfrm>
            <a:off x="3429000" y="324612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30" name="Shape 28"/>
          <p:cNvSpPr/>
          <p:nvPr/>
        </p:nvSpPr>
        <p:spPr>
          <a:xfrm>
            <a:off x="3429000" y="3246120"/>
            <a:ext cx="2148840" cy="64008"/>
          </a:xfrm>
          <a:prstGeom prst="rect">
            <a:avLst/>
          </a:prstGeom>
          <a:solidFill>
            <a:srgbClr val="FFB703"/>
          </a:solidFill>
          <a:ln/>
        </p:spPr>
        <p:txBody>
          <a:bodyPr/>
          <a:lstStyle/>
          <a:p>
            <a:endParaRPr lang="fr-CA"/>
          </a:p>
        </p:txBody>
      </p:sp>
      <p:sp>
        <p:nvSpPr>
          <p:cNvPr id="31" name="Text 29"/>
          <p:cNvSpPr/>
          <p:nvPr/>
        </p:nvSpPr>
        <p:spPr>
          <a:xfrm>
            <a:off x="3538728" y="3337560"/>
            <a:ext cx="1920240" cy="274320"/>
          </a:xfrm>
          <a:prstGeom prst="rect">
            <a:avLst/>
          </a:prstGeom>
          <a:noFill/>
          <a:ln/>
        </p:spPr>
        <p:txBody>
          <a:bodyPr wrap="square" rtlCol="0" anchor="ctr"/>
          <a:lstStyle/>
          <a:p>
            <a:pPr marL="0" indent="0">
              <a:buNone/>
            </a:pPr>
            <a:r>
              <a:rPr lang="en-US" sz="900" b="1" dirty="0">
                <a:solidFill>
                  <a:srgbClr val="FFB703"/>
                </a:solidFill>
                <a:latin typeface="Calibri" pitchFamily="34" charset="0"/>
                <a:ea typeface="Calibri" pitchFamily="34" charset="-122"/>
                <a:cs typeface="Calibri" pitchFamily="34" charset="-120"/>
              </a:rPr>
              <a:t>🔵  EF5</a:t>
            </a:r>
            <a:endParaRPr lang="en-US" sz="900" dirty="0"/>
          </a:p>
        </p:txBody>
      </p:sp>
      <p:sp>
        <p:nvSpPr>
          <p:cNvPr id="32" name="Text 30"/>
          <p:cNvSpPr/>
          <p:nvPr/>
        </p:nvSpPr>
        <p:spPr>
          <a:xfrm>
            <a:off x="3538728" y="361188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Circularité</a:t>
            </a:r>
            <a:endParaRPr lang="en-US" sz="1100" dirty="0"/>
          </a:p>
        </p:txBody>
      </p:sp>
      <p:sp>
        <p:nvSpPr>
          <p:cNvPr id="33" name="Text 31"/>
          <p:cNvSpPr/>
          <p:nvPr/>
        </p:nvSpPr>
        <p:spPr>
          <a:xfrm>
            <a:off x="3538728" y="390448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Calculer C = (4π×A) / P² pour </a:t>
            </a:r>
            <a:r>
              <a:rPr lang="en-US" sz="950" dirty="0" err="1">
                <a:solidFill>
                  <a:srgbClr val="8EAFC2"/>
                </a:solidFill>
                <a:latin typeface="Calibri" pitchFamily="34" charset="0"/>
                <a:ea typeface="Calibri" pitchFamily="34" charset="-122"/>
                <a:cs typeface="Calibri" pitchFamily="34" charset="-120"/>
              </a:rPr>
              <a:t>mesurer</a:t>
            </a:r>
            <a:r>
              <a:rPr lang="en-US" sz="950" dirty="0">
                <a:solidFill>
                  <a:srgbClr val="8EAFC2"/>
                </a:solidFill>
                <a:latin typeface="Calibri" pitchFamily="34" charset="0"/>
                <a:ea typeface="Calibri" pitchFamily="34" charset="-122"/>
                <a:cs typeface="Calibri" pitchFamily="34" charset="-120"/>
              </a:rPr>
              <a:t> </a:t>
            </a:r>
            <a:r>
              <a:rPr lang="en-US" sz="950" dirty="0" err="1">
                <a:solidFill>
                  <a:srgbClr val="8EAFC2"/>
                </a:solidFill>
                <a:latin typeface="Calibri" pitchFamily="34" charset="0"/>
                <a:ea typeface="Calibri" pitchFamily="34" charset="-122"/>
                <a:cs typeface="Calibri" pitchFamily="34" charset="-120"/>
              </a:rPr>
              <a:t>l'irrégularité</a:t>
            </a:r>
            <a:endParaRPr lang="en-US" sz="950" dirty="0"/>
          </a:p>
        </p:txBody>
      </p:sp>
      <p:sp>
        <p:nvSpPr>
          <p:cNvPr id="34" name="Shape 32"/>
          <p:cNvSpPr/>
          <p:nvPr/>
        </p:nvSpPr>
        <p:spPr>
          <a:xfrm>
            <a:off x="6583680" y="324612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35" name="Shape 33"/>
          <p:cNvSpPr/>
          <p:nvPr/>
        </p:nvSpPr>
        <p:spPr>
          <a:xfrm>
            <a:off x="6583680" y="3246120"/>
            <a:ext cx="2148840" cy="64008"/>
          </a:xfrm>
          <a:prstGeom prst="rect">
            <a:avLst/>
          </a:prstGeom>
          <a:solidFill>
            <a:srgbClr val="EF476F"/>
          </a:solidFill>
          <a:ln/>
        </p:spPr>
        <p:txBody>
          <a:bodyPr/>
          <a:lstStyle/>
          <a:p>
            <a:endParaRPr lang="fr-CA"/>
          </a:p>
        </p:txBody>
      </p:sp>
      <p:sp>
        <p:nvSpPr>
          <p:cNvPr id="36" name="Text 34"/>
          <p:cNvSpPr/>
          <p:nvPr/>
        </p:nvSpPr>
        <p:spPr>
          <a:xfrm>
            <a:off x="6693408" y="3337560"/>
            <a:ext cx="1920240" cy="274320"/>
          </a:xfrm>
          <a:prstGeom prst="rect">
            <a:avLst/>
          </a:prstGeom>
          <a:noFill/>
          <a:ln/>
        </p:spPr>
        <p:txBody>
          <a:bodyPr wrap="square" rtlCol="0" anchor="ctr"/>
          <a:lstStyle/>
          <a:p>
            <a:pPr marL="0" indent="0">
              <a:buNone/>
            </a:pPr>
            <a:r>
              <a:rPr lang="en-US" sz="900" b="1" dirty="0">
                <a:solidFill>
                  <a:srgbClr val="EF476F"/>
                </a:solidFill>
                <a:latin typeface="Calibri" pitchFamily="34" charset="0"/>
                <a:ea typeface="Calibri" pitchFamily="34" charset="-122"/>
                <a:cs typeface="Calibri" pitchFamily="34" charset="-120"/>
              </a:rPr>
              <a:t>📊  EF6</a:t>
            </a:r>
            <a:endParaRPr lang="en-US" sz="900" dirty="0"/>
          </a:p>
        </p:txBody>
      </p:sp>
      <p:sp>
        <p:nvSpPr>
          <p:cNvPr id="37" name="Text 35"/>
          <p:cNvSpPr/>
          <p:nvPr/>
        </p:nvSpPr>
        <p:spPr>
          <a:xfrm>
            <a:off x="6693408" y="361188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Score &amp; Affichage</a:t>
            </a:r>
            <a:endParaRPr lang="en-US" sz="1100" dirty="0"/>
          </a:p>
        </p:txBody>
      </p:sp>
      <p:sp>
        <p:nvSpPr>
          <p:cNvPr id="38" name="Text 36"/>
          <p:cNvSpPr/>
          <p:nvPr/>
        </p:nvSpPr>
        <p:spPr>
          <a:xfrm>
            <a:off x="6693408" y="390448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Générer un score final et afficher image + métriques</a:t>
            </a:r>
            <a:endParaRPr lang="en-US" sz="950" dirty="0"/>
          </a:p>
        </p:txBody>
      </p:sp>
      <p:sp>
        <p:nvSpPr>
          <p:cNvPr id="39" name="Text 37"/>
          <p:cNvSpPr/>
          <p:nvPr/>
        </p:nvSpPr>
        <p:spPr>
          <a:xfrm>
            <a:off x="274320" y="4709160"/>
            <a:ext cx="8595360" cy="274320"/>
          </a:xfrm>
          <a:prstGeom prst="rect">
            <a:avLst/>
          </a:prstGeom>
          <a:noFill/>
          <a:ln/>
          <a:scene3d>
            <a:camera prst="orthographicFront"/>
            <a:lightRig rig="threePt" dir="t"/>
          </a:scene3d>
          <a:sp3d>
            <a:bevelT w="152400" h="50800" prst="softRound"/>
          </a:sp3d>
        </p:spPr>
        <p:txBody>
          <a:bodyPr wrap="square" rtlCol="0" anchor="ctr"/>
          <a:lstStyle/>
          <a:p>
            <a:pPr marL="0" indent="0" algn="ctr">
              <a:buNone/>
            </a:pPr>
            <a:r>
              <a:rPr lang="en-US" b="1" i="1" dirty="0">
                <a:solidFill>
                  <a:schemeClr val="tx2">
                    <a:lumMod val="20000"/>
                    <a:lumOff val="80000"/>
                  </a:schemeClr>
                </a:solidFill>
                <a:latin typeface="Calibri" pitchFamily="34" charset="0"/>
                <a:ea typeface="Calibri" pitchFamily="34" charset="-122"/>
                <a:cs typeface="Calibri" pitchFamily="34" charset="-120"/>
              </a:rPr>
              <a:t>Flux de traitement : EF1 → EF2 → EF3 → EF4 → EF5 → EF6</a:t>
            </a:r>
            <a:endParaRPr lang="en-US" b="1" dirty="0">
              <a:solidFill>
                <a:schemeClr val="tx2">
                  <a:lumMod val="20000"/>
                  <a:lumOff val="80000"/>
                </a:schemeClr>
              </a:solidFill>
            </a:endParaRPr>
          </a:p>
        </p:txBody>
      </p:sp>
      <p:pic>
        <p:nvPicPr>
          <p:cNvPr id="44" name="Picture 43">
            <a:extLst>
              <a:ext uri="{FF2B5EF4-FFF2-40B4-BE49-F238E27FC236}">
                <a16:creationId xmlns:a16="http://schemas.microsoft.com/office/drawing/2014/main" id="{608210FC-F63E-D4CA-5DDB-AC885E09E248}"/>
              </a:ext>
            </a:extLst>
          </p:cNvPr>
          <p:cNvPicPr>
            <a:picLocks noChangeAspect="1"/>
          </p:cNvPicPr>
          <p:nvPr/>
        </p:nvPicPr>
        <p:blipFill>
          <a:blip r:embed="rId3"/>
          <a:stretch>
            <a:fillRect/>
          </a:stretch>
        </p:blipFill>
        <p:spPr>
          <a:xfrm>
            <a:off x="1837944" y="2275141"/>
            <a:ext cx="1563624" cy="879539"/>
          </a:xfrm>
          <a:prstGeom prst="rect">
            <a:avLst/>
          </a:prstGeom>
        </p:spPr>
      </p:pic>
      <p:pic>
        <p:nvPicPr>
          <p:cNvPr id="47" name="Picture 46">
            <a:extLst>
              <a:ext uri="{FF2B5EF4-FFF2-40B4-BE49-F238E27FC236}">
                <a16:creationId xmlns:a16="http://schemas.microsoft.com/office/drawing/2014/main" id="{398914BF-FD1B-7F32-AF34-52AC7A5874D8}"/>
              </a:ext>
            </a:extLst>
          </p:cNvPr>
          <p:cNvPicPr>
            <a:picLocks noChangeAspect="1"/>
          </p:cNvPicPr>
          <p:nvPr/>
        </p:nvPicPr>
        <p:blipFill>
          <a:blip r:embed="rId4"/>
          <a:stretch>
            <a:fillRect/>
          </a:stretch>
        </p:blipFill>
        <p:spPr>
          <a:xfrm>
            <a:off x="5769864" y="2238279"/>
            <a:ext cx="1271016" cy="953262"/>
          </a:xfrm>
          <a:prstGeom prst="rect">
            <a:avLst/>
          </a:prstGeom>
        </p:spPr>
      </p:pic>
      <p:sp>
        <p:nvSpPr>
          <p:cNvPr id="51" name="Rectangle: Folded Corner 50">
            <a:extLst>
              <a:ext uri="{FF2B5EF4-FFF2-40B4-BE49-F238E27FC236}">
                <a16:creationId xmlns:a16="http://schemas.microsoft.com/office/drawing/2014/main" id="{CC4F469B-5C24-ABEB-AD7D-03D30E9F1906}"/>
              </a:ext>
            </a:extLst>
          </p:cNvPr>
          <p:cNvSpPr/>
          <p:nvPr/>
        </p:nvSpPr>
        <p:spPr>
          <a:xfrm>
            <a:off x="8817424" y="8516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 name="Shape 1">
            <a:extLst>
              <a:ext uri="{FF2B5EF4-FFF2-40B4-BE49-F238E27FC236}">
                <a16:creationId xmlns:a16="http://schemas.microsoft.com/office/drawing/2014/main" id="{B9BF008C-B9FE-1802-D4EB-5AB38033A6AE}"/>
              </a:ext>
            </a:extLst>
          </p:cNvPr>
          <p:cNvSpPr/>
          <p:nvPr/>
        </p:nvSpPr>
        <p:spPr>
          <a:xfrm>
            <a:off x="0" y="708660"/>
            <a:ext cx="9144000" cy="54864"/>
          </a:xfrm>
          <a:prstGeom prst="rect">
            <a:avLst/>
          </a:prstGeom>
          <a:solidFill>
            <a:srgbClr val="F59E0B"/>
          </a:solidFill>
          <a:ln w="12700">
            <a:solidFill>
              <a:srgbClr val="F59E0B"/>
            </a:solidFill>
            <a:prstDash val="solid"/>
          </a:ln>
        </p:spPr>
        <p:txBody>
          <a:bodyPr/>
          <a:lstStyle/>
          <a:p>
            <a:endParaRPr lang="fr-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B3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76F"/>
          </a:solidFill>
          <a:ln/>
        </p:spPr>
        <p:txBody>
          <a:bodyPr/>
          <a:lstStyle/>
          <a:p>
            <a:endParaRPr lang="fr-CA"/>
          </a:p>
        </p:txBody>
      </p:sp>
      <p:sp>
        <p:nvSpPr>
          <p:cNvPr id="3" name="Text 1"/>
          <p:cNvSpPr/>
          <p:nvPr/>
        </p:nvSpPr>
        <p:spPr>
          <a:xfrm>
            <a:off x="457200" y="182880"/>
            <a:ext cx="8229600" cy="548640"/>
          </a:xfrm>
          <a:prstGeom prst="rect">
            <a:avLst/>
          </a:prstGeom>
          <a:noFill/>
          <a:ln/>
        </p:spPr>
        <p:txBody>
          <a:bodyPr wrap="square" rtlCol="0" anchor="ctr"/>
          <a:lstStyle/>
          <a:p>
            <a:r>
              <a:rPr lang="en-US" sz="2400" b="1" dirty="0">
                <a:solidFill>
                  <a:srgbClr val="FFFFFF"/>
                </a:solidFill>
                <a:latin typeface="Trebuchet MS" pitchFamily="34" charset="0"/>
                <a:ea typeface="Trebuchet MS" pitchFamily="34" charset="-122"/>
                <a:cs typeface="Trebuchet MS" pitchFamily="34" charset="-120"/>
              </a:rPr>
              <a:t>04  · </a:t>
            </a:r>
            <a:r>
              <a:rPr lang="en-US" sz="2600" b="1" dirty="0" err="1">
                <a:solidFill>
                  <a:srgbClr val="FFFFFF"/>
                </a:solidFill>
                <a:latin typeface="Calibri" pitchFamily="34" charset="0"/>
                <a:ea typeface="Calibri" pitchFamily="34" charset="-122"/>
                <a:cs typeface="Calibri" pitchFamily="34" charset="-120"/>
              </a:rPr>
              <a:t>Besoins</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technologiques</a:t>
            </a:r>
            <a:endParaRPr lang="en-US" sz="2600" dirty="0"/>
          </a:p>
        </p:txBody>
      </p:sp>
      <p:sp>
        <p:nvSpPr>
          <p:cNvPr id="4" name="Shape 2"/>
          <p:cNvSpPr/>
          <p:nvPr/>
        </p:nvSpPr>
        <p:spPr>
          <a:xfrm>
            <a:off x="320040" y="91440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5" name="Shape 3"/>
          <p:cNvSpPr/>
          <p:nvPr/>
        </p:nvSpPr>
        <p:spPr>
          <a:xfrm>
            <a:off x="320040" y="914400"/>
            <a:ext cx="2697480" cy="64008"/>
          </a:xfrm>
          <a:prstGeom prst="rect">
            <a:avLst/>
          </a:prstGeom>
          <a:solidFill>
            <a:srgbClr val="00B4D8"/>
          </a:solidFill>
          <a:ln/>
        </p:spPr>
        <p:txBody>
          <a:bodyPr/>
          <a:lstStyle/>
          <a:p>
            <a:endParaRPr lang="fr-CA"/>
          </a:p>
        </p:txBody>
      </p:sp>
      <p:sp>
        <p:nvSpPr>
          <p:cNvPr id="6" name="Text 4"/>
          <p:cNvSpPr/>
          <p:nvPr/>
        </p:nvSpPr>
        <p:spPr>
          <a:xfrm>
            <a:off x="457200" y="1024128"/>
            <a:ext cx="1188720" cy="320040"/>
          </a:xfrm>
          <a:prstGeom prst="rect">
            <a:avLst/>
          </a:prstGeom>
          <a:noFill/>
          <a:ln/>
        </p:spPr>
        <p:txBody>
          <a:bodyPr wrap="square" rtlCol="0" anchor="ctr"/>
          <a:lstStyle/>
          <a:p>
            <a:pPr marL="0" indent="0">
              <a:buNone/>
            </a:pPr>
            <a:r>
              <a:rPr lang="en-US" sz="900" b="1" kern="0" spc="50" dirty="0">
                <a:solidFill>
                  <a:srgbClr val="00B4D8"/>
                </a:solidFill>
                <a:latin typeface="Calibri" pitchFamily="34" charset="0"/>
                <a:ea typeface="Calibri" pitchFamily="34" charset="-122"/>
                <a:cs typeface="Calibri" pitchFamily="34" charset="-120"/>
              </a:rPr>
              <a:t>⚡ ENF1</a:t>
            </a:r>
            <a:endParaRPr lang="en-US" sz="900" dirty="0"/>
          </a:p>
        </p:txBody>
      </p:sp>
      <p:sp>
        <p:nvSpPr>
          <p:cNvPr id="7" name="Text 5"/>
          <p:cNvSpPr/>
          <p:nvPr/>
        </p:nvSpPr>
        <p:spPr>
          <a:xfrm>
            <a:off x="457200" y="133502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Performance</a:t>
            </a:r>
            <a:endParaRPr lang="en-US" sz="1300" dirty="0"/>
          </a:p>
        </p:txBody>
      </p:sp>
      <p:sp>
        <p:nvSpPr>
          <p:cNvPr id="8" name="Text 6"/>
          <p:cNvSpPr/>
          <p:nvPr/>
        </p:nvSpPr>
        <p:spPr>
          <a:xfrm>
            <a:off x="457200" y="171907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&lt; 2s GPU  /  &lt; 10s CPU</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 10 images/min en batch</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&lt; 6 Go VRAM</a:t>
            </a:r>
            <a:endParaRPr lang="en-US" sz="1000" dirty="0"/>
          </a:p>
        </p:txBody>
      </p:sp>
      <p:sp>
        <p:nvSpPr>
          <p:cNvPr id="9" name="Shape 7"/>
          <p:cNvSpPr/>
          <p:nvPr/>
        </p:nvSpPr>
        <p:spPr>
          <a:xfrm>
            <a:off x="3200400" y="91440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0" name="Shape 8"/>
          <p:cNvSpPr/>
          <p:nvPr/>
        </p:nvSpPr>
        <p:spPr>
          <a:xfrm>
            <a:off x="3200400" y="914400"/>
            <a:ext cx="2697480" cy="64008"/>
          </a:xfrm>
          <a:prstGeom prst="rect">
            <a:avLst/>
          </a:prstGeom>
          <a:solidFill>
            <a:srgbClr val="06D6A0"/>
          </a:solidFill>
          <a:ln/>
        </p:spPr>
        <p:txBody>
          <a:bodyPr/>
          <a:lstStyle/>
          <a:p>
            <a:endParaRPr lang="fr-CA"/>
          </a:p>
        </p:txBody>
      </p:sp>
      <p:sp>
        <p:nvSpPr>
          <p:cNvPr id="11" name="Text 9"/>
          <p:cNvSpPr/>
          <p:nvPr/>
        </p:nvSpPr>
        <p:spPr>
          <a:xfrm>
            <a:off x="3337560" y="1024128"/>
            <a:ext cx="1188720" cy="320040"/>
          </a:xfrm>
          <a:prstGeom prst="rect">
            <a:avLst/>
          </a:prstGeom>
          <a:noFill/>
          <a:ln/>
        </p:spPr>
        <p:txBody>
          <a:bodyPr wrap="square" rtlCol="0" anchor="ctr"/>
          <a:lstStyle/>
          <a:p>
            <a:pPr marL="0" indent="0">
              <a:buNone/>
            </a:pPr>
            <a:r>
              <a:rPr lang="en-US" sz="900" b="1" kern="0" spc="50" dirty="0">
                <a:solidFill>
                  <a:srgbClr val="06D6A0"/>
                </a:solidFill>
                <a:latin typeface="Calibri" pitchFamily="34" charset="0"/>
                <a:ea typeface="Calibri" pitchFamily="34" charset="-122"/>
                <a:cs typeface="Calibri" pitchFamily="34" charset="-120"/>
              </a:rPr>
              <a:t>🎯 ENF2</a:t>
            </a:r>
            <a:endParaRPr lang="en-US" sz="900" dirty="0"/>
          </a:p>
        </p:txBody>
      </p:sp>
      <p:sp>
        <p:nvSpPr>
          <p:cNvPr id="12" name="Text 10"/>
          <p:cNvSpPr/>
          <p:nvPr/>
        </p:nvSpPr>
        <p:spPr>
          <a:xfrm>
            <a:off x="3337560" y="133502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Précision</a:t>
            </a:r>
            <a:endParaRPr lang="en-US" sz="1300" dirty="0"/>
          </a:p>
        </p:txBody>
      </p:sp>
      <p:sp>
        <p:nvSpPr>
          <p:cNvPr id="13" name="Text 11"/>
          <p:cNvSpPr/>
          <p:nvPr/>
        </p:nvSpPr>
        <p:spPr>
          <a:xfrm>
            <a:off x="3337560" y="171907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mAP50-95 ≥ 0.50</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IoU ≥ 0.70  |  Dice ≥ 0.80</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Variation mesures &lt; 5%</a:t>
            </a:r>
            <a:endParaRPr lang="en-US" sz="1000" dirty="0"/>
          </a:p>
        </p:txBody>
      </p:sp>
      <p:sp>
        <p:nvSpPr>
          <p:cNvPr id="14" name="Shape 12"/>
          <p:cNvSpPr/>
          <p:nvPr/>
        </p:nvSpPr>
        <p:spPr>
          <a:xfrm>
            <a:off x="6080760" y="91440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5" name="Shape 13"/>
          <p:cNvSpPr/>
          <p:nvPr/>
        </p:nvSpPr>
        <p:spPr>
          <a:xfrm>
            <a:off x="6080760" y="914400"/>
            <a:ext cx="2697480" cy="64008"/>
          </a:xfrm>
          <a:prstGeom prst="rect">
            <a:avLst/>
          </a:prstGeom>
          <a:solidFill>
            <a:srgbClr val="FFB703"/>
          </a:solidFill>
          <a:ln/>
        </p:spPr>
        <p:txBody>
          <a:bodyPr/>
          <a:lstStyle/>
          <a:p>
            <a:endParaRPr lang="fr-CA"/>
          </a:p>
        </p:txBody>
      </p:sp>
      <p:sp>
        <p:nvSpPr>
          <p:cNvPr id="16" name="Text 14"/>
          <p:cNvSpPr/>
          <p:nvPr/>
        </p:nvSpPr>
        <p:spPr>
          <a:xfrm>
            <a:off x="6217920" y="1024128"/>
            <a:ext cx="1188720" cy="320040"/>
          </a:xfrm>
          <a:prstGeom prst="rect">
            <a:avLst/>
          </a:prstGeom>
          <a:noFill/>
          <a:ln/>
        </p:spPr>
        <p:txBody>
          <a:bodyPr wrap="square" rtlCol="0" anchor="ctr"/>
          <a:lstStyle/>
          <a:p>
            <a:pPr marL="0" indent="0">
              <a:buNone/>
            </a:pPr>
            <a:r>
              <a:rPr lang="en-US" sz="900" b="1" kern="0" spc="50" dirty="0">
                <a:solidFill>
                  <a:srgbClr val="FFB703"/>
                </a:solidFill>
                <a:latin typeface="Calibri" pitchFamily="34" charset="0"/>
                <a:ea typeface="Calibri" pitchFamily="34" charset="-122"/>
                <a:cs typeface="Calibri" pitchFamily="34" charset="-120"/>
              </a:rPr>
              <a:t>🔐 ENF3</a:t>
            </a:r>
            <a:endParaRPr lang="en-US" sz="900" dirty="0"/>
          </a:p>
        </p:txBody>
      </p:sp>
      <p:sp>
        <p:nvSpPr>
          <p:cNvPr id="17" name="Text 15"/>
          <p:cNvSpPr/>
          <p:nvPr/>
        </p:nvSpPr>
        <p:spPr>
          <a:xfrm>
            <a:off x="6217920" y="133502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Sécurité</a:t>
            </a:r>
            <a:endParaRPr lang="en-US" sz="1300" dirty="0"/>
          </a:p>
        </p:txBody>
      </p:sp>
      <p:sp>
        <p:nvSpPr>
          <p:cNvPr id="18" name="Text 16"/>
          <p:cNvSpPr/>
          <p:nvPr/>
        </p:nvSpPr>
        <p:spPr>
          <a:xfrm>
            <a:off x="6217920" y="171907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Aucune donnée personnelle</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Images anonymisées</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Fichiers temp. supprimés</a:t>
            </a:r>
            <a:endParaRPr lang="en-US" sz="1000" dirty="0"/>
          </a:p>
        </p:txBody>
      </p:sp>
      <p:sp>
        <p:nvSpPr>
          <p:cNvPr id="19" name="Shape 17"/>
          <p:cNvSpPr/>
          <p:nvPr/>
        </p:nvSpPr>
        <p:spPr>
          <a:xfrm>
            <a:off x="320040" y="292608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0" name="Shape 18"/>
          <p:cNvSpPr/>
          <p:nvPr/>
        </p:nvSpPr>
        <p:spPr>
          <a:xfrm>
            <a:off x="320040" y="2926080"/>
            <a:ext cx="2697480" cy="64008"/>
          </a:xfrm>
          <a:prstGeom prst="rect">
            <a:avLst/>
          </a:prstGeom>
          <a:solidFill>
            <a:srgbClr val="EF476F"/>
          </a:solidFill>
          <a:ln/>
        </p:spPr>
        <p:txBody>
          <a:bodyPr/>
          <a:lstStyle/>
          <a:p>
            <a:endParaRPr lang="fr-CA"/>
          </a:p>
        </p:txBody>
      </p:sp>
      <p:sp>
        <p:nvSpPr>
          <p:cNvPr id="21" name="Text 19"/>
          <p:cNvSpPr/>
          <p:nvPr/>
        </p:nvSpPr>
        <p:spPr>
          <a:xfrm>
            <a:off x="457200" y="3035808"/>
            <a:ext cx="1188720" cy="320040"/>
          </a:xfrm>
          <a:prstGeom prst="rect">
            <a:avLst/>
          </a:prstGeom>
          <a:noFill/>
          <a:ln/>
        </p:spPr>
        <p:txBody>
          <a:bodyPr wrap="square" rtlCol="0" anchor="ctr"/>
          <a:lstStyle/>
          <a:p>
            <a:pPr marL="0" indent="0">
              <a:buNone/>
            </a:pPr>
            <a:r>
              <a:rPr lang="en-US" sz="900" b="1" kern="0" spc="50" dirty="0">
                <a:solidFill>
                  <a:srgbClr val="EF476F"/>
                </a:solidFill>
                <a:latin typeface="Calibri" pitchFamily="34" charset="0"/>
                <a:ea typeface="Calibri" pitchFamily="34" charset="-122"/>
                <a:cs typeface="Calibri" pitchFamily="34" charset="-120"/>
              </a:rPr>
              <a:t>🛠️ ENF4</a:t>
            </a:r>
            <a:endParaRPr lang="en-US" sz="900" dirty="0"/>
          </a:p>
        </p:txBody>
      </p:sp>
      <p:sp>
        <p:nvSpPr>
          <p:cNvPr id="22" name="Text 20"/>
          <p:cNvSpPr/>
          <p:nvPr/>
        </p:nvSpPr>
        <p:spPr>
          <a:xfrm>
            <a:off x="457200" y="334670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Maintenabilité</a:t>
            </a:r>
            <a:endParaRPr lang="en-US" sz="1300" dirty="0"/>
          </a:p>
        </p:txBody>
      </p:sp>
      <p:sp>
        <p:nvSpPr>
          <p:cNvPr id="23" name="Text 21"/>
          <p:cNvSpPr/>
          <p:nvPr/>
        </p:nvSpPr>
        <p:spPr>
          <a:xfrm>
            <a:off x="457200" y="373075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Code modulaire &amp; PEP8</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Remplacement modèle facile</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Tests ≥ 60% couverture</a:t>
            </a:r>
            <a:endParaRPr lang="en-US" sz="1000" dirty="0"/>
          </a:p>
        </p:txBody>
      </p:sp>
      <p:sp>
        <p:nvSpPr>
          <p:cNvPr id="24" name="Shape 22"/>
          <p:cNvSpPr/>
          <p:nvPr/>
        </p:nvSpPr>
        <p:spPr>
          <a:xfrm>
            <a:off x="3200400" y="292608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5" name="Shape 23"/>
          <p:cNvSpPr/>
          <p:nvPr/>
        </p:nvSpPr>
        <p:spPr>
          <a:xfrm>
            <a:off x="3200400" y="2926080"/>
            <a:ext cx="2697480" cy="64008"/>
          </a:xfrm>
          <a:prstGeom prst="rect">
            <a:avLst/>
          </a:prstGeom>
          <a:solidFill>
            <a:srgbClr val="00B4D8"/>
          </a:solidFill>
          <a:ln/>
        </p:spPr>
        <p:txBody>
          <a:bodyPr/>
          <a:lstStyle/>
          <a:p>
            <a:endParaRPr lang="fr-CA"/>
          </a:p>
        </p:txBody>
      </p:sp>
      <p:sp>
        <p:nvSpPr>
          <p:cNvPr id="26" name="Text 24"/>
          <p:cNvSpPr/>
          <p:nvPr/>
        </p:nvSpPr>
        <p:spPr>
          <a:xfrm>
            <a:off x="3337560" y="3035808"/>
            <a:ext cx="1188720" cy="320040"/>
          </a:xfrm>
          <a:prstGeom prst="rect">
            <a:avLst/>
          </a:prstGeom>
          <a:noFill/>
          <a:ln/>
        </p:spPr>
        <p:txBody>
          <a:bodyPr wrap="square" rtlCol="0" anchor="ctr"/>
          <a:lstStyle/>
          <a:p>
            <a:pPr marL="0" indent="0">
              <a:buNone/>
            </a:pPr>
            <a:r>
              <a:rPr lang="en-US" sz="900" b="1" kern="0" spc="50" dirty="0">
                <a:solidFill>
                  <a:srgbClr val="00B4D8"/>
                </a:solidFill>
                <a:latin typeface="Calibri" pitchFamily="34" charset="0"/>
                <a:ea typeface="Calibri" pitchFamily="34" charset="-122"/>
                <a:cs typeface="Calibri" pitchFamily="34" charset="-120"/>
              </a:rPr>
              <a:t>🖥️ ENF5–7</a:t>
            </a:r>
            <a:endParaRPr lang="en-US" sz="900" dirty="0"/>
          </a:p>
        </p:txBody>
      </p:sp>
      <p:sp>
        <p:nvSpPr>
          <p:cNvPr id="27" name="Text 25"/>
          <p:cNvSpPr/>
          <p:nvPr/>
        </p:nvSpPr>
        <p:spPr>
          <a:xfrm>
            <a:off x="3337560" y="3346704"/>
            <a:ext cx="2423160"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Qualité</a:t>
            </a:r>
            <a:endParaRPr lang="en-US" sz="1300" dirty="0"/>
          </a:p>
        </p:txBody>
      </p:sp>
      <p:sp>
        <p:nvSpPr>
          <p:cNvPr id="28" name="Text 26"/>
          <p:cNvSpPr/>
          <p:nvPr/>
        </p:nvSpPr>
        <p:spPr>
          <a:xfrm>
            <a:off x="3337560" y="373075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Seed fixe → reproductibilité</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Interface intuitive (Streamlit)</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Multi-OS compatible</a:t>
            </a:r>
            <a:endParaRPr lang="en-US" sz="1000" dirty="0"/>
          </a:p>
        </p:txBody>
      </p:sp>
      <p:sp>
        <p:nvSpPr>
          <p:cNvPr id="29" name="Shape 27"/>
          <p:cNvSpPr/>
          <p:nvPr/>
        </p:nvSpPr>
        <p:spPr>
          <a:xfrm>
            <a:off x="6080760" y="292608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30" name="Shape 28"/>
          <p:cNvSpPr/>
          <p:nvPr/>
        </p:nvSpPr>
        <p:spPr>
          <a:xfrm>
            <a:off x="6080760" y="2926080"/>
            <a:ext cx="2697480" cy="64008"/>
          </a:xfrm>
          <a:prstGeom prst="rect">
            <a:avLst/>
          </a:prstGeom>
          <a:solidFill>
            <a:srgbClr val="06D6A0"/>
          </a:solidFill>
          <a:ln/>
        </p:spPr>
        <p:txBody>
          <a:bodyPr/>
          <a:lstStyle/>
          <a:p>
            <a:endParaRPr lang="fr-CA"/>
          </a:p>
        </p:txBody>
      </p:sp>
      <p:sp>
        <p:nvSpPr>
          <p:cNvPr id="31" name="Text 29"/>
          <p:cNvSpPr/>
          <p:nvPr/>
        </p:nvSpPr>
        <p:spPr>
          <a:xfrm>
            <a:off x="6217920" y="3035808"/>
            <a:ext cx="1188720" cy="320040"/>
          </a:xfrm>
          <a:prstGeom prst="rect">
            <a:avLst/>
          </a:prstGeom>
          <a:noFill/>
          <a:ln/>
        </p:spPr>
        <p:txBody>
          <a:bodyPr wrap="square" rtlCol="0" anchor="ctr"/>
          <a:lstStyle/>
          <a:p>
            <a:pPr marL="0" indent="0">
              <a:buNone/>
            </a:pPr>
            <a:r>
              <a:rPr lang="en-US" sz="900" b="1" kern="0" spc="50" dirty="0">
                <a:solidFill>
                  <a:srgbClr val="06D6A0"/>
                </a:solidFill>
                <a:latin typeface="Calibri" pitchFamily="34" charset="0"/>
                <a:ea typeface="Calibri" pitchFamily="34" charset="-122"/>
                <a:cs typeface="Calibri" pitchFamily="34" charset="-120"/>
              </a:rPr>
              <a:t>📦 ENF8–9</a:t>
            </a:r>
            <a:endParaRPr lang="en-US" sz="900" dirty="0"/>
          </a:p>
        </p:txBody>
      </p:sp>
      <p:sp>
        <p:nvSpPr>
          <p:cNvPr id="32" name="Text 30"/>
          <p:cNvSpPr/>
          <p:nvPr/>
        </p:nvSpPr>
        <p:spPr>
          <a:xfrm>
            <a:off x="6217920" y="334670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Scalabilité</a:t>
            </a:r>
            <a:endParaRPr lang="en-US" sz="1300" dirty="0"/>
          </a:p>
        </p:txBody>
      </p:sp>
      <p:sp>
        <p:nvSpPr>
          <p:cNvPr id="33" name="Text 31"/>
          <p:cNvSpPr/>
          <p:nvPr/>
        </p:nvSpPr>
        <p:spPr>
          <a:xfrm>
            <a:off x="6217920" y="373075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Batch sans dégradation</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Intégration YOLOv8l/v9</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Logs + historique complet</a:t>
            </a:r>
            <a:endParaRPr lang="en-US" sz="1000" dirty="0"/>
          </a:p>
        </p:txBody>
      </p:sp>
      <p:sp>
        <p:nvSpPr>
          <p:cNvPr id="35" name="Rectangle: Folded Corner 34">
            <a:extLst>
              <a:ext uri="{FF2B5EF4-FFF2-40B4-BE49-F238E27FC236}">
                <a16:creationId xmlns:a16="http://schemas.microsoft.com/office/drawing/2014/main" id="{86869276-FC2E-9CF9-C471-8C0EB5133105}"/>
              </a:ext>
            </a:extLst>
          </p:cNvPr>
          <p:cNvSpPr/>
          <p:nvPr/>
        </p:nvSpPr>
        <p:spPr>
          <a:xfrm>
            <a:off x="8817424" y="8516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32B540-64E4-6D67-63BE-3B41A8BD7CEA}"/>
              </a:ext>
            </a:extLst>
          </p:cNvPr>
          <p:cNvSpPr/>
          <p:nvPr/>
        </p:nvSpPr>
        <p:spPr>
          <a:xfrm>
            <a:off x="0" y="0"/>
            <a:ext cx="9144000" cy="914400"/>
          </a:xfrm>
          <a:prstGeom prst="rect">
            <a:avLst/>
          </a:prstGeom>
          <a:solidFill>
            <a:srgbClr val="0D9488"/>
          </a:solidFill>
          <a:ln w="12700">
            <a:solidFill>
              <a:srgbClr val="0D9488"/>
            </a:solidFill>
            <a:prstDash val="solid"/>
          </a:ln>
        </p:spPr>
        <p:txBody>
          <a:bodyPr/>
          <a:lstStyle/>
          <a:p>
            <a:endParaRPr lang="fr-CA" dirty="0"/>
          </a:p>
        </p:txBody>
      </p:sp>
      <p:sp>
        <p:nvSpPr>
          <p:cNvPr id="3" name="Text 2">
            <a:extLst>
              <a:ext uri="{FF2B5EF4-FFF2-40B4-BE49-F238E27FC236}">
                <a16:creationId xmlns:a16="http://schemas.microsoft.com/office/drawing/2014/main" id="{4C6C6EB1-D0A7-4D27-EB9F-0C0A9AC25E3C}"/>
              </a:ext>
            </a:extLst>
          </p:cNvPr>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05  ·  Definition des </a:t>
            </a:r>
            <a:r>
              <a:rPr lang="en-US" sz="2600" b="1" dirty="0" err="1">
                <a:solidFill>
                  <a:srgbClr val="FFFFFF"/>
                </a:solidFill>
                <a:latin typeface="Trebuchet MS" pitchFamily="34" charset="0"/>
                <a:ea typeface="Trebuchet MS" pitchFamily="34" charset="-122"/>
                <a:cs typeface="Trebuchet MS" pitchFamily="34" charset="-120"/>
              </a:rPr>
              <a:t>objectifs</a:t>
            </a:r>
            <a:endParaRPr lang="en-US" sz="2600" dirty="0"/>
          </a:p>
        </p:txBody>
      </p:sp>
      <p:sp>
        <p:nvSpPr>
          <p:cNvPr id="4" name="Shape 3">
            <a:extLst>
              <a:ext uri="{FF2B5EF4-FFF2-40B4-BE49-F238E27FC236}">
                <a16:creationId xmlns:a16="http://schemas.microsoft.com/office/drawing/2014/main" id="{772B1D66-A176-1E32-55D8-2901986F97C2}"/>
              </a:ext>
            </a:extLst>
          </p:cNvPr>
          <p:cNvSpPr/>
          <p:nvPr/>
        </p:nvSpPr>
        <p:spPr>
          <a:xfrm>
            <a:off x="274320" y="2041883"/>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5" name="Shape 4">
            <a:extLst>
              <a:ext uri="{FF2B5EF4-FFF2-40B4-BE49-F238E27FC236}">
                <a16:creationId xmlns:a16="http://schemas.microsoft.com/office/drawing/2014/main" id="{EF22EEF6-4565-48C6-5462-1D2DA960957F}"/>
              </a:ext>
            </a:extLst>
          </p:cNvPr>
          <p:cNvSpPr/>
          <p:nvPr/>
        </p:nvSpPr>
        <p:spPr>
          <a:xfrm>
            <a:off x="274320" y="2041883"/>
            <a:ext cx="1298448" cy="384048"/>
          </a:xfrm>
          <a:prstGeom prst="rect">
            <a:avLst/>
          </a:prstGeom>
          <a:solidFill>
            <a:srgbClr val="1A2B5E"/>
          </a:solidFill>
          <a:ln w="12700">
            <a:solidFill>
              <a:srgbClr val="1A2B5E"/>
            </a:solidFill>
            <a:prstDash val="solid"/>
          </a:ln>
        </p:spPr>
        <p:txBody>
          <a:bodyPr/>
          <a:lstStyle/>
          <a:p>
            <a:pPr algn="ctr"/>
            <a:r>
              <a:rPr lang="en-US" b="1" dirty="0">
                <a:solidFill>
                  <a:srgbClr val="FFFFFF"/>
                </a:solidFill>
              </a:rPr>
              <a:t>01</a:t>
            </a:r>
            <a:endParaRPr lang="en-US" dirty="0"/>
          </a:p>
          <a:p>
            <a:endParaRPr lang="fr-CA" dirty="0"/>
          </a:p>
        </p:txBody>
      </p:sp>
      <p:sp>
        <p:nvSpPr>
          <p:cNvPr id="6" name="Shape 9">
            <a:extLst>
              <a:ext uri="{FF2B5EF4-FFF2-40B4-BE49-F238E27FC236}">
                <a16:creationId xmlns:a16="http://schemas.microsoft.com/office/drawing/2014/main" id="{52A0E08F-E31B-D0F7-FBC5-11152A23FA18}"/>
              </a:ext>
            </a:extLst>
          </p:cNvPr>
          <p:cNvSpPr/>
          <p:nvPr/>
        </p:nvSpPr>
        <p:spPr>
          <a:xfrm>
            <a:off x="1737360" y="2041883"/>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7" name="Shape 15">
            <a:extLst>
              <a:ext uri="{FF2B5EF4-FFF2-40B4-BE49-F238E27FC236}">
                <a16:creationId xmlns:a16="http://schemas.microsoft.com/office/drawing/2014/main" id="{C50DD75E-DAD9-6A82-D60E-03873674B119}"/>
              </a:ext>
            </a:extLst>
          </p:cNvPr>
          <p:cNvSpPr/>
          <p:nvPr/>
        </p:nvSpPr>
        <p:spPr>
          <a:xfrm>
            <a:off x="3200400" y="2041883"/>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8" name="Shape 21">
            <a:extLst>
              <a:ext uri="{FF2B5EF4-FFF2-40B4-BE49-F238E27FC236}">
                <a16:creationId xmlns:a16="http://schemas.microsoft.com/office/drawing/2014/main" id="{8A97653C-F65C-8949-C06F-D073E965B8D3}"/>
              </a:ext>
            </a:extLst>
          </p:cNvPr>
          <p:cNvSpPr/>
          <p:nvPr/>
        </p:nvSpPr>
        <p:spPr>
          <a:xfrm>
            <a:off x="4663440" y="2041883"/>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9" name="Shape 27">
            <a:extLst>
              <a:ext uri="{FF2B5EF4-FFF2-40B4-BE49-F238E27FC236}">
                <a16:creationId xmlns:a16="http://schemas.microsoft.com/office/drawing/2014/main" id="{30E954A2-CCF6-C521-448D-A09EFE4C29EA}"/>
              </a:ext>
            </a:extLst>
          </p:cNvPr>
          <p:cNvSpPr/>
          <p:nvPr/>
        </p:nvSpPr>
        <p:spPr>
          <a:xfrm>
            <a:off x="6126480" y="2041883"/>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10" name="Shape 33">
            <a:extLst>
              <a:ext uri="{FF2B5EF4-FFF2-40B4-BE49-F238E27FC236}">
                <a16:creationId xmlns:a16="http://schemas.microsoft.com/office/drawing/2014/main" id="{7C0FD8EF-8B38-612D-305A-D0E8649182F1}"/>
              </a:ext>
            </a:extLst>
          </p:cNvPr>
          <p:cNvSpPr/>
          <p:nvPr/>
        </p:nvSpPr>
        <p:spPr>
          <a:xfrm>
            <a:off x="7589520" y="2041883"/>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1" name="Shape 10">
            <a:extLst>
              <a:ext uri="{FF2B5EF4-FFF2-40B4-BE49-F238E27FC236}">
                <a16:creationId xmlns:a16="http://schemas.microsoft.com/office/drawing/2014/main" id="{3EDF608F-8E3B-0BCB-BDEF-AC216D8D1DE4}"/>
              </a:ext>
            </a:extLst>
          </p:cNvPr>
          <p:cNvSpPr/>
          <p:nvPr/>
        </p:nvSpPr>
        <p:spPr>
          <a:xfrm>
            <a:off x="1737360" y="2041883"/>
            <a:ext cx="1298448" cy="384048"/>
          </a:xfrm>
          <a:prstGeom prst="rect">
            <a:avLst/>
          </a:prstGeom>
          <a:solidFill>
            <a:srgbClr val="0D9488"/>
          </a:solidFill>
          <a:ln w="12700">
            <a:solidFill>
              <a:srgbClr val="0D9488"/>
            </a:solidFill>
            <a:prstDash val="solid"/>
          </a:ln>
        </p:spPr>
        <p:txBody>
          <a:bodyPr/>
          <a:lstStyle/>
          <a:p>
            <a:pPr algn="ctr"/>
            <a:r>
              <a:rPr lang="en-US" b="1">
                <a:solidFill>
                  <a:srgbClr val="FFFFFF"/>
                </a:solidFill>
              </a:rPr>
              <a:t>02</a:t>
            </a:r>
            <a:endParaRPr lang="en-US" dirty="0"/>
          </a:p>
        </p:txBody>
      </p:sp>
      <p:sp>
        <p:nvSpPr>
          <p:cNvPr id="12" name="Shape 16">
            <a:extLst>
              <a:ext uri="{FF2B5EF4-FFF2-40B4-BE49-F238E27FC236}">
                <a16:creationId xmlns:a16="http://schemas.microsoft.com/office/drawing/2014/main" id="{C36C4D86-82FD-49B7-DE15-35C6C291D7E4}"/>
              </a:ext>
            </a:extLst>
          </p:cNvPr>
          <p:cNvSpPr/>
          <p:nvPr/>
        </p:nvSpPr>
        <p:spPr>
          <a:xfrm>
            <a:off x="3200400" y="2041883"/>
            <a:ext cx="1298448" cy="384048"/>
          </a:xfrm>
          <a:prstGeom prst="rect">
            <a:avLst/>
          </a:prstGeom>
          <a:solidFill>
            <a:srgbClr val="1A2B5E"/>
          </a:solidFill>
          <a:ln w="12700">
            <a:solidFill>
              <a:srgbClr val="1A2B5E"/>
            </a:solidFill>
            <a:prstDash val="solid"/>
          </a:ln>
        </p:spPr>
        <p:txBody>
          <a:bodyPr/>
          <a:lstStyle/>
          <a:p>
            <a:pPr algn="ctr"/>
            <a:r>
              <a:rPr lang="en-US" b="1">
                <a:solidFill>
                  <a:srgbClr val="FFFFFF"/>
                </a:solidFill>
              </a:rPr>
              <a:t>03</a:t>
            </a:r>
            <a:endParaRPr lang="en-US" dirty="0"/>
          </a:p>
        </p:txBody>
      </p:sp>
      <p:sp>
        <p:nvSpPr>
          <p:cNvPr id="13" name="Shape 22">
            <a:extLst>
              <a:ext uri="{FF2B5EF4-FFF2-40B4-BE49-F238E27FC236}">
                <a16:creationId xmlns:a16="http://schemas.microsoft.com/office/drawing/2014/main" id="{66A63507-1A21-1208-4145-4EE4C955DDD5}"/>
              </a:ext>
            </a:extLst>
          </p:cNvPr>
          <p:cNvSpPr/>
          <p:nvPr/>
        </p:nvSpPr>
        <p:spPr>
          <a:xfrm>
            <a:off x="4663440" y="2041883"/>
            <a:ext cx="1298448" cy="384048"/>
          </a:xfrm>
          <a:prstGeom prst="rect">
            <a:avLst/>
          </a:prstGeom>
          <a:solidFill>
            <a:srgbClr val="0D9488"/>
          </a:solidFill>
          <a:ln w="12700">
            <a:solidFill>
              <a:srgbClr val="0D9488"/>
            </a:solidFill>
            <a:prstDash val="solid"/>
          </a:ln>
        </p:spPr>
        <p:txBody>
          <a:bodyPr/>
          <a:lstStyle/>
          <a:p>
            <a:pPr algn="ctr"/>
            <a:r>
              <a:rPr lang="en-US" b="1">
                <a:solidFill>
                  <a:srgbClr val="FFFFFF"/>
                </a:solidFill>
              </a:rPr>
              <a:t>04</a:t>
            </a:r>
            <a:endParaRPr lang="en-US" dirty="0"/>
          </a:p>
        </p:txBody>
      </p:sp>
      <p:sp>
        <p:nvSpPr>
          <p:cNvPr id="14" name="Shape 28">
            <a:extLst>
              <a:ext uri="{FF2B5EF4-FFF2-40B4-BE49-F238E27FC236}">
                <a16:creationId xmlns:a16="http://schemas.microsoft.com/office/drawing/2014/main" id="{4D77F618-067F-EF8C-2036-F33156E38851}"/>
              </a:ext>
            </a:extLst>
          </p:cNvPr>
          <p:cNvSpPr/>
          <p:nvPr/>
        </p:nvSpPr>
        <p:spPr>
          <a:xfrm>
            <a:off x="6126480" y="2041883"/>
            <a:ext cx="1298448" cy="384048"/>
          </a:xfrm>
          <a:prstGeom prst="rect">
            <a:avLst/>
          </a:prstGeom>
          <a:solidFill>
            <a:srgbClr val="1A2B5E"/>
          </a:solidFill>
          <a:ln w="12700">
            <a:solidFill>
              <a:srgbClr val="1A2B5E"/>
            </a:solidFill>
            <a:prstDash val="solid"/>
          </a:ln>
        </p:spPr>
        <p:txBody>
          <a:bodyPr/>
          <a:lstStyle/>
          <a:p>
            <a:pPr algn="ctr"/>
            <a:r>
              <a:rPr lang="en-US" b="1">
                <a:solidFill>
                  <a:srgbClr val="FFFFFF"/>
                </a:solidFill>
              </a:rPr>
              <a:t>05</a:t>
            </a:r>
            <a:endParaRPr lang="en-US" dirty="0"/>
          </a:p>
        </p:txBody>
      </p:sp>
      <p:sp>
        <p:nvSpPr>
          <p:cNvPr id="15" name="Shape 34">
            <a:extLst>
              <a:ext uri="{FF2B5EF4-FFF2-40B4-BE49-F238E27FC236}">
                <a16:creationId xmlns:a16="http://schemas.microsoft.com/office/drawing/2014/main" id="{659107F1-D7F9-00F0-1622-88E2CF9E08F3}"/>
              </a:ext>
            </a:extLst>
          </p:cNvPr>
          <p:cNvSpPr/>
          <p:nvPr/>
        </p:nvSpPr>
        <p:spPr>
          <a:xfrm>
            <a:off x="7589520" y="2041883"/>
            <a:ext cx="1298448" cy="384048"/>
          </a:xfrm>
          <a:prstGeom prst="rect">
            <a:avLst/>
          </a:prstGeom>
          <a:solidFill>
            <a:srgbClr val="0D9488"/>
          </a:solidFill>
          <a:ln w="12700">
            <a:solidFill>
              <a:srgbClr val="0D9488"/>
            </a:solidFill>
            <a:prstDash val="solid"/>
          </a:ln>
        </p:spPr>
        <p:txBody>
          <a:bodyPr/>
          <a:lstStyle/>
          <a:p>
            <a:pPr algn="ctr"/>
            <a:r>
              <a:rPr lang="en-US" b="1">
                <a:solidFill>
                  <a:srgbClr val="FFFFFF"/>
                </a:solidFill>
              </a:rPr>
              <a:t>06</a:t>
            </a:r>
            <a:endParaRPr lang="en-US" dirty="0"/>
          </a:p>
        </p:txBody>
      </p:sp>
      <p:sp>
        <p:nvSpPr>
          <p:cNvPr id="16" name="Text 6">
            <a:extLst>
              <a:ext uri="{FF2B5EF4-FFF2-40B4-BE49-F238E27FC236}">
                <a16:creationId xmlns:a16="http://schemas.microsoft.com/office/drawing/2014/main" id="{C4A42310-9FA4-665B-97E2-668BADEEE44B}"/>
              </a:ext>
            </a:extLst>
          </p:cNvPr>
          <p:cNvSpPr/>
          <p:nvPr/>
        </p:nvSpPr>
        <p:spPr>
          <a:xfrm>
            <a:off x="320040" y="2480795"/>
            <a:ext cx="1207008" cy="347472"/>
          </a:xfrm>
          <a:prstGeom prst="rect">
            <a:avLst/>
          </a:prstGeom>
          <a:noFill/>
          <a:ln/>
        </p:spPr>
        <p:txBody>
          <a:bodyPr wrap="square" rtlCol="0" anchor="ctr"/>
          <a:lstStyle/>
          <a:p>
            <a:pPr marL="0" indent="0" algn="ctr">
              <a:buNone/>
            </a:pPr>
            <a:r>
              <a:rPr lang="en-US" sz="1200" b="1" dirty="0">
                <a:solidFill>
                  <a:srgbClr val="0F172A"/>
                </a:solidFill>
              </a:rPr>
              <a:t>Acquisition</a:t>
            </a:r>
            <a:endParaRPr lang="en-US" sz="1200" dirty="0"/>
          </a:p>
        </p:txBody>
      </p:sp>
      <p:sp>
        <p:nvSpPr>
          <p:cNvPr id="17" name="Text 12">
            <a:extLst>
              <a:ext uri="{FF2B5EF4-FFF2-40B4-BE49-F238E27FC236}">
                <a16:creationId xmlns:a16="http://schemas.microsoft.com/office/drawing/2014/main" id="{9805945E-BC7A-C04A-15F4-0D3BCDC55BC4}"/>
              </a:ext>
            </a:extLst>
          </p:cNvPr>
          <p:cNvSpPr/>
          <p:nvPr/>
        </p:nvSpPr>
        <p:spPr>
          <a:xfrm>
            <a:off x="1783080" y="2480795"/>
            <a:ext cx="1207008" cy="347472"/>
          </a:xfrm>
          <a:prstGeom prst="rect">
            <a:avLst/>
          </a:prstGeom>
          <a:noFill/>
          <a:ln/>
        </p:spPr>
        <p:txBody>
          <a:bodyPr wrap="square" rtlCol="0" anchor="ctr"/>
          <a:lstStyle/>
          <a:p>
            <a:pPr marL="0" indent="0" algn="ctr">
              <a:buNone/>
            </a:pPr>
            <a:r>
              <a:rPr lang="en-US" sz="1200" b="1" dirty="0">
                <a:solidFill>
                  <a:srgbClr val="0F172A"/>
                </a:solidFill>
              </a:rPr>
              <a:t>Prétraitement</a:t>
            </a:r>
            <a:endParaRPr lang="en-US" sz="1200" dirty="0"/>
          </a:p>
        </p:txBody>
      </p:sp>
      <p:sp>
        <p:nvSpPr>
          <p:cNvPr id="18" name="Text 18">
            <a:extLst>
              <a:ext uri="{FF2B5EF4-FFF2-40B4-BE49-F238E27FC236}">
                <a16:creationId xmlns:a16="http://schemas.microsoft.com/office/drawing/2014/main" id="{254F8EC5-A214-0096-268D-A36BB7849C6C}"/>
              </a:ext>
            </a:extLst>
          </p:cNvPr>
          <p:cNvSpPr/>
          <p:nvPr/>
        </p:nvSpPr>
        <p:spPr>
          <a:xfrm>
            <a:off x="3246120" y="2480795"/>
            <a:ext cx="1207008" cy="347472"/>
          </a:xfrm>
          <a:prstGeom prst="rect">
            <a:avLst/>
          </a:prstGeom>
          <a:noFill/>
          <a:ln/>
        </p:spPr>
        <p:txBody>
          <a:bodyPr wrap="square" rtlCol="0" anchor="ctr"/>
          <a:lstStyle/>
          <a:p>
            <a:pPr marL="0" indent="0" algn="ctr">
              <a:buNone/>
            </a:pPr>
            <a:r>
              <a:rPr lang="en-US" sz="1200" b="1" dirty="0">
                <a:solidFill>
                  <a:srgbClr val="0F172A"/>
                </a:solidFill>
              </a:rPr>
              <a:t>YOLOv8-seg</a:t>
            </a:r>
            <a:endParaRPr lang="en-US" sz="1200" dirty="0"/>
          </a:p>
        </p:txBody>
      </p:sp>
      <p:sp>
        <p:nvSpPr>
          <p:cNvPr id="19" name="Text 24">
            <a:extLst>
              <a:ext uri="{FF2B5EF4-FFF2-40B4-BE49-F238E27FC236}">
                <a16:creationId xmlns:a16="http://schemas.microsoft.com/office/drawing/2014/main" id="{691E2DE9-3C90-78F5-A1C4-D8CB3D01DC72}"/>
              </a:ext>
            </a:extLst>
          </p:cNvPr>
          <p:cNvSpPr/>
          <p:nvPr/>
        </p:nvSpPr>
        <p:spPr>
          <a:xfrm>
            <a:off x="4709160" y="2480795"/>
            <a:ext cx="1207008" cy="347472"/>
          </a:xfrm>
          <a:prstGeom prst="rect">
            <a:avLst/>
          </a:prstGeom>
          <a:noFill/>
          <a:ln/>
        </p:spPr>
        <p:txBody>
          <a:bodyPr wrap="square" rtlCol="0" anchor="ctr"/>
          <a:lstStyle/>
          <a:p>
            <a:pPr marL="0" indent="0" algn="ctr">
              <a:buNone/>
            </a:pPr>
            <a:r>
              <a:rPr lang="en-US" sz="1200" b="1" dirty="0">
                <a:solidFill>
                  <a:srgbClr val="0F172A"/>
                </a:solidFill>
              </a:rPr>
              <a:t>Post-traitement</a:t>
            </a:r>
            <a:endParaRPr lang="en-US" sz="1200" dirty="0"/>
          </a:p>
        </p:txBody>
      </p:sp>
      <p:sp>
        <p:nvSpPr>
          <p:cNvPr id="20" name="Text 30">
            <a:extLst>
              <a:ext uri="{FF2B5EF4-FFF2-40B4-BE49-F238E27FC236}">
                <a16:creationId xmlns:a16="http://schemas.microsoft.com/office/drawing/2014/main" id="{183B03F3-9EAC-339C-D4B1-9169A6FE9D64}"/>
              </a:ext>
            </a:extLst>
          </p:cNvPr>
          <p:cNvSpPr/>
          <p:nvPr/>
        </p:nvSpPr>
        <p:spPr>
          <a:xfrm>
            <a:off x="6172200" y="2480795"/>
            <a:ext cx="1207008" cy="347472"/>
          </a:xfrm>
          <a:prstGeom prst="rect">
            <a:avLst/>
          </a:prstGeom>
          <a:noFill/>
          <a:ln/>
        </p:spPr>
        <p:txBody>
          <a:bodyPr wrap="square" rtlCol="0" anchor="ctr"/>
          <a:lstStyle/>
          <a:p>
            <a:pPr marL="0" indent="0" algn="ctr">
              <a:buNone/>
            </a:pPr>
            <a:r>
              <a:rPr lang="en-US" sz="1200" b="1" dirty="0">
                <a:solidFill>
                  <a:srgbClr val="0F172A"/>
                </a:solidFill>
              </a:rPr>
              <a:t>Extraction</a:t>
            </a:r>
            <a:endParaRPr lang="en-US" sz="1200" dirty="0"/>
          </a:p>
        </p:txBody>
      </p:sp>
      <p:sp>
        <p:nvSpPr>
          <p:cNvPr id="22" name="Text 36">
            <a:extLst>
              <a:ext uri="{FF2B5EF4-FFF2-40B4-BE49-F238E27FC236}">
                <a16:creationId xmlns:a16="http://schemas.microsoft.com/office/drawing/2014/main" id="{4A5B9AFB-3F9D-3621-197E-8108A5974F2F}"/>
              </a:ext>
            </a:extLst>
          </p:cNvPr>
          <p:cNvSpPr/>
          <p:nvPr/>
        </p:nvSpPr>
        <p:spPr>
          <a:xfrm>
            <a:off x="7635240" y="2480795"/>
            <a:ext cx="1207008" cy="347472"/>
          </a:xfrm>
          <a:prstGeom prst="rect">
            <a:avLst/>
          </a:prstGeom>
          <a:noFill/>
          <a:ln/>
        </p:spPr>
        <p:txBody>
          <a:bodyPr wrap="square" rtlCol="0" anchor="ctr"/>
          <a:lstStyle/>
          <a:p>
            <a:pPr marL="0" indent="0" algn="ctr">
              <a:buNone/>
            </a:pPr>
            <a:r>
              <a:rPr lang="en-US" sz="1200" b="1" dirty="0">
                <a:solidFill>
                  <a:srgbClr val="0F172A"/>
                </a:solidFill>
              </a:rPr>
              <a:t>Score &amp; Visu</a:t>
            </a:r>
            <a:endParaRPr lang="en-US" sz="1200" dirty="0"/>
          </a:p>
        </p:txBody>
      </p:sp>
      <p:sp>
        <p:nvSpPr>
          <p:cNvPr id="23" name="Text 7">
            <a:extLst>
              <a:ext uri="{FF2B5EF4-FFF2-40B4-BE49-F238E27FC236}">
                <a16:creationId xmlns:a16="http://schemas.microsoft.com/office/drawing/2014/main" id="{9CDAC0A9-5E85-BAFB-ACCE-A501D56AB0E7}"/>
              </a:ext>
            </a:extLst>
          </p:cNvPr>
          <p:cNvSpPr/>
          <p:nvPr/>
        </p:nvSpPr>
        <p:spPr>
          <a:xfrm>
            <a:off x="320040" y="2864843"/>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Dataset ISIC</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JPG / PNG</a:t>
            </a:r>
            <a:endParaRPr lang="en-US" sz="1000" dirty="0"/>
          </a:p>
        </p:txBody>
      </p:sp>
      <p:sp>
        <p:nvSpPr>
          <p:cNvPr id="24" name="Text 13">
            <a:extLst>
              <a:ext uri="{FF2B5EF4-FFF2-40B4-BE49-F238E27FC236}">
                <a16:creationId xmlns:a16="http://schemas.microsoft.com/office/drawing/2014/main" id="{742079D5-BC67-C93B-8BC5-7CA0203FDA2B}"/>
              </a:ext>
            </a:extLst>
          </p:cNvPr>
          <p:cNvSpPr/>
          <p:nvPr/>
        </p:nvSpPr>
        <p:spPr>
          <a:xfrm>
            <a:off x="1783080" y="2864843"/>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Resize 640px</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Normalisation [0,1]</a:t>
            </a:r>
            <a:endParaRPr lang="en-US" sz="1000" dirty="0"/>
          </a:p>
        </p:txBody>
      </p:sp>
      <p:sp>
        <p:nvSpPr>
          <p:cNvPr id="25" name="Text 19">
            <a:extLst>
              <a:ext uri="{FF2B5EF4-FFF2-40B4-BE49-F238E27FC236}">
                <a16:creationId xmlns:a16="http://schemas.microsoft.com/office/drawing/2014/main" id="{F79D774A-96F0-9A03-E78F-685903BA52B6}"/>
              </a:ext>
            </a:extLst>
          </p:cNvPr>
          <p:cNvSpPr/>
          <p:nvPr/>
        </p:nvSpPr>
        <p:spPr>
          <a:xfrm>
            <a:off x="3246120" y="2864843"/>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Inférence IA</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Masque polygonal</a:t>
            </a:r>
            <a:endParaRPr lang="en-US" sz="1000" dirty="0"/>
          </a:p>
        </p:txBody>
      </p:sp>
      <p:sp>
        <p:nvSpPr>
          <p:cNvPr id="26" name="Text 25">
            <a:extLst>
              <a:ext uri="{FF2B5EF4-FFF2-40B4-BE49-F238E27FC236}">
                <a16:creationId xmlns:a16="http://schemas.microsoft.com/office/drawing/2014/main" id="{3371C3BE-80B6-3D90-F9F2-3E0E6C021911}"/>
              </a:ext>
            </a:extLst>
          </p:cNvPr>
          <p:cNvSpPr/>
          <p:nvPr/>
        </p:nvSpPr>
        <p:spPr>
          <a:xfrm>
            <a:off x="4709160" y="2864843"/>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Morphologie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Débruitage</a:t>
            </a:r>
            <a:endParaRPr lang="en-US" sz="1000" dirty="0"/>
          </a:p>
        </p:txBody>
      </p:sp>
      <p:sp>
        <p:nvSpPr>
          <p:cNvPr id="27" name="Text 31">
            <a:extLst>
              <a:ext uri="{FF2B5EF4-FFF2-40B4-BE49-F238E27FC236}">
                <a16:creationId xmlns:a16="http://schemas.microsoft.com/office/drawing/2014/main" id="{EDFC918D-1342-DFF6-15FB-73770AEB5436}"/>
              </a:ext>
            </a:extLst>
          </p:cNvPr>
          <p:cNvSpPr/>
          <p:nvPr/>
        </p:nvSpPr>
        <p:spPr>
          <a:xfrm>
            <a:off x="6172200" y="2864843"/>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Aire · Périmètre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Circularité C</a:t>
            </a:r>
            <a:endParaRPr lang="en-US" sz="1000" dirty="0"/>
          </a:p>
        </p:txBody>
      </p:sp>
      <p:sp>
        <p:nvSpPr>
          <p:cNvPr id="28" name="Text 37">
            <a:extLst>
              <a:ext uri="{FF2B5EF4-FFF2-40B4-BE49-F238E27FC236}">
                <a16:creationId xmlns:a16="http://schemas.microsoft.com/office/drawing/2014/main" id="{BAE5D566-410E-10FD-639A-F319095BF267}"/>
              </a:ext>
            </a:extLst>
          </p:cNvPr>
          <p:cNvSpPr/>
          <p:nvPr/>
        </p:nvSpPr>
        <p:spPr>
          <a:xfrm>
            <a:off x="7635240" y="2864843"/>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Score sévérité</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Image + métriques</a:t>
            </a:r>
            <a:endParaRPr lang="en-US" sz="1000" dirty="0"/>
          </a:p>
        </p:txBody>
      </p:sp>
      <p:sp>
        <p:nvSpPr>
          <p:cNvPr id="29" name="Shape 8">
            <a:extLst>
              <a:ext uri="{FF2B5EF4-FFF2-40B4-BE49-F238E27FC236}">
                <a16:creationId xmlns:a16="http://schemas.microsoft.com/office/drawing/2014/main" id="{7E49694D-E1BA-8D8A-29EC-44213DCC56EA}"/>
              </a:ext>
            </a:extLst>
          </p:cNvPr>
          <p:cNvSpPr/>
          <p:nvPr/>
        </p:nvSpPr>
        <p:spPr>
          <a:xfrm>
            <a:off x="1591056" y="2864843"/>
            <a:ext cx="128016" cy="54864"/>
          </a:xfrm>
          <a:prstGeom prst="rect">
            <a:avLst/>
          </a:prstGeom>
          <a:solidFill>
            <a:srgbClr val="F59E0B"/>
          </a:solidFill>
          <a:ln w="12700">
            <a:solidFill>
              <a:srgbClr val="F59E0B"/>
            </a:solidFill>
            <a:prstDash val="solid"/>
          </a:ln>
        </p:spPr>
        <p:txBody>
          <a:bodyPr/>
          <a:lstStyle/>
          <a:p>
            <a:endParaRPr lang="fr-CA"/>
          </a:p>
        </p:txBody>
      </p:sp>
      <p:sp>
        <p:nvSpPr>
          <p:cNvPr id="30" name="Shape 14">
            <a:extLst>
              <a:ext uri="{FF2B5EF4-FFF2-40B4-BE49-F238E27FC236}">
                <a16:creationId xmlns:a16="http://schemas.microsoft.com/office/drawing/2014/main" id="{BB4DC018-09C5-D3E5-5565-825463489E01}"/>
              </a:ext>
            </a:extLst>
          </p:cNvPr>
          <p:cNvSpPr/>
          <p:nvPr/>
        </p:nvSpPr>
        <p:spPr>
          <a:xfrm>
            <a:off x="3054096" y="2864843"/>
            <a:ext cx="128016" cy="54864"/>
          </a:xfrm>
          <a:prstGeom prst="rect">
            <a:avLst/>
          </a:prstGeom>
          <a:solidFill>
            <a:srgbClr val="F59E0B"/>
          </a:solidFill>
          <a:ln w="12700">
            <a:solidFill>
              <a:srgbClr val="F59E0B"/>
            </a:solidFill>
            <a:prstDash val="solid"/>
          </a:ln>
        </p:spPr>
        <p:txBody>
          <a:bodyPr/>
          <a:lstStyle/>
          <a:p>
            <a:endParaRPr lang="fr-CA"/>
          </a:p>
        </p:txBody>
      </p:sp>
      <p:sp>
        <p:nvSpPr>
          <p:cNvPr id="31" name="Shape 14">
            <a:extLst>
              <a:ext uri="{FF2B5EF4-FFF2-40B4-BE49-F238E27FC236}">
                <a16:creationId xmlns:a16="http://schemas.microsoft.com/office/drawing/2014/main" id="{98200025-3932-324F-96B5-7DA62C3EE414}"/>
              </a:ext>
            </a:extLst>
          </p:cNvPr>
          <p:cNvSpPr/>
          <p:nvPr/>
        </p:nvSpPr>
        <p:spPr>
          <a:xfrm>
            <a:off x="4507993" y="2892275"/>
            <a:ext cx="128016" cy="54864"/>
          </a:xfrm>
          <a:prstGeom prst="rect">
            <a:avLst/>
          </a:prstGeom>
          <a:solidFill>
            <a:srgbClr val="F59E0B"/>
          </a:solidFill>
          <a:ln w="12700">
            <a:solidFill>
              <a:srgbClr val="F59E0B"/>
            </a:solidFill>
            <a:prstDash val="solid"/>
          </a:ln>
        </p:spPr>
        <p:txBody>
          <a:bodyPr/>
          <a:lstStyle/>
          <a:p>
            <a:endParaRPr lang="fr-CA"/>
          </a:p>
        </p:txBody>
      </p:sp>
      <p:sp>
        <p:nvSpPr>
          <p:cNvPr id="32" name="Shape 14">
            <a:extLst>
              <a:ext uri="{FF2B5EF4-FFF2-40B4-BE49-F238E27FC236}">
                <a16:creationId xmlns:a16="http://schemas.microsoft.com/office/drawing/2014/main" id="{C37DD40B-C288-1965-6019-A4D815BCEE59}"/>
              </a:ext>
            </a:extLst>
          </p:cNvPr>
          <p:cNvSpPr/>
          <p:nvPr/>
        </p:nvSpPr>
        <p:spPr>
          <a:xfrm>
            <a:off x="5984748" y="2892275"/>
            <a:ext cx="128016" cy="54864"/>
          </a:xfrm>
          <a:prstGeom prst="rect">
            <a:avLst/>
          </a:prstGeom>
          <a:solidFill>
            <a:srgbClr val="F59E0B"/>
          </a:solidFill>
          <a:ln w="12700">
            <a:solidFill>
              <a:srgbClr val="F59E0B"/>
            </a:solidFill>
            <a:prstDash val="solid"/>
          </a:ln>
        </p:spPr>
        <p:txBody>
          <a:bodyPr/>
          <a:lstStyle/>
          <a:p>
            <a:endParaRPr lang="fr-CA"/>
          </a:p>
        </p:txBody>
      </p:sp>
      <p:sp>
        <p:nvSpPr>
          <p:cNvPr id="33" name="Shape 14">
            <a:extLst>
              <a:ext uri="{FF2B5EF4-FFF2-40B4-BE49-F238E27FC236}">
                <a16:creationId xmlns:a16="http://schemas.microsoft.com/office/drawing/2014/main" id="{99870829-AE7D-3C64-C996-2C9FDAA3514D}"/>
              </a:ext>
            </a:extLst>
          </p:cNvPr>
          <p:cNvSpPr/>
          <p:nvPr/>
        </p:nvSpPr>
        <p:spPr>
          <a:xfrm>
            <a:off x="7424928" y="2892275"/>
            <a:ext cx="128016" cy="54864"/>
          </a:xfrm>
          <a:prstGeom prst="rect">
            <a:avLst/>
          </a:prstGeom>
          <a:solidFill>
            <a:srgbClr val="F59E0B"/>
          </a:solidFill>
          <a:ln w="12700">
            <a:solidFill>
              <a:srgbClr val="F59E0B"/>
            </a:solidFill>
            <a:prstDash val="solid"/>
          </a:ln>
        </p:spPr>
        <p:txBody>
          <a:bodyPr/>
          <a:lstStyle/>
          <a:p>
            <a:endParaRPr lang="fr-CA"/>
          </a:p>
        </p:txBody>
      </p:sp>
      <p:sp>
        <p:nvSpPr>
          <p:cNvPr id="40" name="Shape 44">
            <a:extLst>
              <a:ext uri="{FF2B5EF4-FFF2-40B4-BE49-F238E27FC236}">
                <a16:creationId xmlns:a16="http://schemas.microsoft.com/office/drawing/2014/main" id="{F11BA495-6395-E59E-311D-1DD314EF6CF1}"/>
              </a:ext>
            </a:extLst>
          </p:cNvPr>
          <p:cNvSpPr/>
          <p:nvPr/>
        </p:nvSpPr>
        <p:spPr>
          <a:xfrm>
            <a:off x="384048" y="3937462"/>
            <a:ext cx="8503920" cy="621792"/>
          </a:xfrm>
          <a:prstGeom prst="rect">
            <a:avLst/>
          </a:prstGeom>
          <a:solidFill>
            <a:srgbClr val="0D9488">
              <a:alpha val="12000"/>
            </a:srgbClr>
          </a:solidFill>
          <a:ln w="12700">
            <a:solidFill>
              <a:srgbClr val="0D9488"/>
            </a:solidFill>
            <a:prstDash val="solid"/>
          </a:ln>
        </p:spPr>
        <p:txBody>
          <a:bodyPr/>
          <a:lstStyle/>
          <a:p>
            <a:endParaRPr lang="fr-CA"/>
          </a:p>
        </p:txBody>
      </p:sp>
      <p:sp>
        <p:nvSpPr>
          <p:cNvPr id="41" name="Text 45">
            <a:extLst>
              <a:ext uri="{FF2B5EF4-FFF2-40B4-BE49-F238E27FC236}">
                <a16:creationId xmlns:a16="http://schemas.microsoft.com/office/drawing/2014/main" id="{D1713FB3-4291-C0EB-D701-5DDD24004E85}"/>
              </a:ext>
            </a:extLst>
          </p:cNvPr>
          <p:cNvSpPr/>
          <p:nvPr/>
        </p:nvSpPr>
        <p:spPr>
          <a:xfrm>
            <a:off x="658368" y="3955750"/>
            <a:ext cx="8229600" cy="585216"/>
          </a:xfrm>
          <a:prstGeom prst="rect">
            <a:avLst/>
          </a:prstGeom>
          <a:noFill/>
          <a:ln/>
        </p:spPr>
        <p:txBody>
          <a:bodyPr wrap="square" rtlCol="0" anchor="ctr"/>
          <a:lstStyle/>
          <a:p>
            <a:pPr marL="0" indent="0">
              <a:buNone/>
            </a:pPr>
            <a:r>
              <a:rPr lang="en-US" sz="1200" dirty="0">
                <a:solidFill>
                  <a:srgbClr val="1A2B5E"/>
                </a:solidFill>
                <a:latin typeface="Calibri" pitchFamily="34" charset="0"/>
                <a:ea typeface="Calibri" pitchFamily="34" charset="-122"/>
                <a:cs typeface="Calibri" pitchFamily="34" charset="-120"/>
              </a:rPr>
              <a:t>Données : Dataset public ISIC — diversité de phototypes, images annotées avec masques de référence</a:t>
            </a:r>
            <a:endParaRPr lang="en-US" sz="1200" dirty="0"/>
          </a:p>
        </p:txBody>
      </p:sp>
      <p:sp>
        <p:nvSpPr>
          <p:cNvPr id="42" name="Rectangle: Folded Corner 41">
            <a:extLst>
              <a:ext uri="{FF2B5EF4-FFF2-40B4-BE49-F238E27FC236}">
                <a16:creationId xmlns:a16="http://schemas.microsoft.com/office/drawing/2014/main" id="{FA64572A-B2D4-FE03-1484-0CEA7A15EF35}"/>
              </a:ext>
            </a:extLst>
          </p:cNvPr>
          <p:cNvSpPr/>
          <p:nvPr/>
        </p:nvSpPr>
        <p:spPr>
          <a:xfrm>
            <a:off x="8823960" y="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3" name="Shape 44">
            <a:extLst>
              <a:ext uri="{FF2B5EF4-FFF2-40B4-BE49-F238E27FC236}">
                <a16:creationId xmlns:a16="http://schemas.microsoft.com/office/drawing/2014/main" id="{1DE093AB-AF88-4423-18CA-5BECB18CA903}"/>
              </a:ext>
            </a:extLst>
          </p:cNvPr>
          <p:cNvSpPr/>
          <p:nvPr/>
        </p:nvSpPr>
        <p:spPr>
          <a:xfrm>
            <a:off x="274320" y="1069848"/>
            <a:ext cx="8503920" cy="621792"/>
          </a:xfrm>
          <a:prstGeom prst="rect">
            <a:avLst/>
          </a:prstGeom>
          <a:solidFill>
            <a:srgbClr val="0D9488">
              <a:alpha val="12000"/>
            </a:srgbClr>
          </a:solidFill>
          <a:ln w="12700">
            <a:solidFill>
              <a:srgbClr val="0D9488"/>
            </a:solidFill>
            <a:prstDash val="solid"/>
          </a:ln>
        </p:spPr>
        <p:txBody>
          <a:bodyPr/>
          <a:lstStyle/>
          <a:p>
            <a:r>
              <a:rPr lang="fr-CA" sz="1600" dirty="0">
                <a:solidFill>
                  <a:srgbClr val="1A2B5E"/>
                </a:solidFill>
                <a:latin typeface="Calibri" pitchFamily="34" charset="0"/>
                <a:ea typeface="Calibri" pitchFamily="34" charset="-122"/>
                <a:cs typeface="Calibri" pitchFamily="34" charset="-120"/>
              </a:rPr>
              <a:t>Développer un système d'IA capable de segmenter automatiquement les lésions cutanées et d'en extraire des mesures quantitatives utiles au diagnostic. </a:t>
            </a:r>
          </a:p>
        </p:txBody>
      </p:sp>
    </p:spTree>
    <p:extLst>
      <p:ext uri="{BB962C8B-B14F-4D97-AF65-F5344CB8AC3E}">
        <p14:creationId xmlns:p14="http://schemas.microsoft.com/office/powerpoint/2010/main" val="3421097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82D07EF-9177-29C3-DFC0-5E69028EB010}"/>
              </a:ext>
            </a:extLst>
          </p:cNvPr>
          <p:cNvPicPr>
            <a:picLocks noChangeAspect="1"/>
          </p:cNvPicPr>
          <p:nvPr/>
        </p:nvPicPr>
        <p:blipFill>
          <a:blip r:embed="rId2"/>
          <a:stretch>
            <a:fillRect/>
          </a:stretch>
        </p:blipFill>
        <p:spPr>
          <a:xfrm>
            <a:off x="371872" y="232966"/>
            <a:ext cx="8539479" cy="4227043"/>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309F77-E773-D9AE-6C63-CAF64430FDA2}"/>
              </a:ext>
            </a:extLst>
          </p:cNvPr>
          <p:cNvSpPr txBox="1"/>
          <p:nvPr/>
        </p:nvSpPr>
        <p:spPr>
          <a:xfrm>
            <a:off x="2286000" y="2387084"/>
            <a:ext cx="4572000" cy="369332"/>
          </a:xfrm>
          <a:prstGeom prst="rect">
            <a:avLst/>
          </a:prstGeom>
          <a:noFill/>
        </p:spPr>
        <p:txBody>
          <a:bodyPr wrap="square">
            <a:spAutoFit/>
          </a:bodyPr>
          <a:lstStyle/>
          <a:p>
            <a:endParaRPr lang="fr-CA" dirty="0"/>
          </a:p>
        </p:txBody>
      </p:sp>
      <p:sp>
        <p:nvSpPr>
          <p:cNvPr id="6" name="Rectangle: Folded Corner 5">
            <a:extLst>
              <a:ext uri="{FF2B5EF4-FFF2-40B4-BE49-F238E27FC236}">
                <a16:creationId xmlns:a16="http://schemas.microsoft.com/office/drawing/2014/main" id="{DFEE6D82-C31D-F529-26DE-1355D94E36E3}"/>
              </a:ext>
            </a:extLst>
          </p:cNvPr>
          <p:cNvSpPr/>
          <p:nvPr/>
        </p:nvSpPr>
        <p:spPr>
          <a:xfrm>
            <a:off x="8823960" y="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pic>
        <p:nvPicPr>
          <p:cNvPr id="8" name="Picture 7" descr="propulsé par l'IA nuage l'informatique et Les données espace de rangement  solutions icône ensemble avec intégré artificiel intelligence et machine  apprentissage capacités. illustrer plat conception style. 67550486 Art  vectoriel chez Vecteezy">
            <a:extLst>
              <a:ext uri="{FF2B5EF4-FFF2-40B4-BE49-F238E27FC236}">
                <a16:creationId xmlns:a16="http://schemas.microsoft.com/office/drawing/2014/main" id="{1BFA35C8-07B3-433C-917E-493915352DE1}"/>
              </a:ext>
            </a:extLst>
          </p:cNvPr>
          <p:cNvPicPr>
            <a:picLocks noChangeAspect="1"/>
          </p:cNvPicPr>
          <p:nvPr/>
        </p:nvPicPr>
        <p:blipFill>
          <a:blip r:embed="rId3"/>
          <a:stretch>
            <a:fillRect/>
          </a:stretch>
        </p:blipFill>
        <p:spPr>
          <a:xfrm>
            <a:off x="2699409" y="3843445"/>
            <a:ext cx="2095500" cy="1300055"/>
          </a:xfrm>
          <a:prstGeom prst="rect">
            <a:avLst/>
          </a:prstGeom>
        </p:spPr>
      </p:pic>
      <p:sp>
        <p:nvSpPr>
          <p:cNvPr id="4" name="Shape 0">
            <a:extLst>
              <a:ext uri="{FF2B5EF4-FFF2-40B4-BE49-F238E27FC236}">
                <a16:creationId xmlns:a16="http://schemas.microsoft.com/office/drawing/2014/main" id="{EEB17C2B-865A-5FE3-05F7-1F392E950987}"/>
              </a:ext>
            </a:extLst>
          </p:cNvPr>
          <p:cNvSpPr/>
          <p:nvPr/>
        </p:nvSpPr>
        <p:spPr>
          <a:xfrm>
            <a:off x="-1" y="12060"/>
            <a:ext cx="9144000" cy="814004"/>
          </a:xfrm>
          <a:prstGeom prst="rect">
            <a:avLst/>
          </a:prstGeom>
          <a:solidFill>
            <a:srgbClr val="1A2B5E"/>
          </a:solidFill>
          <a:ln w="12700">
            <a:solidFill>
              <a:srgbClr val="1A2B5E"/>
            </a:solidFill>
            <a:prstDash val="solid"/>
          </a:ln>
        </p:spPr>
        <p:txBody>
          <a:bodyPr/>
          <a:lstStyle/>
          <a:p>
            <a:r>
              <a:rPr lang="fr-CA" sz="3200" dirty="0">
                <a:solidFill>
                  <a:schemeClr val="bg1"/>
                </a:solidFill>
              </a:rPr>
              <a:t>06 .Besoin pour une chaîne CI/CD</a:t>
            </a:r>
          </a:p>
          <a:p>
            <a:br>
              <a:rPr lang="fr-CA" dirty="0"/>
            </a:br>
            <a:endParaRPr lang="fr-CA" dirty="0"/>
          </a:p>
        </p:txBody>
      </p:sp>
    </p:spTree>
    <p:extLst>
      <p:ext uri="{BB962C8B-B14F-4D97-AF65-F5344CB8AC3E}">
        <p14:creationId xmlns:p14="http://schemas.microsoft.com/office/powerpoint/2010/main" val="2848072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BEB8612-51CB-ED91-3C92-EFCF9FCAE275}"/>
              </a:ext>
            </a:extLst>
          </p:cNvPr>
          <p:cNvPicPr>
            <a:picLocks noChangeAspect="1"/>
          </p:cNvPicPr>
          <p:nvPr/>
        </p:nvPicPr>
        <p:blipFill>
          <a:blip r:embed="rId2"/>
          <a:stretch>
            <a:fillRect/>
          </a:stretch>
        </p:blipFill>
        <p:spPr>
          <a:xfrm>
            <a:off x="155945" y="43955"/>
            <a:ext cx="8832109" cy="4416054"/>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0">
            <a:extLst>
              <a:ext uri="{FF2B5EF4-FFF2-40B4-BE49-F238E27FC236}">
                <a16:creationId xmlns:a16="http://schemas.microsoft.com/office/drawing/2014/main" id="{8054F615-69F5-25A7-4256-134A4B559884}"/>
              </a:ext>
            </a:extLst>
          </p:cNvPr>
          <p:cNvSpPr/>
          <p:nvPr/>
        </p:nvSpPr>
        <p:spPr>
          <a:xfrm>
            <a:off x="-1" y="12060"/>
            <a:ext cx="9144000" cy="814004"/>
          </a:xfrm>
          <a:prstGeom prst="rect">
            <a:avLst/>
          </a:prstGeom>
          <a:solidFill>
            <a:srgbClr val="1A2B5E"/>
          </a:solidFill>
          <a:ln w="12700">
            <a:solidFill>
              <a:srgbClr val="1A2B5E"/>
            </a:solidFill>
            <a:prstDash val="solid"/>
          </a:ln>
        </p:spPr>
        <p:txBody>
          <a:bodyPr/>
          <a:lstStyle/>
          <a:p>
            <a:r>
              <a:rPr lang="fr-CA" sz="3200" dirty="0">
                <a:solidFill>
                  <a:schemeClr val="bg1"/>
                </a:solidFill>
              </a:rPr>
              <a:t>07 .Composantes de la chaîne CI/CD</a:t>
            </a:r>
          </a:p>
          <a:p>
            <a:br>
              <a:rPr lang="fr-CA" dirty="0"/>
            </a:br>
            <a:endParaRPr lang="fr-CA" dirty="0"/>
          </a:p>
        </p:txBody>
      </p:sp>
    </p:spTree>
    <p:extLst>
      <p:ext uri="{BB962C8B-B14F-4D97-AF65-F5344CB8AC3E}">
        <p14:creationId xmlns:p14="http://schemas.microsoft.com/office/powerpoint/2010/main" val="3863039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9CBBBD2-4133-0BA4-6523-84CF237AF0A6}"/>
              </a:ext>
            </a:extLst>
          </p:cNvPr>
          <p:cNvSpPr/>
          <p:nvPr/>
        </p:nvSpPr>
        <p:spPr>
          <a:xfrm>
            <a:off x="0" y="91687"/>
            <a:ext cx="9144000" cy="548640"/>
          </a:xfrm>
          <a:prstGeom prst="rect">
            <a:avLst/>
          </a:prstGeom>
          <a:solidFill>
            <a:schemeClr val="bg1">
              <a:lumMod val="95000"/>
            </a:schemeClr>
          </a:solidFill>
          <a:ln/>
        </p:spPr>
        <p:txBody>
          <a:bodyPr wrap="square" rtlCol="0" anchor="ctr"/>
          <a:lstStyle/>
          <a:p>
            <a:r>
              <a:rPr lang="en-US" sz="2800" b="1" dirty="0">
                <a:latin typeface="Calibri" pitchFamily="34" charset="0"/>
                <a:ea typeface="Calibri" pitchFamily="34" charset="-122"/>
                <a:cs typeface="Calibri" pitchFamily="34" charset="-120"/>
              </a:rPr>
              <a:t>08. </a:t>
            </a:r>
            <a:r>
              <a:rPr lang="en-US" sz="2800" b="1" dirty="0" err="1">
                <a:latin typeface="Calibri" pitchFamily="34" charset="0"/>
                <a:ea typeface="Calibri" pitchFamily="34" charset="-122"/>
                <a:cs typeface="Calibri" pitchFamily="34" charset="-120"/>
              </a:rPr>
              <a:t>Contraintes</a:t>
            </a:r>
            <a:r>
              <a:rPr lang="en-US" sz="2800" b="1" dirty="0">
                <a:latin typeface="Calibri" pitchFamily="34" charset="0"/>
                <a:ea typeface="Calibri" pitchFamily="34" charset="-122"/>
                <a:cs typeface="Calibri" pitchFamily="34" charset="-120"/>
              </a:rPr>
              <a:t> </a:t>
            </a:r>
            <a:r>
              <a:rPr lang="en-US" sz="2800" b="1" dirty="0" err="1">
                <a:latin typeface="Calibri" pitchFamily="34" charset="0"/>
                <a:ea typeface="Calibri" pitchFamily="34" charset="-122"/>
                <a:cs typeface="Calibri" pitchFamily="34" charset="-120"/>
              </a:rPr>
              <a:t>rencontr</a:t>
            </a:r>
            <a:r>
              <a:rPr lang="fr-CA" sz="2800" b="1" dirty="0">
                <a:latin typeface="Calibri" pitchFamily="34" charset="0"/>
                <a:ea typeface="Calibri" pitchFamily="34" charset="-122"/>
                <a:cs typeface="Calibri" pitchFamily="34" charset="-120"/>
              </a:rPr>
              <a:t>é</a:t>
            </a:r>
            <a:r>
              <a:rPr lang="en-US" sz="2800" b="1" dirty="0">
                <a:latin typeface="Calibri" pitchFamily="34" charset="0"/>
                <a:ea typeface="Calibri" pitchFamily="34" charset="-122"/>
                <a:cs typeface="Calibri" pitchFamily="34" charset="-120"/>
              </a:rPr>
              <a:t>es </a:t>
            </a:r>
          </a:p>
        </p:txBody>
      </p:sp>
      <p:sp>
        <p:nvSpPr>
          <p:cNvPr id="4" name="Shape 0">
            <a:extLst>
              <a:ext uri="{FF2B5EF4-FFF2-40B4-BE49-F238E27FC236}">
                <a16:creationId xmlns:a16="http://schemas.microsoft.com/office/drawing/2014/main" id="{D7A45EDB-07A9-9E9C-47A0-7CFD162C62B0}"/>
              </a:ext>
            </a:extLst>
          </p:cNvPr>
          <p:cNvSpPr/>
          <p:nvPr/>
        </p:nvSpPr>
        <p:spPr>
          <a:xfrm>
            <a:off x="0" y="0"/>
            <a:ext cx="9144000" cy="76200"/>
          </a:xfrm>
          <a:prstGeom prst="rect">
            <a:avLst/>
          </a:prstGeom>
          <a:solidFill>
            <a:srgbClr val="00B4D8"/>
          </a:solidFill>
          <a:ln/>
        </p:spPr>
        <p:txBody>
          <a:bodyPr/>
          <a:lstStyle/>
          <a:p>
            <a:endParaRPr lang="fr-CA"/>
          </a:p>
        </p:txBody>
      </p:sp>
      <p:pic>
        <p:nvPicPr>
          <p:cNvPr id="6" name="Picture 5">
            <a:extLst>
              <a:ext uri="{FF2B5EF4-FFF2-40B4-BE49-F238E27FC236}">
                <a16:creationId xmlns:a16="http://schemas.microsoft.com/office/drawing/2014/main" id="{6366EE8B-5039-ABB0-770C-391433AA60CD}"/>
              </a:ext>
            </a:extLst>
          </p:cNvPr>
          <p:cNvPicPr>
            <a:picLocks noChangeAspect="1"/>
          </p:cNvPicPr>
          <p:nvPr/>
        </p:nvPicPr>
        <p:blipFill>
          <a:blip r:embed="rId3"/>
          <a:stretch>
            <a:fillRect/>
          </a:stretch>
        </p:blipFill>
        <p:spPr>
          <a:xfrm>
            <a:off x="83820" y="640327"/>
            <a:ext cx="4648200" cy="4381006"/>
          </a:xfrm>
          <a:prstGeom prst="rect">
            <a:avLst/>
          </a:prstGeom>
          <a:ln>
            <a:noFill/>
          </a:ln>
          <a:effectLst>
            <a:outerShdw blurRad="292100" dist="139700" dir="2700000" algn="tl" rotWithShape="0">
              <a:srgbClr val="333333">
                <a:alpha val="65000"/>
              </a:srgbClr>
            </a:outerShdw>
          </a:effectLst>
        </p:spPr>
      </p:pic>
      <p:pic>
        <p:nvPicPr>
          <p:cNvPr id="7" name="Picture 6" descr="11 common shipping container types I Bison Blog">
            <a:extLst>
              <a:ext uri="{FF2B5EF4-FFF2-40B4-BE49-F238E27FC236}">
                <a16:creationId xmlns:a16="http://schemas.microsoft.com/office/drawing/2014/main" id="{DCDFEE73-7B56-1D33-D8F1-9AC3014652D4}"/>
              </a:ext>
            </a:extLst>
          </p:cNvPr>
          <p:cNvPicPr>
            <a:picLocks noChangeAspect="1"/>
          </p:cNvPicPr>
          <p:nvPr/>
        </p:nvPicPr>
        <p:blipFill>
          <a:blip r:embed="rId4"/>
          <a:stretch>
            <a:fillRect/>
          </a:stretch>
        </p:blipFill>
        <p:spPr>
          <a:xfrm>
            <a:off x="4914900" y="1282188"/>
            <a:ext cx="3619500" cy="302133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9" name="Rectangle: Folded Corner 8">
            <a:extLst>
              <a:ext uri="{FF2B5EF4-FFF2-40B4-BE49-F238E27FC236}">
                <a16:creationId xmlns:a16="http://schemas.microsoft.com/office/drawing/2014/main" id="{6A0C8A36-0031-3142-E09D-7A8CF053B1E8}"/>
              </a:ext>
            </a:extLst>
          </p:cNvPr>
          <p:cNvSpPr/>
          <p:nvPr/>
        </p:nvSpPr>
        <p:spPr>
          <a:xfrm>
            <a:off x="8823960" y="7620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spTree>
    <p:extLst>
      <p:ext uri="{BB962C8B-B14F-4D97-AF65-F5344CB8AC3E}">
        <p14:creationId xmlns:p14="http://schemas.microsoft.com/office/powerpoint/2010/main" val="2657768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DF4AC7E-5A24-9AF5-2003-10A82106467E}"/>
              </a:ext>
            </a:extLst>
          </p:cNvPr>
          <p:cNvSpPr/>
          <p:nvPr/>
        </p:nvSpPr>
        <p:spPr>
          <a:xfrm>
            <a:off x="0" y="21059"/>
            <a:ext cx="9144000" cy="914400"/>
          </a:xfrm>
          <a:prstGeom prst="rect">
            <a:avLst/>
          </a:prstGeom>
          <a:solidFill>
            <a:srgbClr val="0D9488"/>
          </a:solidFill>
          <a:ln w="12700">
            <a:solidFill>
              <a:srgbClr val="0D9488"/>
            </a:solidFill>
            <a:prstDash val="solid"/>
          </a:ln>
        </p:spPr>
        <p:txBody>
          <a:bodyPr/>
          <a:lstStyle/>
          <a:p>
            <a:endParaRPr lang="fr-CA" dirty="0"/>
          </a:p>
        </p:txBody>
      </p:sp>
      <p:sp>
        <p:nvSpPr>
          <p:cNvPr id="3" name="Text 2">
            <a:extLst>
              <a:ext uri="{FF2B5EF4-FFF2-40B4-BE49-F238E27FC236}">
                <a16:creationId xmlns:a16="http://schemas.microsoft.com/office/drawing/2014/main" id="{E7534A4C-6905-351F-DC92-F9529B59628A}"/>
              </a:ext>
            </a:extLst>
          </p:cNvPr>
          <p:cNvSpPr/>
          <p:nvPr/>
        </p:nvSpPr>
        <p:spPr>
          <a:xfrm>
            <a:off x="365760" y="0"/>
            <a:ext cx="8412480" cy="914400"/>
          </a:xfrm>
          <a:prstGeom prst="rect">
            <a:avLst/>
          </a:prstGeom>
          <a:noFill/>
          <a:ln/>
        </p:spPr>
        <p:txBody>
          <a:bodyPr wrap="square" rtlCol="0" anchor="ctr"/>
          <a:lstStyle/>
          <a:p>
            <a:r>
              <a:rPr lang="en-US" sz="2600" b="1" dirty="0">
                <a:solidFill>
                  <a:srgbClr val="FFFFFF"/>
                </a:solidFill>
                <a:latin typeface="Trebuchet MS" pitchFamily="34" charset="0"/>
                <a:ea typeface="Trebuchet MS" pitchFamily="34" charset="-122"/>
                <a:cs typeface="Trebuchet MS" pitchFamily="34" charset="-120"/>
              </a:rPr>
              <a:t>09  ·  </a:t>
            </a:r>
            <a:r>
              <a:rPr lang="en-US" sz="2600" b="1" dirty="0">
                <a:solidFill>
                  <a:srgbClr val="FFFFFF"/>
                </a:solidFill>
                <a:latin typeface="Trebuchet MS" pitchFamily="34" charset="0"/>
              </a:rPr>
              <a:t>Comp</a:t>
            </a:r>
            <a:r>
              <a:rPr lang="fr-CA" sz="2600" b="1" dirty="0">
                <a:solidFill>
                  <a:srgbClr val="FFFFFF"/>
                </a:solidFill>
                <a:latin typeface="Trebuchet MS" pitchFamily="34" charset="0"/>
              </a:rPr>
              <a:t>é</a:t>
            </a:r>
            <a:r>
              <a:rPr lang="en-US" sz="2600" b="1" dirty="0" err="1">
                <a:solidFill>
                  <a:srgbClr val="FFFFFF"/>
                </a:solidFill>
                <a:latin typeface="Trebuchet MS" pitchFamily="34" charset="0"/>
              </a:rPr>
              <a:t>t</a:t>
            </a:r>
            <a:r>
              <a:rPr lang="en-US" sz="2600" b="1" dirty="0" err="1">
                <a:solidFill>
                  <a:srgbClr val="FFFFFF"/>
                </a:solidFill>
                <a:latin typeface="Trebuchet MS" pitchFamily="34" charset="0"/>
                <a:ea typeface="Trebuchet MS" pitchFamily="34" charset="-122"/>
                <a:cs typeface="Trebuchet MS" pitchFamily="34" charset="-120"/>
              </a:rPr>
              <a:t>ences</a:t>
            </a:r>
            <a:r>
              <a:rPr lang="en-US" sz="2600" b="1" dirty="0">
                <a:solidFill>
                  <a:srgbClr val="FFFFFF"/>
                </a:solidFill>
                <a:latin typeface="Trebuchet MS" pitchFamily="34" charset="0"/>
                <a:ea typeface="Trebuchet MS" pitchFamily="34" charset="-122"/>
                <a:cs typeface="Trebuchet MS" pitchFamily="34" charset="-120"/>
              </a:rPr>
              <a:t> </a:t>
            </a:r>
            <a:r>
              <a:rPr lang="en-US" sz="2600" b="1" dirty="0" err="1">
                <a:solidFill>
                  <a:srgbClr val="FFFFFF"/>
                </a:solidFill>
                <a:latin typeface="Trebuchet MS" pitchFamily="34" charset="0"/>
                <a:ea typeface="Trebuchet MS" pitchFamily="34" charset="-122"/>
                <a:cs typeface="Trebuchet MS" pitchFamily="34" charset="-120"/>
              </a:rPr>
              <a:t>acquises</a:t>
            </a:r>
            <a:r>
              <a:rPr lang="en-US" sz="2600" b="1" dirty="0">
                <a:solidFill>
                  <a:srgbClr val="FFFFFF"/>
                </a:solidFill>
                <a:latin typeface="Trebuchet MS" pitchFamily="34" charset="0"/>
                <a:ea typeface="Trebuchet MS" pitchFamily="34" charset="-122"/>
                <a:cs typeface="Trebuchet MS" pitchFamily="34" charset="-120"/>
              </a:rPr>
              <a:t> </a:t>
            </a:r>
            <a:endParaRPr lang="en-US" sz="2600" dirty="0"/>
          </a:p>
        </p:txBody>
      </p:sp>
      <p:sp>
        <p:nvSpPr>
          <p:cNvPr id="4" name="Shape 1">
            <a:extLst>
              <a:ext uri="{FF2B5EF4-FFF2-40B4-BE49-F238E27FC236}">
                <a16:creationId xmlns:a16="http://schemas.microsoft.com/office/drawing/2014/main" id="{40743332-8634-686C-D649-D772E248373D}"/>
              </a:ext>
            </a:extLst>
          </p:cNvPr>
          <p:cNvSpPr/>
          <p:nvPr/>
        </p:nvSpPr>
        <p:spPr>
          <a:xfrm>
            <a:off x="0" y="914400"/>
            <a:ext cx="9144000" cy="54864"/>
          </a:xfrm>
          <a:prstGeom prst="rect">
            <a:avLst/>
          </a:prstGeom>
          <a:solidFill>
            <a:srgbClr val="F59E0B"/>
          </a:solidFill>
          <a:ln w="12700">
            <a:solidFill>
              <a:srgbClr val="F59E0B"/>
            </a:solidFill>
            <a:prstDash val="solid"/>
          </a:ln>
        </p:spPr>
        <p:txBody>
          <a:bodyPr/>
          <a:lstStyle/>
          <a:p>
            <a:endParaRPr lang="fr-CA"/>
          </a:p>
        </p:txBody>
      </p:sp>
      <p:graphicFrame>
        <p:nvGraphicFramePr>
          <p:cNvPr id="10" name="Diagram 9">
            <a:extLst>
              <a:ext uri="{FF2B5EF4-FFF2-40B4-BE49-F238E27FC236}">
                <a16:creationId xmlns:a16="http://schemas.microsoft.com/office/drawing/2014/main" id="{51E764AD-F788-87C7-3471-FF4B1C82C32B}"/>
              </a:ext>
            </a:extLst>
          </p:cNvPr>
          <p:cNvGraphicFramePr/>
          <p:nvPr>
            <p:extLst>
              <p:ext uri="{D42A27DB-BD31-4B8C-83A1-F6EECF244321}">
                <p14:modId xmlns:p14="http://schemas.microsoft.com/office/powerpoint/2010/main" val="997301541"/>
              </p:ext>
            </p:extLst>
          </p:nvPr>
        </p:nvGraphicFramePr>
        <p:xfrm>
          <a:off x="238298" y="487680"/>
          <a:ext cx="8412480" cy="48435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6321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0B4D8">
              <a:alpha val="10000"/>
            </a:srgbClr>
          </a:solidFill>
          <a:ln w="12700">
            <a:solidFill>
              <a:srgbClr val="00B4D8">
                <a:alpha val="20000"/>
              </a:srgbClr>
            </a:solidFill>
            <a:prstDash val="solid"/>
          </a:ln>
        </p:spPr>
        <p:txBody>
          <a:bodyPr/>
          <a:lstStyle/>
          <a:p>
            <a:endParaRPr lang="fr-CA"/>
          </a:p>
        </p:txBody>
      </p:sp>
      <p:sp>
        <p:nvSpPr>
          <p:cNvPr id="3" name="Shape 1"/>
          <p:cNvSpPr/>
          <p:nvPr/>
        </p:nvSpPr>
        <p:spPr>
          <a:xfrm>
            <a:off x="6400800" y="2286000"/>
            <a:ext cx="3657600" cy="3657600"/>
          </a:xfrm>
          <a:prstGeom prst="ellipse">
            <a:avLst/>
          </a:prstGeom>
          <a:solidFill>
            <a:srgbClr val="06D6A0">
              <a:alpha val="10000"/>
            </a:srgbClr>
          </a:solidFill>
          <a:ln w="12700">
            <a:solidFill>
              <a:srgbClr val="06D6A0">
                <a:alpha val="20000"/>
              </a:srgbClr>
            </a:solidFill>
            <a:prstDash val="solid"/>
          </a:ln>
        </p:spPr>
        <p:txBody>
          <a:bodyPr/>
          <a:lstStyle/>
          <a:p>
            <a:endParaRPr lang="fr-CA"/>
          </a:p>
        </p:txBody>
      </p:sp>
      <p:sp>
        <p:nvSpPr>
          <p:cNvPr id="4" name="Shape 2"/>
          <p:cNvSpPr/>
          <p:nvPr/>
        </p:nvSpPr>
        <p:spPr>
          <a:xfrm>
            <a:off x="0" y="0"/>
            <a:ext cx="109728" cy="5143500"/>
          </a:xfrm>
          <a:prstGeom prst="rect">
            <a:avLst/>
          </a:prstGeom>
          <a:solidFill>
            <a:srgbClr val="06D6A0"/>
          </a:solidFill>
          <a:ln/>
        </p:spPr>
        <p:txBody>
          <a:bodyPr/>
          <a:lstStyle/>
          <a:p>
            <a:endParaRPr lang="fr-CA"/>
          </a:p>
        </p:txBody>
      </p:sp>
      <p:sp>
        <p:nvSpPr>
          <p:cNvPr id="5" name="Text 3"/>
          <p:cNvSpPr/>
          <p:nvPr/>
        </p:nvSpPr>
        <p:spPr>
          <a:xfrm>
            <a:off x="457200" y="548640"/>
            <a:ext cx="822960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10. Conclusion</a:t>
            </a:r>
            <a:endParaRPr lang="en-US" sz="3600" dirty="0"/>
          </a:p>
        </p:txBody>
      </p:sp>
      <p:sp>
        <p:nvSpPr>
          <p:cNvPr id="6" name="Text 4"/>
          <p:cNvSpPr/>
          <p:nvPr/>
        </p:nvSpPr>
        <p:spPr>
          <a:xfrm>
            <a:off x="457200" y="1325880"/>
            <a:ext cx="8046720" cy="822960"/>
          </a:xfrm>
          <a:prstGeom prst="rect">
            <a:avLst/>
          </a:prstGeom>
          <a:noFill/>
          <a:ln/>
        </p:spPr>
        <p:txBody>
          <a:bodyPr wrap="square" rtlCol="0" anchor="ctr"/>
          <a:lstStyle/>
          <a:p>
            <a:pPr marL="0" indent="0">
              <a:buNone/>
            </a:pPr>
            <a:r>
              <a:rPr lang="en-US" sz="1500" dirty="0">
                <a:solidFill>
                  <a:srgbClr val="E8F4F8"/>
                </a:solidFill>
                <a:latin typeface="Calibri" pitchFamily="34" charset="0"/>
                <a:ea typeface="Calibri" pitchFamily="34" charset="-122"/>
                <a:cs typeface="Calibri" pitchFamily="34" charset="-120"/>
              </a:rPr>
              <a:t>Ce projet met en œuvre des techniques avancées de vision par ordinateur</a:t>
            </a:r>
            <a:endParaRPr lang="en-US" sz="1500" dirty="0"/>
          </a:p>
          <a:p>
            <a:pPr marL="0" indent="0">
              <a:buNone/>
            </a:pPr>
            <a:r>
              <a:rPr lang="en-US" sz="1500" dirty="0">
                <a:solidFill>
                  <a:srgbClr val="E8F4F8"/>
                </a:solidFill>
                <a:latin typeface="Calibri" pitchFamily="34" charset="0"/>
                <a:ea typeface="Calibri" pitchFamily="34" charset="-122"/>
                <a:cs typeface="Calibri" pitchFamily="34" charset="-120"/>
              </a:rPr>
              <a:t>pour analyser automatiquement des images de lésions cutanées.</a:t>
            </a:r>
            <a:endParaRPr lang="en-US" sz="1500" dirty="0"/>
          </a:p>
        </p:txBody>
      </p:sp>
      <p:sp>
        <p:nvSpPr>
          <p:cNvPr id="7" name="Shape 5"/>
          <p:cNvSpPr/>
          <p:nvPr/>
        </p:nvSpPr>
        <p:spPr>
          <a:xfrm>
            <a:off x="457200" y="2331720"/>
            <a:ext cx="2606040" cy="173736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8" name="Shape 6"/>
          <p:cNvSpPr/>
          <p:nvPr/>
        </p:nvSpPr>
        <p:spPr>
          <a:xfrm>
            <a:off x="457200" y="2331720"/>
            <a:ext cx="2606040" cy="64008"/>
          </a:xfrm>
          <a:prstGeom prst="rect">
            <a:avLst/>
          </a:prstGeom>
          <a:solidFill>
            <a:srgbClr val="00B4D8"/>
          </a:solidFill>
          <a:ln/>
        </p:spPr>
        <p:txBody>
          <a:bodyPr/>
          <a:lstStyle/>
          <a:p>
            <a:endParaRPr lang="fr-CA"/>
          </a:p>
        </p:txBody>
      </p:sp>
      <p:sp>
        <p:nvSpPr>
          <p:cNvPr id="9" name="Text 7"/>
          <p:cNvSpPr/>
          <p:nvPr/>
        </p:nvSpPr>
        <p:spPr>
          <a:xfrm>
            <a:off x="457200" y="2423160"/>
            <a:ext cx="26060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594360" y="3108960"/>
            <a:ext cx="2331720" cy="36576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IA appliquée</a:t>
            </a:r>
            <a:endParaRPr lang="en-US" sz="1200" dirty="0"/>
          </a:p>
        </p:txBody>
      </p:sp>
      <p:sp>
        <p:nvSpPr>
          <p:cNvPr id="11" name="Text 9"/>
          <p:cNvSpPr/>
          <p:nvPr/>
        </p:nvSpPr>
        <p:spPr>
          <a:xfrm>
            <a:off x="594360" y="3493008"/>
            <a:ext cx="2331720" cy="502920"/>
          </a:xfrm>
          <a:prstGeom prst="rect">
            <a:avLst/>
          </a:prstGeom>
          <a:noFill/>
          <a:ln/>
        </p:spPr>
        <p:txBody>
          <a:bodyPr wrap="square" rtlCol="0" anchor="ctr"/>
          <a:lstStyle/>
          <a:p>
            <a:pPr marL="0" indent="0" algn="ctr">
              <a:buNone/>
            </a:pPr>
            <a:r>
              <a:rPr lang="en-US" sz="1000" dirty="0">
                <a:solidFill>
                  <a:srgbClr val="8EAFC2"/>
                </a:solidFill>
                <a:latin typeface="Calibri" pitchFamily="34" charset="0"/>
                <a:ea typeface="Calibri" pitchFamily="34" charset="-122"/>
                <a:cs typeface="Calibri" pitchFamily="34" charset="-120"/>
              </a:rPr>
              <a:t>YOLOv8 pour la segmentation d'instance médicale</a:t>
            </a:r>
            <a:endParaRPr lang="en-US" sz="1000" dirty="0"/>
          </a:p>
        </p:txBody>
      </p:sp>
      <p:sp>
        <p:nvSpPr>
          <p:cNvPr id="12" name="Shape 10"/>
          <p:cNvSpPr/>
          <p:nvPr/>
        </p:nvSpPr>
        <p:spPr>
          <a:xfrm>
            <a:off x="3291840" y="2331720"/>
            <a:ext cx="2606040" cy="173736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3" name="Shape 11"/>
          <p:cNvSpPr/>
          <p:nvPr/>
        </p:nvSpPr>
        <p:spPr>
          <a:xfrm>
            <a:off x="3291840" y="2331720"/>
            <a:ext cx="2606040" cy="64008"/>
          </a:xfrm>
          <a:prstGeom prst="rect">
            <a:avLst/>
          </a:prstGeom>
          <a:solidFill>
            <a:srgbClr val="00B4D8"/>
          </a:solidFill>
          <a:ln/>
        </p:spPr>
        <p:txBody>
          <a:bodyPr/>
          <a:lstStyle/>
          <a:p>
            <a:endParaRPr lang="fr-CA"/>
          </a:p>
        </p:txBody>
      </p:sp>
      <p:sp>
        <p:nvSpPr>
          <p:cNvPr id="14" name="Text 12"/>
          <p:cNvSpPr/>
          <p:nvPr/>
        </p:nvSpPr>
        <p:spPr>
          <a:xfrm>
            <a:off x="3291840" y="2423160"/>
            <a:ext cx="26060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3429000" y="3108960"/>
            <a:ext cx="2331720" cy="36576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Métriques fiables</a:t>
            </a:r>
            <a:endParaRPr lang="en-US" sz="1200" dirty="0"/>
          </a:p>
        </p:txBody>
      </p:sp>
      <p:sp>
        <p:nvSpPr>
          <p:cNvPr id="16" name="Text 14"/>
          <p:cNvSpPr/>
          <p:nvPr/>
        </p:nvSpPr>
        <p:spPr>
          <a:xfrm>
            <a:off x="3429000" y="3493008"/>
            <a:ext cx="2331720" cy="502920"/>
          </a:xfrm>
          <a:prstGeom prst="rect">
            <a:avLst/>
          </a:prstGeom>
          <a:noFill/>
          <a:ln/>
        </p:spPr>
        <p:txBody>
          <a:bodyPr wrap="square" rtlCol="0" anchor="ctr"/>
          <a:lstStyle/>
          <a:p>
            <a:pPr marL="0" indent="0" algn="ctr">
              <a:buNone/>
            </a:pPr>
            <a:r>
              <a:rPr lang="en-US" sz="1000" dirty="0">
                <a:solidFill>
                  <a:srgbClr val="8EAFC2"/>
                </a:solidFill>
                <a:latin typeface="Calibri" pitchFamily="34" charset="0"/>
                <a:ea typeface="Calibri" pitchFamily="34" charset="-122"/>
                <a:cs typeface="Calibri" pitchFamily="34" charset="-120"/>
              </a:rPr>
              <a:t>Aire, périmètre, circularité et score de sévérité</a:t>
            </a:r>
            <a:endParaRPr lang="en-US" sz="1000" dirty="0"/>
          </a:p>
        </p:txBody>
      </p:sp>
      <p:sp>
        <p:nvSpPr>
          <p:cNvPr id="17" name="Shape 15"/>
          <p:cNvSpPr/>
          <p:nvPr/>
        </p:nvSpPr>
        <p:spPr>
          <a:xfrm>
            <a:off x="6126480" y="2331720"/>
            <a:ext cx="2606040" cy="173736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8" name="Shape 16"/>
          <p:cNvSpPr/>
          <p:nvPr/>
        </p:nvSpPr>
        <p:spPr>
          <a:xfrm>
            <a:off x="6126480" y="2331720"/>
            <a:ext cx="2606040" cy="64008"/>
          </a:xfrm>
          <a:prstGeom prst="rect">
            <a:avLst/>
          </a:prstGeom>
          <a:solidFill>
            <a:srgbClr val="00B4D8"/>
          </a:solidFill>
          <a:ln/>
        </p:spPr>
        <p:txBody>
          <a:bodyPr/>
          <a:lstStyle/>
          <a:p>
            <a:endParaRPr lang="fr-CA"/>
          </a:p>
        </p:txBody>
      </p:sp>
      <p:sp>
        <p:nvSpPr>
          <p:cNvPr id="19" name="Text 17"/>
          <p:cNvSpPr/>
          <p:nvPr/>
        </p:nvSpPr>
        <p:spPr>
          <a:xfrm>
            <a:off x="6126480" y="2423160"/>
            <a:ext cx="26060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6263640" y="3108960"/>
            <a:ext cx="2331720" cy="36576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Impact réel</a:t>
            </a:r>
            <a:endParaRPr lang="en-US" sz="1200" dirty="0"/>
          </a:p>
        </p:txBody>
      </p:sp>
      <p:sp>
        <p:nvSpPr>
          <p:cNvPr id="21" name="Text 19"/>
          <p:cNvSpPr/>
          <p:nvPr/>
        </p:nvSpPr>
        <p:spPr>
          <a:xfrm>
            <a:off x="6263640" y="3493008"/>
            <a:ext cx="2331720" cy="502920"/>
          </a:xfrm>
          <a:prstGeom prst="rect">
            <a:avLst/>
          </a:prstGeom>
          <a:noFill/>
          <a:ln/>
        </p:spPr>
        <p:txBody>
          <a:bodyPr wrap="square" rtlCol="0" anchor="ctr"/>
          <a:lstStyle/>
          <a:p>
            <a:pPr marL="0" indent="0" algn="ctr">
              <a:buNone/>
            </a:pPr>
            <a:r>
              <a:rPr lang="en-US" sz="1000" dirty="0">
                <a:solidFill>
                  <a:srgbClr val="8EAFC2"/>
                </a:solidFill>
                <a:latin typeface="Calibri" pitchFamily="34" charset="0"/>
                <a:ea typeface="Calibri" pitchFamily="34" charset="-122"/>
                <a:cs typeface="Calibri" pitchFamily="34" charset="-120"/>
              </a:rPr>
              <a:t>Aide à l'analyse visuelle, non au diagnostic médical</a:t>
            </a:r>
            <a:endParaRPr lang="en-US" sz="1000" dirty="0"/>
          </a:p>
        </p:txBody>
      </p:sp>
      <p:sp>
        <p:nvSpPr>
          <p:cNvPr id="22" name="Shape 20"/>
          <p:cNvSpPr/>
          <p:nvPr/>
        </p:nvSpPr>
        <p:spPr>
          <a:xfrm>
            <a:off x="457200" y="4480560"/>
            <a:ext cx="8229600" cy="36576"/>
          </a:xfrm>
          <a:prstGeom prst="rect">
            <a:avLst/>
          </a:prstGeom>
          <a:solidFill>
            <a:srgbClr val="00B4D8">
              <a:alpha val="50000"/>
            </a:srgbClr>
          </a:solidFill>
          <a:ln/>
        </p:spPr>
        <p:txBody>
          <a:bodyPr/>
          <a:lstStyle/>
          <a:p>
            <a:endParaRPr lang="fr-CA"/>
          </a:p>
        </p:txBody>
      </p:sp>
      <p:sp>
        <p:nvSpPr>
          <p:cNvPr id="24" name="Rectangle: Folded Corner 23">
            <a:extLst>
              <a:ext uri="{FF2B5EF4-FFF2-40B4-BE49-F238E27FC236}">
                <a16:creationId xmlns:a16="http://schemas.microsoft.com/office/drawing/2014/main" id="{55FC2BDC-D6F2-F544-0163-BFD54B98CC66}"/>
              </a:ext>
            </a:extLst>
          </p:cNvPr>
          <p:cNvSpPr/>
          <p:nvPr/>
        </p:nvSpPr>
        <p:spPr>
          <a:xfrm>
            <a:off x="8763000" y="0"/>
            <a:ext cx="38753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3926</TotalTime>
  <Words>928</Words>
  <Application>Microsoft Office PowerPoint</Application>
  <PresentationFormat>On-screen Show (16:9)</PresentationFormat>
  <Paragraphs>189</Paragraphs>
  <Slides>12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System Font Regular</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Segmentation de Lésions Cutanées par IA</dc:title>
  <dc:subject>PptxGenJS Presentation</dc:subject>
  <dc:creator>PptxGenJS</dc:creator>
  <cp:lastModifiedBy>Sarah Amouri</cp:lastModifiedBy>
  <cp:revision>84</cp:revision>
  <dcterms:created xsi:type="dcterms:W3CDTF">2026-04-26T00:05:02Z</dcterms:created>
  <dcterms:modified xsi:type="dcterms:W3CDTF">2026-07-02T23:47:59Z</dcterms:modified>
</cp:coreProperties>
</file>