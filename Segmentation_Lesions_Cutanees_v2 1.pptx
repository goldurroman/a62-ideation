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8" r:id="rId3"/>
    <p:sldId id="257" r:id="rId4"/>
    <p:sldId id="258" r:id="rId5"/>
    <p:sldId id="263" r:id="rId6"/>
    <p:sldId id="270" r:id="rId7"/>
    <p:sldId id="259" r:id="rId8"/>
    <p:sldId id="261" r:id="rId9"/>
    <p:sldId id="269" r:id="rId10"/>
    <p:sldId id="272" r:id="rId11"/>
    <p:sldId id="275" r:id="rId12"/>
    <p:sldId id="273" r:id="rId13"/>
    <p:sldId id="274" r:id="rId14"/>
    <p:sldId id="276" r:id="rId15"/>
    <p:sldId id="277" r:id="rId16"/>
    <p:sldId id="278" r:id="rId17"/>
    <p:sldId id="265"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77119" autoAdjust="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42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a:p>
            <a:r>
              <a:rPr lang="fr-CA" dirty="0"/>
              <a:t>Planification du projet (6 sprints)</a:t>
            </a:r>
          </a:p>
          <a:p>
            <a:r>
              <a:rPr lang="fr-CA" dirty="0"/>
              <a:t>Le projet a été structuré en six sprints successifs, permettant de couvrir l’ensemble du cycle de développement : préparation des données, entraînement des modèles, analyse des résultats et mise en place du pipeline final. Chaque sprint correspond à un objectif précis et mesurable.</a:t>
            </a:r>
          </a:p>
          <a:p>
            <a:endParaRPr lang="fr-CA" dirty="0"/>
          </a:p>
          <a:p>
            <a:r>
              <a:rPr lang="fr-CA" dirty="0"/>
              <a:t>Sprint 1 — Cadrage du projet et mise en place de l’environnement</a:t>
            </a:r>
          </a:p>
          <a:p>
            <a:r>
              <a:rPr lang="fr-CA" dirty="0"/>
              <a:t>Ce premier sprint a permis de définir les objectifs du projet et de préparer l’environnement technique nécessaire.</a:t>
            </a:r>
          </a:p>
          <a:p>
            <a:r>
              <a:rPr lang="fr-CA" dirty="0"/>
              <a:t>Travaux réalisés :</a:t>
            </a:r>
          </a:p>
          <a:p>
            <a:r>
              <a:rPr lang="fr-CA" dirty="0"/>
              <a:t>Analyse du document d’attentes fourni par l’enseignant</a:t>
            </a:r>
          </a:p>
          <a:p>
            <a:r>
              <a:rPr lang="fr-CA" dirty="0"/>
              <a:t>Définition du problème : segmentation de lésions cutanées à partir du </a:t>
            </a:r>
            <a:r>
              <a:rPr lang="fr-CA" dirty="0" err="1"/>
              <a:t>dataset</a:t>
            </a:r>
            <a:r>
              <a:rPr lang="fr-CA" dirty="0"/>
              <a:t> ISIC2018.</a:t>
            </a:r>
          </a:p>
          <a:p>
            <a:r>
              <a:rPr lang="fr-CA" dirty="0"/>
              <a:t>Choix des métriques d’évaluation (mAP50, mAP50‑95, précision, rappel, </a:t>
            </a:r>
            <a:r>
              <a:rPr lang="fr-CA" dirty="0" err="1"/>
              <a:t>IoU</a:t>
            </a:r>
            <a:r>
              <a:rPr lang="fr-CA" dirty="0"/>
              <a:t>, Dice).</a:t>
            </a:r>
          </a:p>
          <a:p>
            <a:r>
              <a:rPr lang="fr-CA" dirty="0"/>
              <a:t>Mise en place de l’environnement </a:t>
            </a:r>
            <a:r>
              <a:rPr lang="fr-CA" dirty="0" err="1"/>
              <a:t>Colab</a:t>
            </a:r>
            <a:r>
              <a:rPr lang="fr-CA" dirty="0"/>
              <a:t> et création du dépôt GitHub.</a:t>
            </a:r>
          </a:p>
          <a:p>
            <a:r>
              <a:rPr lang="fr-CA" dirty="0"/>
              <a:t>Structuration initiale des notebooks et de l’arborescence du projet.</a:t>
            </a:r>
          </a:p>
          <a:p>
            <a:endParaRPr lang="fr-CA" dirty="0"/>
          </a:p>
          <a:p>
            <a:r>
              <a:rPr lang="fr-CA" dirty="0"/>
              <a:t>Sprint 2 — Préparation et structuration du </a:t>
            </a:r>
            <a:r>
              <a:rPr lang="fr-CA" dirty="0" err="1"/>
              <a:t>dataset</a:t>
            </a:r>
            <a:endParaRPr lang="fr-CA" dirty="0"/>
          </a:p>
          <a:p>
            <a:r>
              <a:rPr lang="fr-CA" dirty="0"/>
              <a:t>L’objectif de ce sprint était d’obtenir un </a:t>
            </a:r>
            <a:r>
              <a:rPr lang="fr-CA" dirty="0" err="1"/>
              <a:t>dataset</a:t>
            </a:r>
            <a:r>
              <a:rPr lang="fr-CA" dirty="0"/>
              <a:t> propre, cohérent et exploitable par YOLOv8‑Seg.</a:t>
            </a:r>
          </a:p>
          <a:p>
            <a:r>
              <a:rPr lang="fr-CA" dirty="0"/>
              <a:t>Travaux réalisés :</a:t>
            </a:r>
          </a:p>
          <a:p>
            <a:r>
              <a:rPr lang="fr-CA" dirty="0"/>
              <a:t>Téléchargement et vérification du </a:t>
            </a:r>
            <a:r>
              <a:rPr lang="fr-CA" dirty="0" err="1"/>
              <a:t>dataset</a:t>
            </a:r>
            <a:r>
              <a:rPr lang="fr-CA" dirty="0"/>
              <a:t> ISIC2018.</a:t>
            </a:r>
          </a:p>
          <a:p>
            <a:r>
              <a:rPr lang="fr-CA" dirty="0"/>
              <a:t>Nettoyage et binarisation des masques.</a:t>
            </a:r>
          </a:p>
          <a:p>
            <a:r>
              <a:rPr lang="fr-CA" dirty="0"/>
              <a:t>Redimensionnement des images et masques.</a:t>
            </a:r>
          </a:p>
          <a:p>
            <a:r>
              <a:rPr lang="fr-CA" dirty="0"/>
              <a:t>Création du fichier YAML pour YOLOv8‑Seg.</a:t>
            </a:r>
          </a:p>
          <a:p>
            <a:r>
              <a:rPr lang="fr-CA" dirty="0"/>
              <a:t>Séparation du </a:t>
            </a:r>
            <a:r>
              <a:rPr lang="fr-CA" dirty="0" err="1"/>
              <a:t>dataset</a:t>
            </a:r>
            <a:r>
              <a:rPr lang="fr-CA" dirty="0"/>
              <a:t> en ensembles d’entraînement, validation et test.</a:t>
            </a:r>
          </a:p>
          <a:p>
            <a:endParaRPr lang="fr-CA" dirty="0"/>
          </a:p>
          <a:p>
            <a:r>
              <a:rPr lang="fr-CA" dirty="0"/>
              <a:t>Sprint 3 — Entraînements initiaux et analyse préliminaire (série 100‑20‑20)</a:t>
            </a:r>
          </a:p>
          <a:p>
            <a:r>
              <a:rPr lang="fr-CA" dirty="0"/>
              <a:t>Ce sprint a permis d’obtenir une première série de résultats afin d’évaluer le comportement des modèles.</a:t>
            </a:r>
          </a:p>
          <a:p>
            <a:r>
              <a:rPr lang="fr-CA" dirty="0"/>
              <a:t>Travaux réalisés :</a:t>
            </a:r>
          </a:p>
          <a:p>
            <a:r>
              <a:rPr lang="fr-CA" dirty="0"/>
              <a:t>Entraînement des modèles YOLOv8n‑seg, YOLOv8s‑seg et YOLOv8m‑seg.</a:t>
            </a:r>
          </a:p>
          <a:p>
            <a:r>
              <a:rPr lang="fr-CA" dirty="0"/>
              <a:t>Sauvegarde des runs et extraction des poids (best.pt).</a:t>
            </a:r>
          </a:p>
          <a:p>
            <a:r>
              <a:rPr lang="fr-CA" dirty="0"/>
              <a:t>Analyse préliminaire des métriques (</a:t>
            </a:r>
            <a:r>
              <a:rPr lang="fr-CA" dirty="0" err="1"/>
              <a:t>mAP</a:t>
            </a:r>
            <a:r>
              <a:rPr lang="fr-CA" dirty="0"/>
              <a:t>, précision, rappel, pertes).</a:t>
            </a:r>
          </a:p>
          <a:p>
            <a:r>
              <a:rPr lang="fr-CA" dirty="0"/>
              <a:t>Identification des premières limites : sous‑apprentissage, instabilité, pertes élevées.</a:t>
            </a:r>
          </a:p>
          <a:p>
            <a:endParaRPr lang="fr-CA" dirty="0"/>
          </a:p>
          <a:p>
            <a:r>
              <a:rPr lang="fr-CA" dirty="0"/>
              <a:t>Sprint 4 — Ajustement des hyperparamètres et entraînements avancés (série 125‑50‑50)</a:t>
            </a:r>
          </a:p>
          <a:p>
            <a:r>
              <a:rPr lang="fr-CA" dirty="0"/>
              <a:t>Ce sprint a été consacré à l’amélioration des performances des modèles.</a:t>
            </a:r>
          </a:p>
          <a:p>
            <a:endParaRPr lang="fr-CA" dirty="0"/>
          </a:p>
          <a:p>
            <a:r>
              <a:rPr lang="fr-CA" dirty="0"/>
              <a:t>Travaux réalisés :</a:t>
            </a:r>
          </a:p>
          <a:p>
            <a:r>
              <a:rPr lang="fr-CA" dirty="0"/>
              <a:t>Ajustement des hyperparamètres : taille d’image, taux d’apprentissage, patience, dropout, </a:t>
            </a:r>
            <a:r>
              <a:rPr lang="fr-CA" dirty="0" err="1"/>
              <a:t>mask_ratio</a:t>
            </a:r>
            <a:r>
              <a:rPr lang="fr-CA" dirty="0"/>
              <a:t>.</a:t>
            </a:r>
          </a:p>
          <a:p>
            <a:r>
              <a:rPr lang="fr-CA" dirty="0"/>
              <a:t>Entraînement des trois modèles avec les nouveaux réglages.</a:t>
            </a:r>
          </a:p>
          <a:p>
            <a:r>
              <a:rPr lang="fr-CA" dirty="0"/>
              <a:t>Analyse comparative entre la série 100‑20‑20 et la série 125‑50‑50.</a:t>
            </a:r>
          </a:p>
          <a:p>
            <a:r>
              <a:rPr lang="fr-CA" dirty="0"/>
              <a:t>Sélection des configurations les plus prometteuses.</a:t>
            </a:r>
          </a:p>
          <a:p>
            <a:endParaRPr lang="fr-CA" dirty="0"/>
          </a:p>
          <a:p>
            <a:endParaRPr lang="fr-CA" dirty="0"/>
          </a:p>
          <a:p>
            <a:r>
              <a:rPr lang="fr-CA" dirty="0"/>
              <a:t>Sprint 5 — Entraînements finaux et sélection du meilleur modèle (série 150‑50‑50)</a:t>
            </a:r>
          </a:p>
          <a:p>
            <a:r>
              <a:rPr lang="fr-CA" dirty="0"/>
              <a:t>Ce sprint a permis d’obtenir les modèles définitifs utilisés dans le pipeline final.</a:t>
            </a:r>
          </a:p>
          <a:p>
            <a:endParaRPr lang="fr-CA" dirty="0"/>
          </a:p>
          <a:p>
            <a:r>
              <a:rPr lang="fr-CA" dirty="0"/>
              <a:t>Travaux réalisés :</a:t>
            </a:r>
          </a:p>
          <a:p>
            <a:endParaRPr lang="fr-CA" dirty="0"/>
          </a:p>
          <a:p>
            <a:r>
              <a:rPr lang="fr-CA" dirty="0"/>
              <a:t>Entraînement final des modèles YOLOv8n/s/m‑</a:t>
            </a:r>
            <a:r>
              <a:rPr lang="fr-CA" dirty="0" err="1"/>
              <a:t>seg</a:t>
            </a:r>
            <a:r>
              <a:rPr lang="fr-CA" dirty="0"/>
              <a:t>.</a:t>
            </a:r>
          </a:p>
          <a:p>
            <a:r>
              <a:rPr lang="fr-CA" dirty="0"/>
              <a:t>Analyse détaillée des métriques finales.</a:t>
            </a:r>
          </a:p>
          <a:p>
            <a:r>
              <a:rPr lang="fr-CA" dirty="0"/>
              <a:t>Comparaison des trois séries d’entraînement.</a:t>
            </a:r>
          </a:p>
          <a:p>
            <a:r>
              <a:rPr lang="fr-CA" dirty="0"/>
              <a:t>Sélection du meilleur modèle (YOLOv8s‑seg) pour l’inférence.</a:t>
            </a:r>
          </a:p>
          <a:p>
            <a:endParaRPr lang="fr-CA" dirty="0"/>
          </a:p>
          <a:p>
            <a:endParaRPr lang="fr-CA" dirty="0"/>
          </a:p>
          <a:p>
            <a:endParaRPr lang="fr-CA" dirty="0"/>
          </a:p>
          <a:p>
            <a:r>
              <a:rPr lang="fr-CA" dirty="0"/>
              <a:t>Sprint 6 — Développement du pipeline d’inférence, tests et rédaction</a:t>
            </a:r>
          </a:p>
          <a:p>
            <a:r>
              <a:rPr lang="fr-CA" dirty="0"/>
              <a:t>Le dernier sprint a été consacré à la mise en place du pipeline final et à la rédaction du rapport.</a:t>
            </a:r>
          </a:p>
          <a:p>
            <a:endParaRPr lang="fr-CA" dirty="0"/>
          </a:p>
          <a:p>
            <a:r>
              <a:rPr lang="fr-CA" dirty="0"/>
              <a:t>Travaux réalisés :</a:t>
            </a:r>
          </a:p>
          <a:p>
            <a:r>
              <a:rPr lang="fr-CA" dirty="0"/>
              <a:t>Développement du pipeline d’inférence (prétraitement, prédiction, post‑traitement).</a:t>
            </a:r>
          </a:p>
          <a:p>
            <a:r>
              <a:rPr lang="fr-CA" dirty="0"/>
              <a:t>Génération des visualisations : image originale, masque prédit, superposition.</a:t>
            </a:r>
          </a:p>
          <a:p>
            <a:r>
              <a:rPr lang="fr-CA" dirty="0"/>
              <a:t>Évaluation sur l’ensemble de test (</a:t>
            </a:r>
            <a:r>
              <a:rPr lang="fr-CA" dirty="0" err="1"/>
              <a:t>IoU</a:t>
            </a:r>
            <a:r>
              <a:rPr lang="fr-CA" dirty="0"/>
              <a:t>, Dice).</a:t>
            </a:r>
          </a:p>
          <a:p>
            <a:r>
              <a:rPr lang="fr-CA" dirty="0"/>
              <a:t>Rédaction du rapport final et préparation de la présentation.</a:t>
            </a:r>
          </a:p>
          <a:p>
            <a:r>
              <a:rPr lang="fr-CA" dirty="0"/>
              <a:t>Finalisation du dépôt GitHub (notebooks, scripts, modèles, documentation).</a:t>
            </a:r>
          </a:p>
          <a:p>
            <a:endParaRPr lang="fr-CA" dirty="0"/>
          </a:p>
          <a:p>
            <a:endParaRPr lang="fr-CA" dirty="0"/>
          </a:p>
          <a:p>
            <a:endParaRPr lang="fr-CA" dirty="0"/>
          </a:p>
          <a:p>
            <a:endParaRPr lang="fr-CA" dirty="0"/>
          </a:p>
          <a:p>
            <a:endParaRPr lang="fr-CA"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Doiet </a:t>
            </a:r>
            <a:r>
              <a:rPr lang="en-US" dirty="0" err="1"/>
              <a:t>etre</a:t>
            </a:r>
            <a:r>
              <a:rPr lang="en-US" dirty="0"/>
              <a:t> </a:t>
            </a:r>
            <a:r>
              <a:rPr lang="en-US" dirty="0" err="1"/>
              <a:t>explicite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 </a:t>
            </a:r>
            <a:r>
              <a:rPr lang="en-US" dirty="0" err="1"/>
              <a:t>nempeche</a:t>
            </a:r>
            <a:r>
              <a:rPr lang="en-US" dirty="0"/>
              <a:t> pas le </a:t>
            </a:r>
            <a:r>
              <a:rPr lang="en-US" dirty="0" err="1"/>
              <a:t>systeme</a:t>
            </a:r>
            <a:r>
              <a:rPr lang="en-US" dirty="0"/>
              <a:t> de </a:t>
            </a:r>
            <a:r>
              <a:rPr lang="en-US" dirty="0" err="1"/>
              <a:t>fonctionner</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fr-CA" dirty="0"/>
              <a:t>1-Trouver le bon </a:t>
            </a:r>
            <a:r>
              <a:rPr lang="fr-CA" dirty="0" err="1"/>
              <a:t>dataset</a:t>
            </a:r>
            <a:r>
              <a:rPr lang="fr-CA" dirty="0"/>
              <a:t> qui permet la segmentation. </a:t>
            </a:r>
          </a:p>
          <a:p>
            <a:r>
              <a:rPr lang="fr-CA" dirty="0"/>
              <a:t>2-La classification qu’on a faite avant est seulement une classification (clustering).</a:t>
            </a:r>
            <a:br>
              <a:rPr lang="fr-CA" dirty="0"/>
            </a:br>
            <a:r>
              <a:rPr lang="fr-CA" dirty="0"/>
              <a:t>3-La segmentation vise plutôt à détecter l’image et les surfaces afin de déterminer s’il s’agit d’une lésion anormale. Si la forme n’est pas régulière, cela peut potentiellement indiquer une maladie. </a:t>
            </a:r>
          </a:p>
          <a:p>
            <a:r>
              <a:rPr lang="fr-CA" dirty="0"/>
              <a:t>4-La taille du </a:t>
            </a:r>
            <a:r>
              <a:rPr lang="fr-CA" dirty="0" err="1"/>
              <a:t>dataset</a:t>
            </a:r>
            <a:r>
              <a:rPr lang="fr-CA" dirty="0"/>
              <a:t> pour entraîner le modèle : plus de 2300 images (environ 10 Go d’images visuelles). </a:t>
            </a:r>
          </a:p>
          <a:p>
            <a:r>
              <a:rPr lang="fr-CA" dirty="0"/>
              <a:t>5-Supprimer les </a:t>
            </a:r>
            <a:r>
              <a:rPr lang="fr-CA" dirty="0" err="1"/>
              <a:t>datasets</a:t>
            </a:r>
            <a:r>
              <a:rPr lang="fr-CA" dirty="0"/>
              <a:t> inutiles afin de réduire la taille du stockage. </a:t>
            </a:r>
          </a:p>
          <a:p>
            <a:r>
              <a:rPr lang="fr-CA" dirty="0"/>
              <a:t>6-Entraîner le modèle avec un plus petit </a:t>
            </a:r>
            <a:r>
              <a:rPr lang="fr-CA" dirty="0" err="1"/>
              <a:t>dataset</a:t>
            </a:r>
            <a:r>
              <a:rPr lang="fr-CA" dirty="0"/>
              <a:t>. </a:t>
            </a:r>
          </a:p>
          <a:p>
            <a:r>
              <a:rPr lang="fr-CA" dirty="0"/>
              <a:t>7-Limite du Drive. </a:t>
            </a:r>
          </a:p>
          <a:p>
            <a:r>
              <a:rPr lang="fr-CA" dirty="0"/>
              <a:t>8-Lenteur lors de l’</a:t>
            </a:r>
            <a:r>
              <a:rPr lang="fr-CA" dirty="0" err="1"/>
              <a:t>upload</a:t>
            </a:r>
            <a:r>
              <a:rPr lang="fr-CA" dirty="0"/>
              <a:t>. </a:t>
            </a:r>
          </a:p>
          <a:p>
            <a:r>
              <a:rPr lang="fr-CA" dirty="0"/>
              <a:t>9-Lors de l’</a:t>
            </a:r>
            <a:r>
              <a:rPr lang="fr-CA" dirty="0" err="1"/>
              <a:t>upload</a:t>
            </a:r>
            <a:r>
              <a:rPr lang="fr-CA" dirty="0"/>
              <a:t> du fichier ZIP, le </a:t>
            </a:r>
            <a:r>
              <a:rPr lang="fr-CA" dirty="0" err="1"/>
              <a:t>dézippage</a:t>
            </a:r>
            <a:r>
              <a:rPr lang="fr-CA" dirty="0"/>
              <a:t> prend beaucoup de temps. </a:t>
            </a:r>
          </a:p>
          <a:p>
            <a:r>
              <a:rPr lang="fr-CA" dirty="0"/>
              <a:t>10-Utilisation du GPU pour de meilleures performances. </a:t>
            </a:r>
          </a:p>
          <a:p>
            <a:r>
              <a:rPr lang="fr-CA" dirty="0"/>
              <a:t>11-Limite du GPU T4 disponible. </a:t>
            </a:r>
          </a:p>
          <a:p>
            <a:r>
              <a:rPr lang="fr-CA" dirty="0"/>
              <a:t>12-Limite de 5 Go sur </a:t>
            </a:r>
            <a:r>
              <a:rPr lang="fr-CA" dirty="0" err="1"/>
              <a:t>Colab</a:t>
            </a:r>
            <a:r>
              <a:rPr lang="fr-CA" dirty="0"/>
              <a:t>. </a:t>
            </a:r>
          </a:p>
          <a:p>
            <a:r>
              <a:rPr lang="fr-CA" dirty="0"/>
              <a:t>13-Lorsque nous essayons d’entraîner le modèle, le kernel plante. </a:t>
            </a:r>
          </a:p>
          <a:p>
            <a:r>
              <a:rPr lang="fr-CA" dirty="0"/>
              <a:t>14-Prendre un échantillon du </a:t>
            </a:r>
            <a:r>
              <a:rPr lang="fr-CA" dirty="0" err="1"/>
              <a:t>dataset</a:t>
            </a:r>
            <a:r>
              <a:rPr lang="fr-CA" dirty="0"/>
              <a:t> afin d’éviter le surentraînement ou le </a:t>
            </a:r>
            <a:r>
              <a:rPr lang="fr-CA" dirty="0" err="1"/>
              <a:t>sous-entraînement</a:t>
            </a:r>
            <a:r>
              <a:rPr lang="fr-CA" dirty="0"/>
              <a:t>. </a:t>
            </a:r>
          </a:p>
          <a:p>
            <a:r>
              <a:rPr lang="fr-CA" dirty="0"/>
              <a:t>15- On a essaye de </a:t>
            </a:r>
            <a:r>
              <a:rPr lang="fr-CA" dirty="0" err="1"/>
              <a:t>kaggle</a:t>
            </a:r>
            <a:r>
              <a:rPr lang="fr-CA" dirty="0"/>
              <a:t> pour entrainer, permet utilisation de plusieurs ressources sauf que </a:t>
            </a:r>
            <a:r>
              <a:rPr lang="fr-CA" dirty="0" err="1"/>
              <a:t>kaggle</a:t>
            </a:r>
            <a:r>
              <a:rPr lang="fr-CA" dirty="0"/>
              <a:t> ne sauvegarde pas le </a:t>
            </a:r>
            <a:r>
              <a:rPr lang="fr-CA" dirty="0" err="1"/>
              <a:t>resultat</a:t>
            </a:r>
            <a:r>
              <a:rPr lang="fr-CA" dirty="0"/>
              <a:t> d`exécution après la </a:t>
            </a:r>
            <a:r>
              <a:rPr lang="fr-CA" dirty="0" err="1"/>
              <a:t>deconnexion</a:t>
            </a:r>
            <a:r>
              <a:rPr lang="fr-CA" dirty="0"/>
              <a:t> du run time</a:t>
            </a:r>
          </a:p>
          <a:p>
            <a:r>
              <a:rPr lang="fr-CA" dirty="0"/>
              <a:t>16- pris 150 images pour le train, 50 test, 50 validation</a:t>
            </a:r>
          </a:p>
          <a:p>
            <a:endParaRPr lang="fr-CA" dirty="0"/>
          </a:p>
        </p:txBody>
      </p:sp>
    </p:spTree>
    <p:extLst>
      <p:ext uri="{BB962C8B-B14F-4D97-AF65-F5344CB8AC3E}">
        <p14:creationId xmlns:p14="http://schemas.microsoft.com/office/powerpoint/2010/main" val="4071040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5029200" y="0"/>
            <a:ext cx="4114800" cy="5143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orthographicFront"/>
            <a:lightRig rig="threePt" dir="t"/>
          </a:scene3d>
          <a:sp3d>
            <a:bevelT w="165100" prst="coolSlant"/>
          </a:sp3d>
        </p:spPr>
      </p:pic>
      <p:sp>
        <p:nvSpPr>
          <p:cNvPr id="4" name="Shape 1"/>
          <p:cNvSpPr/>
          <p:nvPr/>
        </p:nvSpPr>
        <p:spPr>
          <a:xfrm>
            <a:off x="4846320" y="0"/>
            <a:ext cx="457200" cy="5143500"/>
          </a:xfrm>
          <a:prstGeom prst="rect">
            <a:avLst/>
          </a:prstGeom>
          <a:solidFill>
            <a:srgbClr val="0D1B2A"/>
          </a:solidFill>
          <a:ln/>
        </p:spPr>
        <p:txBody>
          <a:bodyPr/>
          <a:lstStyle/>
          <a:p>
            <a:endParaRPr lang="fr-CA"/>
          </a:p>
        </p:txBody>
      </p:sp>
      <p:sp>
        <p:nvSpPr>
          <p:cNvPr id="5" name="Shape 2"/>
          <p:cNvSpPr/>
          <p:nvPr/>
        </p:nvSpPr>
        <p:spPr>
          <a:xfrm>
            <a:off x="5029200" y="0"/>
            <a:ext cx="274320" cy="5143500"/>
          </a:xfrm>
          <a:prstGeom prst="rect">
            <a:avLst/>
          </a:prstGeom>
          <a:solidFill>
            <a:schemeClr val="bg2">
              <a:alpha val="80000"/>
            </a:schemeClr>
          </a:solidFill>
          <a:ln/>
          <a:scene3d>
            <a:camera prst="orthographicFront"/>
            <a:lightRig rig="threePt" dir="t"/>
          </a:scene3d>
          <a:sp3d>
            <a:bevelT w="152400" h="50800" prst="softRound"/>
          </a:sp3d>
        </p:spPr>
        <p:txBody>
          <a:bodyPr/>
          <a:lstStyle/>
          <a:p>
            <a:endParaRPr lang="fr-CA" dirty="0"/>
          </a:p>
        </p:txBody>
      </p:sp>
      <p:sp>
        <p:nvSpPr>
          <p:cNvPr id="6" name="Shape 3"/>
          <p:cNvSpPr/>
          <p:nvPr/>
        </p:nvSpPr>
        <p:spPr>
          <a:xfrm>
            <a:off x="0" y="0"/>
            <a:ext cx="109728" cy="5143500"/>
          </a:xfrm>
          <a:prstGeom prst="rect">
            <a:avLst/>
          </a:prstGeom>
          <a:solidFill>
            <a:srgbClr val="00B4D8"/>
          </a:solidFill>
          <a:ln/>
        </p:spPr>
        <p:txBody>
          <a:bodyPr/>
          <a:lstStyle/>
          <a:p>
            <a:endParaRPr lang="fr-CA"/>
          </a:p>
        </p:txBody>
      </p:sp>
      <p:sp>
        <p:nvSpPr>
          <p:cNvPr id="7" name="Shape 4"/>
          <p:cNvSpPr/>
          <p:nvPr/>
        </p:nvSpPr>
        <p:spPr>
          <a:xfrm>
            <a:off x="457200" y="457200"/>
            <a:ext cx="2560320" cy="384048"/>
          </a:xfrm>
          <a:prstGeom prst="roundRect">
            <a:avLst>
              <a:gd name="adj" fmla="val 35714"/>
            </a:avLst>
          </a:prstGeom>
          <a:solidFill>
            <a:srgbClr val="00B4D8">
              <a:alpha val="80000"/>
            </a:srgbClr>
          </a:solidFill>
          <a:ln/>
          <a:scene3d>
            <a:camera prst="orthographicFront"/>
            <a:lightRig rig="threePt" dir="t"/>
          </a:scene3d>
          <a:sp3d>
            <a:bevelT w="165100" prst="coolSlant"/>
          </a:sp3d>
        </p:spPr>
        <p:txBody>
          <a:bodyPr/>
          <a:lstStyle/>
          <a:p>
            <a:endParaRPr lang="fr-CA" dirty="0"/>
          </a:p>
        </p:txBody>
      </p:sp>
      <p:sp>
        <p:nvSpPr>
          <p:cNvPr id="8" name="Text 5"/>
          <p:cNvSpPr/>
          <p:nvPr/>
        </p:nvSpPr>
        <p:spPr>
          <a:xfrm>
            <a:off x="457200" y="457200"/>
            <a:ext cx="2560320" cy="384048"/>
          </a:xfrm>
          <a:prstGeom prst="rect">
            <a:avLst/>
          </a:prstGeom>
          <a:noFill/>
          <a:ln/>
        </p:spPr>
        <p:txBody>
          <a:bodyPr wrap="square" lIns="0" tIns="0" rIns="0" bIns="0" rtlCol="0" anchor="ctr"/>
          <a:lstStyle/>
          <a:p>
            <a:pPr marL="0" indent="0" algn="ctr">
              <a:buNone/>
            </a:pPr>
            <a:r>
              <a:rPr lang="en-US" sz="900" b="1" kern="0" spc="200" dirty="0">
                <a:solidFill>
                  <a:srgbClr val="FFFFFF"/>
                </a:solidFill>
              </a:rPr>
              <a:t>PROJET DE SYNTHÈSE</a:t>
            </a:r>
          </a:p>
          <a:p>
            <a:pPr marL="0" indent="0" algn="ctr">
              <a:buNone/>
            </a:pPr>
            <a:r>
              <a:rPr lang="en-US" sz="900" b="1" kern="0" spc="200" dirty="0">
                <a:solidFill>
                  <a:srgbClr val="FFFFFF"/>
                </a:solidFill>
              </a:rPr>
              <a:t>Pr. Komi </a:t>
            </a:r>
            <a:r>
              <a:rPr lang="en-US" sz="900" b="1" kern="0" spc="200" dirty="0" err="1">
                <a:solidFill>
                  <a:srgbClr val="FFFFFF"/>
                </a:solidFill>
              </a:rPr>
              <a:t>Sodoke</a:t>
            </a:r>
            <a:endParaRPr lang="en-US" sz="900" dirty="0"/>
          </a:p>
        </p:txBody>
      </p:sp>
      <p:sp>
        <p:nvSpPr>
          <p:cNvPr id="9" name="Text 6"/>
          <p:cNvSpPr/>
          <p:nvPr/>
        </p:nvSpPr>
        <p:spPr>
          <a:xfrm>
            <a:off x="457200" y="1005840"/>
            <a:ext cx="4754880"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Segmentation de</a:t>
            </a:r>
            <a:endParaRPr lang="en-US" sz="4000" dirty="0"/>
          </a:p>
        </p:txBody>
      </p:sp>
      <p:sp>
        <p:nvSpPr>
          <p:cNvPr id="10" name="Text 7"/>
          <p:cNvSpPr/>
          <p:nvPr/>
        </p:nvSpPr>
        <p:spPr>
          <a:xfrm>
            <a:off x="457200" y="1691640"/>
            <a:ext cx="4754880" cy="777240"/>
          </a:xfrm>
          <a:prstGeom prst="rect">
            <a:avLst/>
          </a:prstGeom>
          <a:noFill/>
          <a:ln/>
        </p:spPr>
        <p:txBody>
          <a:bodyPr wrap="square" rtlCol="0" anchor="ctr"/>
          <a:lstStyle/>
          <a:p>
            <a:pPr marL="0" indent="0">
              <a:buNone/>
            </a:pPr>
            <a:r>
              <a:rPr lang="en-US" sz="4000" b="1" dirty="0">
                <a:solidFill>
                  <a:srgbClr val="00B4D8"/>
                </a:solidFill>
                <a:latin typeface="Calibri" pitchFamily="34" charset="0"/>
                <a:ea typeface="Calibri" pitchFamily="34" charset="-122"/>
                <a:cs typeface="Calibri" pitchFamily="34" charset="-120"/>
              </a:rPr>
              <a:t>Lésions Cutanées</a:t>
            </a:r>
            <a:endParaRPr lang="en-US" sz="4000" dirty="0"/>
          </a:p>
        </p:txBody>
      </p:sp>
      <p:sp>
        <p:nvSpPr>
          <p:cNvPr id="11" name="Text 8"/>
          <p:cNvSpPr/>
          <p:nvPr/>
        </p:nvSpPr>
        <p:spPr>
          <a:xfrm>
            <a:off x="457200" y="2423160"/>
            <a:ext cx="4572000" cy="594360"/>
          </a:xfrm>
          <a:prstGeom prst="rect">
            <a:avLst/>
          </a:prstGeom>
          <a:noFill/>
          <a:ln/>
        </p:spPr>
        <p:txBody>
          <a:bodyPr wrap="square" rtlCol="0" anchor="ctr"/>
          <a:lstStyle/>
          <a:p>
            <a:pPr marL="0" indent="0">
              <a:buNone/>
            </a:pPr>
            <a:r>
              <a:rPr lang="en-US" sz="2200" dirty="0">
                <a:solidFill>
                  <a:srgbClr val="E8F4F8"/>
                </a:solidFill>
                <a:latin typeface="Calibri" pitchFamily="34" charset="0"/>
                <a:ea typeface="Calibri" pitchFamily="34" charset="-122"/>
                <a:cs typeface="Calibri" pitchFamily="34" charset="-120"/>
              </a:rPr>
              <a:t>par Intelligence Artificielle</a:t>
            </a:r>
            <a:endParaRPr lang="en-US" sz="2200" dirty="0"/>
          </a:p>
        </p:txBody>
      </p:sp>
      <p:sp>
        <p:nvSpPr>
          <p:cNvPr id="12" name="Shape 9"/>
          <p:cNvSpPr/>
          <p:nvPr/>
        </p:nvSpPr>
        <p:spPr>
          <a:xfrm>
            <a:off x="457200" y="3154680"/>
            <a:ext cx="1645920" cy="36576"/>
          </a:xfrm>
          <a:prstGeom prst="rect">
            <a:avLst/>
          </a:prstGeom>
          <a:solidFill>
            <a:srgbClr val="00B4D8"/>
          </a:solidFill>
          <a:ln/>
        </p:spPr>
        <p:txBody>
          <a:bodyPr/>
          <a:lstStyle/>
          <a:p>
            <a:endParaRPr lang="fr-CA"/>
          </a:p>
        </p:txBody>
      </p:sp>
      <p:sp>
        <p:nvSpPr>
          <p:cNvPr id="15" name="Text 12"/>
          <p:cNvSpPr/>
          <p:nvPr/>
        </p:nvSpPr>
        <p:spPr>
          <a:xfrm>
            <a:off x="457200" y="4663440"/>
            <a:ext cx="3840480" cy="320040"/>
          </a:xfrm>
          <a:prstGeom prst="rect">
            <a:avLst/>
          </a:prstGeom>
          <a:noFill/>
          <a:ln/>
        </p:spPr>
        <p:txBody>
          <a:bodyPr wrap="square" rtlCol="0" anchor="ctr"/>
          <a:lstStyle/>
          <a:p>
            <a:pPr marL="0" indent="0" algn="ctr">
              <a:buNone/>
            </a:pPr>
            <a:r>
              <a:rPr lang="en-US" sz="900" i="1" dirty="0">
                <a:solidFill>
                  <a:srgbClr val="90E0EF"/>
                </a:solidFill>
                <a:latin typeface="Calibri" pitchFamily="34" charset="0"/>
                <a:ea typeface="Calibri" pitchFamily="34" charset="-122"/>
                <a:cs typeface="Calibri" pitchFamily="34" charset="-120"/>
              </a:rPr>
              <a:t>Analyse dermatoscopique assistée par IA</a:t>
            </a:r>
            <a:endParaRPr lang="en-US" sz="900" dirty="0"/>
          </a:p>
        </p:txBody>
      </p:sp>
      <p:sp>
        <p:nvSpPr>
          <p:cNvPr id="16" name="Text Placeholder 3">
            <a:extLst>
              <a:ext uri="{FF2B5EF4-FFF2-40B4-BE49-F238E27FC236}">
                <a16:creationId xmlns:a16="http://schemas.microsoft.com/office/drawing/2014/main" id="{2B8EE54E-985C-73D1-AE68-0DBAB913106E}"/>
              </a:ext>
            </a:extLst>
          </p:cNvPr>
          <p:cNvSpPr txBox="1">
            <a:spLocks/>
          </p:cNvSpPr>
          <p:nvPr/>
        </p:nvSpPr>
        <p:spPr>
          <a:xfrm>
            <a:off x="227647" y="3372264"/>
            <a:ext cx="4133647" cy="1006061"/>
          </a:xfrm>
          <a:prstGeom prst="rect">
            <a:avLst/>
          </a:prstGeom>
        </p:spPr>
        <p:txBody>
          <a:bodyPr vert="horz" lIns="91440" tIns="45720" rIns="91440" bIns="45720" rtlCol="0">
            <a:normAutofit fontScale="4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170000"/>
              </a:lnSpc>
              <a:buFont typeface="Arial" pitchFamily="34" charset="0"/>
              <a:buNone/>
            </a:pPr>
            <a:r>
              <a:rPr lang="en-US" sz="4300" dirty="0">
                <a:solidFill>
                  <a:schemeClr val="bg1"/>
                </a:solidFill>
              </a:rPr>
              <a:t>Présentés par:</a:t>
            </a:r>
          </a:p>
          <a:p>
            <a:pPr marL="0" indent="0" algn="ctr">
              <a:buNone/>
            </a:pPr>
            <a:r>
              <a:rPr lang="en-US" sz="4300" dirty="0">
                <a:solidFill>
                  <a:schemeClr val="bg1"/>
                </a:solidFill>
              </a:rPr>
              <a:t>Roman </a:t>
            </a:r>
            <a:r>
              <a:rPr lang="en-US" sz="4300" dirty="0" err="1">
                <a:solidFill>
                  <a:schemeClr val="bg1"/>
                </a:solidFill>
              </a:rPr>
              <a:t>Goldur</a:t>
            </a:r>
            <a:endParaRPr lang="en-US" sz="4300" dirty="0">
              <a:solidFill>
                <a:schemeClr val="bg1"/>
              </a:solidFill>
            </a:endParaRPr>
          </a:p>
          <a:p>
            <a:pPr marL="0" indent="0" algn="ctr">
              <a:buNone/>
            </a:pPr>
            <a:r>
              <a:rPr lang="en-US" sz="4300" dirty="0">
                <a:solidFill>
                  <a:schemeClr val="bg1"/>
                </a:solidFill>
              </a:rPr>
              <a:t>Sarah Amouri</a:t>
            </a:r>
          </a:p>
          <a:p>
            <a:pPr marL="0" indent="0" algn="ctr">
              <a:buFont typeface="Arial" pitchFamily="34" charset="0"/>
              <a:buNone/>
            </a:pPr>
            <a:endParaRPr lang="en-US" sz="2000" dirty="0">
              <a:solidFill>
                <a:schemeClr val="bg1"/>
              </a:solidFill>
            </a:endParaRPr>
          </a:p>
          <a:p>
            <a:pPr indent="-228600">
              <a:buFont typeface="System Font Regular"/>
              <a:buChar char="–"/>
            </a:pPr>
            <a:endParaRPr lang="en-US" dirty="0"/>
          </a:p>
        </p:txBody>
      </p:sp>
      <p:pic>
        <p:nvPicPr>
          <p:cNvPr id="17" name="Picture 16">
            <a:extLst>
              <a:ext uri="{FF2B5EF4-FFF2-40B4-BE49-F238E27FC236}">
                <a16:creationId xmlns:a16="http://schemas.microsoft.com/office/drawing/2014/main" id="{448E3867-76C7-57A8-185D-506B207D80F0}"/>
              </a:ext>
            </a:extLst>
          </p:cNvPr>
          <p:cNvPicPr>
            <a:picLocks noChangeAspect="1"/>
          </p:cNvPicPr>
          <p:nvPr/>
        </p:nvPicPr>
        <p:blipFill>
          <a:blip r:embed="rId4"/>
          <a:stretch>
            <a:fillRect/>
          </a:stretch>
        </p:blipFill>
        <p:spPr>
          <a:xfrm>
            <a:off x="5421439" y="4243875"/>
            <a:ext cx="1694794" cy="13274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
            <a:extLst>
              <a:ext uri="{FF2B5EF4-FFF2-40B4-BE49-F238E27FC236}">
                <a16:creationId xmlns:a16="http://schemas.microsoft.com/office/drawing/2014/main" id="{5F21AC73-FD2A-BA3B-5CEF-8B4CDE51C46C}"/>
              </a:ext>
            </a:extLst>
          </p:cNvPr>
          <p:cNvSpPr/>
          <p:nvPr/>
        </p:nvSpPr>
        <p:spPr>
          <a:xfrm>
            <a:off x="320040" y="118872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3" name="Text 5">
            <a:extLst>
              <a:ext uri="{FF2B5EF4-FFF2-40B4-BE49-F238E27FC236}">
                <a16:creationId xmlns:a16="http://schemas.microsoft.com/office/drawing/2014/main" id="{CF88195E-56EB-2C04-F4D9-D89FDA786174}"/>
              </a:ext>
            </a:extLst>
          </p:cNvPr>
          <p:cNvSpPr/>
          <p:nvPr/>
        </p:nvSpPr>
        <p:spPr>
          <a:xfrm>
            <a:off x="429768" y="118872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01</a:t>
            </a:r>
            <a:endParaRPr lang="en-US" sz="1800" dirty="0"/>
          </a:p>
        </p:txBody>
      </p:sp>
      <p:sp>
        <p:nvSpPr>
          <p:cNvPr id="4" name="Shape 7">
            <a:extLst>
              <a:ext uri="{FF2B5EF4-FFF2-40B4-BE49-F238E27FC236}">
                <a16:creationId xmlns:a16="http://schemas.microsoft.com/office/drawing/2014/main" id="{40345E6A-B06B-DAB5-5939-308E7A1D99C9}"/>
              </a:ext>
            </a:extLst>
          </p:cNvPr>
          <p:cNvSpPr/>
          <p:nvPr/>
        </p:nvSpPr>
        <p:spPr>
          <a:xfrm>
            <a:off x="320040" y="205740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5" name="Text 9">
            <a:extLst>
              <a:ext uri="{FF2B5EF4-FFF2-40B4-BE49-F238E27FC236}">
                <a16:creationId xmlns:a16="http://schemas.microsoft.com/office/drawing/2014/main" id="{0A1070B9-C6D1-1D50-B7B3-B97D32F99082}"/>
              </a:ext>
            </a:extLst>
          </p:cNvPr>
          <p:cNvSpPr/>
          <p:nvPr/>
        </p:nvSpPr>
        <p:spPr>
          <a:xfrm>
            <a:off x="429768" y="205740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02</a:t>
            </a:r>
            <a:endParaRPr lang="en-US" sz="1800" dirty="0"/>
          </a:p>
        </p:txBody>
      </p:sp>
      <p:sp>
        <p:nvSpPr>
          <p:cNvPr id="6" name="Shape 11">
            <a:extLst>
              <a:ext uri="{FF2B5EF4-FFF2-40B4-BE49-F238E27FC236}">
                <a16:creationId xmlns:a16="http://schemas.microsoft.com/office/drawing/2014/main" id="{32274582-BC4F-8C35-0F5C-5C1D1234935D}"/>
              </a:ext>
            </a:extLst>
          </p:cNvPr>
          <p:cNvSpPr/>
          <p:nvPr/>
        </p:nvSpPr>
        <p:spPr>
          <a:xfrm>
            <a:off x="320040" y="292608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7" name="Text 13">
            <a:extLst>
              <a:ext uri="{FF2B5EF4-FFF2-40B4-BE49-F238E27FC236}">
                <a16:creationId xmlns:a16="http://schemas.microsoft.com/office/drawing/2014/main" id="{864837C3-5C82-2827-39F2-05407827FA66}"/>
              </a:ext>
            </a:extLst>
          </p:cNvPr>
          <p:cNvSpPr/>
          <p:nvPr/>
        </p:nvSpPr>
        <p:spPr>
          <a:xfrm>
            <a:off x="429768" y="292608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03</a:t>
            </a:r>
            <a:endParaRPr lang="en-US" sz="1800" dirty="0"/>
          </a:p>
        </p:txBody>
      </p:sp>
      <p:sp>
        <p:nvSpPr>
          <p:cNvPr id="8" name="Shape 15">
            <a:extLst>
              <a:ext uri="{FF2B5EF4-FFF2-40B4-BE49-F238E27FC236}">
                <a16:creationId xmlns:a16="http://schemas.microsoft.com/office/drawing/2014/main" id="{49224CF4-48D2-767D-AD7C-26386FCB962C}"/>
              </a:ext>
            </a:extLst>
          </p:cNvPr>
          <p:cNvSpPr/>
          <p:nvPr/>
        </p:nvSpPr>
        <p:spPr>
          <a:xfrm>
            <a:off x="320040" y="379476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9" name="Text 17">
            <a:extLst>
              <a:ext uri="{FF2B5EF4-FFF2-40B4-BE49-F238E27FC236}">
                <a16:creationId xmlns:a16="http://schemas.microsoft.com/office/drawing/2014/main" id="{D74A4CAC-081F-DC17-F7AA-D51C559879C8}"/>
              </a:ext>
            </a:extLst>
          </p:cNvPr>
          <p:cNvSpPr/>
          <p:nvPr/>
        </p:nvSpPr>
        <p:spPr>
          <a:xfrm>
            <a:off x="429768" y="379476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04</a:t>
            </a:r>
            <a:endParaRPr lang="en-US" sz="1800" dirty="0"/>
          </a:p>
        </p:txBody>
      </p:sp>
      <p:sp>
        <p:nvSpPr>
          <p:cNvPr id="10" name="Shape 4">
            <a:extLst>
              <a:ext uri="{FF2B5EF4-FFF2-40B4-BE49-F238E27FC236}">
                <a16:creationId xmlns:a16="http://schemas.microsoft.com/office/drawing/2014/main" id="{DD194245-B003-6D53-3C7A-561E884D9366}"/>
              </a:ext>
            </a:extLst>
          </p:cNvPr>
          <p:cNvSpPr/>
          <p:nvPr/>
        </p:nvSpPr>
        <p:spPr>
          <a:xfrm>
            <a:off x="320040" y="1188720"/>
            <a:ext cx="54864" cy="685800"/>
          </a:xfrm>
          <a:prstGeom prst="rect">
            <a:avLst/>
          </a:prstGeom>
          <a:solidFill>
            <a:srgbClr val="0D9488"/>
          </a:solidFill>
          <a:ln w="12700">
            <a:solidFill>
              <a:srgbClr val="0D9488"/>
            </a:solidFill>
            <a:prstDash val="solid"/>
          </a:ln>
        </p:spPr>
        <p:txBody>
          <a:bodyPr/>
          <a:lstStyle/>
          <a:p>
            <a:endParaRPr lang="fr-CA"/>
          </a:p>
        </p:txBody>
      </p:sp>
      <p:sp>
        <p:nvSpPr>
          <p:cNvPr id="11" name="Shape 8">
            <a:extLst>
              <a:ext uri="{FF2B5EF4-FFF2-40B4-BE49-F238E27FC236}">
                <a16:creationId xmlns:a16="http://schemas.microsoft.com/office/drawing/2014/main" id="{89280C27-A48E-8674-A2D2-EA1F4B86D651}"/>
              </a:ext>
            </a:extLst>
          </p:cNvPr>
          <p:cNvSpPr/>
          <p:nvPr/>
        </p:nvSpPr>
        <p:spPr>
          <a:xfrm>
            <a:off x="320040" y="2057400"/>
            <a:ext cx="54864" cy="685800"/>
          </a:xfrm>
          <a:prstGeom prst="rect">
            <a:avLst/>
          </a:prstGeom>
          <a:solidFill>
            <a:srgbClr val="1A2B5E"/>
          </a:solidFill>
          <a:ln w="12700">
            <a:solidFill>
              <a:srgbClr val="1A2B5E"/>
            </a:solidFill>
            <a:prstDash val="solid"/>
          </a:ln>
        </p:spPr>
        <p:txBody>
          <a:bodyPr/>
          <a:lstStyle/>
          <a:p>
            <a:endParaRPr lang="fr-CA"/>
          </a:p>
        </p:txBody>
      </p:sp>
      <p:sp>
        <p:nvSpPr>
          <p:cNvPr id="12" name="Shape 12">
            <a:extLst>
              <a:ext uri="{FF2B5EF4-FFF2-40B4-BE49-F238E27FC236}">
                <a16:creationId xmlns:a16="http://schemas.microsoft.com/office/drawing/2014/main" id="{D5900EED-CAF1-E54B-E245-BA5D1A8452B4}"/>
              </a:ext>
            </a:extLst>
          </p:cNvPr>
          <p:cNvSpPr/>
          <p:nvPr/>
        </p:nvSpPr>
        <p:spPr>
          <a:xfrm>
            <a:off x="320040" y="2926080"/>
            <a:ext cx="54864" cy="685800"/>
          </a:xfrm>
          <a:prstGeom prst="rect">
            <a:avLst/>
          </a:prstGeom>
          <a:solidFill>
            <a:srgbClr val="0D9488"/>
          </a:solidFill>
          <a:ln w="12700">
            <a:solidFill>
              <a:srgbClr val="0D9488"/>
            </a:solidFill>
            <a:prstDash val="solid"/>
          </a:ln>
        </p:spPr>
        <p:txBody>
          <a:bodyPr/>
          <a:lstStyle/>
          <a:p>
            <a:endParaRPr lang="fr-CA"/>
          </a:p>
        </p:txBody>
      </p:sp>
      <p:sp>
        <p:nvSpPr>
          <p:cNvPr id="13" name="Shape 16">
            <a:extLst>
              <a:ext uri="{FF2B5EF4-FFF2-40B4-BE49-F238E27FC236}">
                <a16:creationId xmlns:a16="http://schemas.microsoft.com/office/drawing/2014/main" id="{AA38BEA1-DB60-C682-CB0C-595808FBC614}"/>
              </a:ext>
            </a:extLst>
          </p:cNvPr>
          <p:cNvSpPr/>
          <p:nvPr/>
        </p:nvSpPr>
        <p:spPr>
          <a:xfrm>
            <a:off x="320040" y="3794760"/>
            <a:ext cx="54864" cy="685800"/>
          </a:xfrm>
          <a:prstGeom prst="rect">
            <a:avLst/>
          </a:prstGeom>
          <a:solidFill>
            <a:srgbClr val="1A2B5E"/>
          </a:solidFill>
          <a:ln w="12700">
            <a:solidFill>
              <a:srgbClr val="1A2B5E"/>
            </a:solidFill>
            <a:prstDash val="solid"/>
          </a:ln>
        </p:spPr>
        <p:txBody>
          <a:bodyPr/>
          <a:lstStyle/>
          <a:p>
            <a:endParaRPr lang="fr-CA"/>
          </a:p>
        </p:txBody>
      </p:sp>
      <p:sp>
        <p:nvSpPr>
          <p:cNvPr id="14" name="Shape 19">
            <a:extLst>
              <a:ext uri="{FF2B5EF4-FFF2-40B4-BE49-F238E27FC236}">
                <a16:creationId xmlns:a16="http://schemas.microsoft.com/office/drawing/2014/main" id="{A23E1339-6257-81D2-77D1-AC20D95F5D27}"/>
              </a:ext>
            </a:extLst>
          </p:cNvPr>
          <p:cNvSpPr/>
          <p:nvPr/>
        </p:nvSpPr>
        <p:spPr>
          <a:xfrm>
            <a:off x="4754880" y="118872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5" name="Shape 23">
            <a:extLst>
              <a:ext uri="{FF2B5EF4-FFF2-40B4-BE49-F238E27FC236}">
                <a16:creationId xmlns:a16="http://schemas.microsoft.com/office/drawing/2014/main" id="{43BABFCB-8780-2782-58C9-D455D198E887}"/>
              </a:ext>
            </a:extLst>
          </p:cNvPr>
          <p:cNvSpPr/>
          <p:nvPr/>
        </p:nvSpPr>
        <p:spPr>
          <a:xfrm>
            <a:off x="4754880" y="205740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16" name="Shape 27">
            <a:extLst>
              <a:ext uri="{FF2B5EF4-FFF2-40B4-BE49-F238E27FC236}">
                <a16:creationId xmlns:a16="http://schemas.microsoft.com/office/drawing/2014/main" id="{02B168B7-81AB-F37D-94A1-952CEA0BDBA8}"/>
              </a:ext>
            </a:extLst>
          </p:cNvPr>
          <p:cNvSpPr/>
          <p:nvPr/>
        </p:nvSpPr>
        <p:spPr>
          <a:xfrm>
            <a:off x="4754880" y="292608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7" name="Shape 27">
            <a:extLst>
              <a:ext uri="{FF2B5EF4-FFF2-40B4-BE49-F238E27FC236}">
                <a16:creationId xmlns:a16="http://schemas.microsoft.com/office/drawing/2014/main" id="{6223092A-93DD-03F5-D12A-708D4A7DB867}"/>
              </a:ext>
            </a:extLst>
          </p:cNvPr>
          <p:cNvSpPr/>
          <p:nvPr/>
        </p:nvSpPr>
        <p:spPr>
          <a:xfrm>
            <a:off x="4754880" y="3764280"/>
            <a:ext cx="4206240" cy="685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8" name="Text 21">
            <a:extLst>
              <a:ext uri="{FF2B5EF4-FFF2-40B4-BE49-F238E27FC236}">
                <a16:creationId xmlns:a16="http://schemas.microsoft.com/office/drawing/2014/main" id="{1316AAA3-1E60-008F-0C97-B74A7B42A18B}"/>
              </a:ext>
            </a:extLst>
          </p:cNvPr>
          <p:cNvSpPr/>
          <p:nvPr/>
        </p:nvSpPr>
        <p:spPr>
          <a:xfrm>
            <a:off x="4864608" y="118872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05</a:t>
            </a:r>
            <a:endParaRPr lang="en-US" sz="1800" dirty="0"/>
          </a:p>
        </p:txBody>
      </p:sp>
      <p:sp>
        <p:nvSpPr>
          <p:cNvPr id="19" name="Text 25">
            <a:extLst>
              <a:ext uri="{FF2B5EF4-FFF2-40B4-BE49-F238E27FC236}">
                <a16:creationId xmlns:a16="http://schemas.microsoft.com/office/drawing/2014/main" id="{126577C2-AC59-F04A-5164-8F1276DB9D0B}"/>
              </a:ext>
            </a:extLst>
          </p:cNvPr>
          <p:cNvSpPr/>
          <p:nvPr/>
        </p:nvSpPr>
        <p:spPr>
          <a:xfrm>
            <a:off x="4864608" y="205740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06</a:t>
            </a:r>
            <a:endParaRPr lang="en-US" sz="1800" dirty="0"/>
          </a:p>
        </p:txBody>
      </p:sp>
      <p:sp>
        <p:nvSpPr>
          <p:cNvPr id="20" name="Text 29">
            <a:extLst>
              <a:ext uri="{FF2B5EF4-FFF2-40B4-BE49-F238E27FC236}">
                <a16:creationId xmlns:a16="http://schemas.microsoft.com/office/drawing/2014/main" id="{4CBD5A27-5FC8-F30A-6956-5607F1807BF6}"/>
              </a:ext>
            </a:extLst>
          </p:cNvPr>
          <p:cNvSpPr/>
          <p:nvPr/>
        </p:nvSpPr>
        <p:spPr>
          <a:xfrm>
            <a:off x="4864608" y="2926080"/>
            <a:ext cx="457200" cy="685800"/>
          </a:xfrm>
          <a:prstGeom prst="rect">
            <a:avLst/>
          </a:prstGeom>
          <a:noFill/>
          <a:ln/>
        </p:spPr>
        <p:txBody>
          <a:bodyPr wrap="square" lIns="0" tIns="0" rIns="0" bIns="0" rtlCol="0" anchor="ctr"/>
          <a:lstStyle/>
          <a:p>
            <a:pPr marL="0" indent="0" algn="ctr">
              <a:buNone/>
            </a:pPr>
            <a:r>
              <a:rPr lang="en-US" sz="1800" b="1" dirty="0">
                <a:solidFill>
                  <a:srgbClr val="0D9488"/>
                </a:solidFill>
              </a:rPr>
              <a:t>07</a:t>
            </a:r>
            <a:endParaRPr lang="en-US" sz="1800" dirty="0"/>
          </a:p>
        </p:txBody>
      </p:sp>
      <p:sp>
        <p:nvSpPr>
          <p:cNvPr id="21" name="Text 25">
            <a:extLst>
              <a:ext uri="{FF2B5EF4-FFF2-40B4-BE49-F238E27FC236}">
                <a16:creationId xmlns:a16="http://schemas.microsoft.com/office/drawing/2014/main" id="{3BF5D223-1695-2A34-263A-A54ACDC11C02}"/>
              </a:ext>
            </a:extLst>
          </p:cNvPr>
          <p:cNvSpPr/>
          <p:nvPr/>
        </p:nvSpPr>
        <p:spPr>
          <a:xfrm>
            <a:off x="4856770" y="3718560"/>
            <a:ext cx="457200" cy="685800"/>
          </a:xfrm>
          <a:prstGeom prst="rect">
            <a:avLst/>
          </a:prstGeom>
          <a:noFill/>
          <a:ln/>
        </p:spPr>
        <p:txBody>
          <a:bodyPr wrap="square" lIns="0" tIns="0" rIns="0" bIns="0" rtlCol="0" anchor="ctr"/>
          <a:lstStyle/>
          <a:p>
            <a:pPr marL="0" indent="0" algn="ctr">
              <a:buNone/>
            </a:pPr>
            <a:r>
              <a:rPr lang="en-US" sz="1800" b="1" dirty="0">
                <a:solidFill>
                  <a:srgbClr val="1A2B5E"/>
                </a:solidFill>
              </a:rPr>
              <a:t>08</a:t>
            </a:r>
            <a:endParaRPr lang="en-US" sz="1800" dirty="0"/>
          </a:p>
        </p:txBody>
      </p:sp>
      <p:sp>
        <p:nvSpPr>
          <p:cNvPr id="22" name="Shape 20">
            <a:extLst>
              <a:ext uri="{FF2B5EF4-FFF2-40B4-BE49-F238E27FC236}">
                <a16:creationId xmlns:a16="http://schemas.microsoft.com/office/drawing/2014/main" id="{BD97568A-676C-B874-5BF8-961626AFA73A}"/>
              </a:ext>
            </a:extLst>
          </p:cNvPr>
          <p:cNvSpPr/>
          <p:nvPr/>
        </p:nvSpPr>
        <p:spPr>
          <a:xfrm>
            <a:off x="4754880" y="1188720"/>
            <a:ext cx="54864" cy="685800"/>
          </a:xfrm>
          <a:prstGeom prst="rect">
            <a:avLst/>
          </a:prstGeom>
          <a:solidFill>
            <a:srgbClr val="0D9488"/>
          </a:solidFill>
          <a:ln w="12700">
            <a:solidFill>
              <a:srgbClr val="0D9488"/>
            </a:solidFill>
            <a:prstDash val="solid"/>
          </a:ln>
        </p:spPr>
        <p:txBody>
          <a:bodyPr/>
          <a:lstStyle/>
          <a:p>
            <a:endParaRPr lang="fr-CA"/>
          </a:p>
        </p:txBody>
      </p:sp>
      <p:sp>
        <p:nvSpPr>
          <p:cNvPr id="23" name="Shape 24">
            <a:extLst>
              <a:ext uri="{FF2B5EF4-FFF2-40B4-BE49-F238E27FC236}">
                <a16:creationId xmlns:a16="http://schemas.microsoft.com/office/drawing/2014/main" id="{C628DA28-1052-96A4-7371-E430BCE6C835}"/>
              </a:ext>
            </a:extLst>
          </p:cNvPr>
          <p:cNvSpPr/>
          <p:nvPr/>
        </p:nvSpPr>
        <p:spPr>
          <a:xfrm>
            <a:off x="4754880" y="2057400"/>
            <a:ext cx="54864" cy="685800"/>
          </a:xfrm>
          <a:prstGeom prst="rect">
            <a:avLst/>
          </a:prstGeom>
          <a:solidFill>
            <a:srgbClr val="1A2B5E"/>
          </a:solidFill>
          <a:ln w="12700">
            <a:solidFill>
              <a:srgbClr val="1A2B5E"/>
            </a:solidFill>
            <a:prstDash val="solid"/>
          </a:ln>
        </p:spPr>
        <p:txBody>
          <a:bodyPr/>
          <a:lstStyle/>
          <a:p>
            <a:endParaRPr lang="fr-CA" dirty="0"/>
          </a:p>
        </p:txBody>
      </p:sp>
      <p:sp>
        <p:nvSpPr>
          <p:cNvPr id="24" name="Shape 24">
            <a:extLst>
              <a:ext uri="{FF2B5EF4-FFF2-40B4-BE49-F238E27FC236}">
                <a16:creationId xmlns:a16="http://schemas.microsoft.com/office/drawing/2014/main" id="{AF6D8281-C87F-9333-CBE0-59E806570E56}"/>
              </a:ext>
            </a:extLst>
          </p:cNvPr>
          <p:cNvSpPr/>
          <p:nvPr/>
        </p:nvSpPr>
        <p:spPr>
          <a:xfrm>
            <a:off x="4754880" y="3764280"/>
            <a:ext cx="54864" cy="685800"/>
          </a:xfrm>
          <a:prstGeom prst="rect">
            <a:avLst/>
          </a:prstGeom>
          <a:solidFill>
            <a:srgbClr val="1A2B5E"/>
          </a:solidFill>
          <a:ln w="12700">
            <a:solidFill>
              <a:srgbClr val="1A2B5E"/>
            </a:solidFill>
            <a:prstDash val="solid"/>
          </a:ln>
        </p:spPr>
        <p:txBody>
          <a:bodyPr/>
          <a:lstStyle/>
          <a:p>
            <a:endParaRPr lang="fr-CA" dirty="0"/>
          </a:p>
        </p:txBody>
      </p:sp>
      <p:sp>
        <p:nvSpPr>
          <p:cNvPr id="25" name="Shape 28">
            <a:extLst>
              <a:ext uri="{FF2B5EF4-FFF2-40B4-BE49-F238E27FC236}">
                <a16:creationId xmlns:a16="http://schemas.microsoft.com/office/drawing/2014/main" id="{04BA256C-60BA-F508-5F6C-C69AB751BE21}"/>
              </a:ext>
            </a:extLst>
          </p:cNvPr>
          <p:cNvSpPr/>
          <p:nvPr/>
        </p:nvSpPr>
        <p:spPr>
          <a:xfrm>
            <a:off x="4754880" y="2926080"/>
            <a:ext cx="54864" cy="685800"/>
          </a:xfrm>
          <a:prstGeom prst="rect">
            <a:avLst/>
          </a:prstGeom>
          <a:solidFill>
            <a:srgbClr val="0D9488"/>
          </a:solidFill>
          <a:ln w="12700">
            <a:solidFill>
              <a:srgbClr val="0D9488"/>
            </a:solidFill>
            <a:prstDash val="solid"/>
          </a:ln>
        </p:spPr>
        <p:txBody>
          <a:bodyPr/>
          <a:lstStyle/>
          <a:p>
            <a:endParaRPr lang="fr-CA"/>
          </a:p>
        </p:txBody>
      </p:sp>
      <p:sp>
        <p:nvSpPr>
          <p:cNvPr id="26" name="Text 6">
            <a:extLst>
              <a:ext uri="{FF2B5EF4-FFF2-40B4-BE49-F238E27FC236}">
                <a16:creationId xmlns:a16="http://schemas.microsoft.com/office/drawing/2014/main" id="{1B2EA02E-863F-D450-4E9D-B1FE91B1528A}"/>
              </a:ext>
            </a:extLst>
          </p:cNvPr>
          <p:cNvSpPr/>
          <p:nvPr/>
        </p:nvSpPr>
        <p:spPr>
          <a:xfrm>
            <a:off x="941832" y="1188720"/>
            <a:ext cx="3493008" cy="685800"/>
          </a:xfrm>
          <a:prstGeom prst="rect">
            <a:avLst/>
          </a:prstGeom>
          <a:noFill/>
          <a:ln/>
        </p:spPr>
        <p:txBody>
          <a:bodyPr wrap="square" rtlCol="0" anchor="ctr"/>
          <a:lstStyle/>
          <a:p>
            <a:r>
              <a:rPr lang="en-US" sz="1300" dirty="0" err="1">
                <a:solidFill>
                  <a:srgbClr val="0F172A"/>
                </a:solidFill>
                <a:latin typeface="Calibri" pitchFamily="34" charset="0"/>
                <a:ea typeface="Calibri" pitchFamily="34" charset="-122"/>
                <a:cs typeface="Calibri" pitchFamily="34" charset="-120"/>
              </a:rPr>
              <a:t>Contexte</a:t>
            </a:r>
            <a:endParaRPr lang="en-US" sz="1300" dirty="0"/>
          </a:p>
        </p:txBody>
      </p:sp>
      <p:sp>
        <p:nvSpPr>
          <p:cNvPr id="27" name="Text 10">
            <a:extLst>
              <a:ext uri="{FF2B5EF4-FFF2-40B4-BE49-F238E27FC236}">
                <a16:creationId xmlns:a16="http://schemas.microsoft.com/office/drawing/2014/main" id="{76C9B278-2756-8BE6-D1DE-45D057C70D1D}"/>
              </a:ext>
            </a:extLst>
          </p:cNvPr>
          <p:cNvSpPr/>
          <p:nvPr/>
        </p:nvSpPr>
        <p:spPr>
          <a:xfrm>
            <a:off x="1585722" y="118872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et </a:t>
            </a:r>
            <a:r>
              <a:rPr lang="en-US" sz="1300" dirty="0" err="1">
                <a:solidFill>
                  <a:srgbClr val="0F172A"/>
                </a:solidFill>
                <a:latin typeface="Calibri" pitchFamily="34" charset="0"/>
                <a:ea typeface="Calibri" pitchFamily="34" charset="-122"/>
                <a:cs typeface="Calibri" pitchFamily="34" charset="-120"/>
              </a:rPr>
              <a:t>Objectifs</a:t>
            </a:r>
            <a:r>
              <a:rPr lang="en-US" sz="1300" dirty="0">
                <a:solidFill>
                  <a:srgbClr val="0F172A"/>
                </a:solidFill>
                <a:latin typeface="Calibri" pitchFamily="34" charset="0"/>
                <a:ea typeface="Calibri" pitchFamily="34" charset="-122"/>
                <a:cs typeface="Calibri" pitchFamily="34" charset="-120"/>
              </a:rPr>
              <a:t> du </a:t>
            </a:r>
            <a:r>
              <a:rPr lang="en-US" sz="1300" dirty="0" err="1">
                <a:solidFill>
                  <a:srgbClr val="0F172A"/>
                </a:solidFill>
                <a:latin typeface="Calibri" pitchFamily="34" charset="0"/>
                <a:ea typeface="Calibri" pitchFamily="34" charset="-122"/>
                <a:cs typeface="Calibri" pitchFamily="34" charset="-120"/>
              </a:rPr>
              <a:t>projet</a:t>
            </a:r>
            <a:endParaRPr lang="en-US" sz="1300" dirty="0"/>
          </a:p>
        </p:txBody>
      </p:sp>
      <p:sp>
        <p:nvSpPr>
          <p:cNvPr id="28" name="Text 6">
            <a:extLst>
              <a:ext uri="{FF2B5EF4-FFF2-40B4-BE49-F238E27FC236}">
                <a16:creationId xmlns:a16="http://schemas.microsoft.com/office/drawing/2014/main" id="{5C518F6D-9EB1-9AEE-B82B-5382B6EC97A9}"/>
              </a:ext>
            </a:extLst>
          </p:cNvPr>
          <p:cNvSpPr/>
          <p:nvPr/>
        </p:nvSpPr>
        <p:spPr>
          <a:xfrm>
            <a:off x="914400" y="203454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Calendrier des activités</a:t>
            </a:r>
            <a:endParaRPr lang="en-US" sz="1300" dirty="0"/>
          </a:p>
        </p:txBody>
      </p:sp>
      <p:sp>
        <p:nvSpPr>
          <p:cNvPr id="29" name="Text 10">
            <a:extLst>
              <a:ext uri="{FF2B5EF4-FFF2-40B4-BE49-F238E27FC236}">
                <a16:creationId xmlns:a16="http://schemas.microsoft.com/office/drawing/2014/main" id="{D022CFAC-C1FC-C99E-2679-0C55D41CE910}"/>
              </a:ext>
            </a:extLst>
          </p:cNvPr>
          <p:cNvSpPr/>
          <p:nvPr/>
        </p:nvSpPr>
        <p:spPr>
          <a:xfrm>
            <a:off x="872490" y="290322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Exigences fonctionnelles &amp; non fonctionnelles</a:t>
            </a:r>
            <a:endParaRPr lang="en-US" sz="1300" dirty="0"/>
          </a:p>
        </p:txBody>
      </p:sp>
      <p:sp>
        <p:nvSpPr>
          <p:cNvPr id="30" name="Text 14">
            <a:extLst>
              <a:ext uri="{FF2B5EF4-FFF2-40B4-BE49-F238E27FC236}">
                <a16:creationId xmlns:a16="http://schemas.microsoft.com/office/drawing/2014/main" id="{B4C719A0-F3EE-8413-A8CA-6A4AB2C5A0D7}"/>
              </a:ext>
            </a:extLst>
          </p:cNvPr>
          <p:cNvSpPr/>
          <p:nvPr/>
        </p:nvSpPr>
        <p:spPr>
          <a:xfrm>
            <a:off x="960120" y="376428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Conception de la solution IA</a:t>
            </a:r>
            <a:endParaRPr lang="en-US" sz="1300" dirty="0"/>
          </a:p>
        </p:txBody>
      </p:sp>
      <p:sp>
        <p:nvSpPr>
          <p:cNvPr id="32" name="Text 18">
            <a:extLst>
              <a:ext uri="{FF2B5EF4-FFF2-40B4-BE49-F238E27FC236}">
                <a16:creationId xmlns:a16="http://schemas.microsoft.com/office/drawing/2014/main" id="{7FAB279D-A1F4-2F26-AE54-888E3DB5E025}"/>
              </a:ext>
            </a:extLst>
          </p:cNvPr>
          <p:cNvSpPr/>
          <p:nvPr/>
        </p:nvSpPr>
        <p:spPr>
          <a:xfrm>
            <a:off x="5292852" y="118872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Configuration de la plateforme IA</a:t>
            </a:r>
            <a:endParaRPr lang="en-US" sz="1300" dirty="0"/>
          </a:p>
        </p:txBody>
      </p:sp>
      <p:sp>
        <p:nvSpPr>
          <p:cNvPr id="33" name="Text 22">
            <a:extLst>
              <a:ext uri="{FF2B5EF4-FFF2-40B4-BE49-F238E27FC236}">
                <a16:creationId xmlns:a16="http://schemas.microsoft.com/office/drawing/2014/main" id="{5562D9AF-2BA1-03F6-4B34-44846BF5934B}"/>
              </a:ext>
            </a:extLst>
          </p:cNvPr>
          <p:cNvSpPr/>
          <p:nvPr/>
        </p:nvSpPr>
        <p:spPr>
          <a:xfrm>
            <a:off x="5221224" y="207645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Développement &amp; intégration</a:t>
            </a:r>
            <a:endParaRPr lang="en-US" sz="1300" dirty="0"/>
          </a:p>
        </p:txBody>
      </p:sp>
      <p:sp>
        <p:nvSpPr>
          <p:cNvPr id="34" name="Text 26">
            <a:extLst>
              <a:ext uri="{FF2B5EF4-FFF2-40B4-BE49-F238E27FC236}">
                <a16:creationId xmlns:a16="http://schemas.microsoft.com/office/drawing/2014/main" id="{B455BE0B-E357-700A-6554-4677A34BC194}"/>
              </a:ext>
            </a:extLst>
          </p:cNvPr>
          <p:cNvSpPr/>
          <p:nvPr/>
        </p:nvSpPr>
        <p:spPr>
          <a:xfrm>
            <a:off x="5266944" y="291465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Validation qualité &amp; sécurité</a:t>
            </a:r>
            <a:endParaRPr lang="en-US" sz="1300" dirty="0"/>
          </a:p>
        </p:txBody>
      </p:sp>
      <p:sp>
        <p:nvSpPr>
          <p:cNvPr id="35" name="Text 30">
            <a:extLst>
              <a:ext uri="{FF2B5EF4-FFF2-40B4-BE49-F238E27FC236}">
                <a16:creationId xmlns:a16="http://schemas.microsoft.com/office/drawing/2014/main" id="{7E3EBA57-0B58-8126-7A29-F8212F28FDC4}"/>
              </a:ext>
            </a:extLst>
          </p:cNvPr>
          <p:cNvSpPr/>
          <p:nvPr/>
        </p:nvSpPr>
        <p:spPr>
          <a:xfrm>
            <a:off x="5266944" y="3699510"/>
            <a:ext cx="3493008" cy="68580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Déploiement efficace</a:t>
            </a:r>
            <a:endParaRPr lang="en-US" sz="1300" dirty="0"/>
          </a:p>
        </p:txBody>
      </p:sp>
      <p:sp>
        <p:nvSpPr>
          <p:cNvPr id="36" name="Shape 0">
            <a:extLst>
              <a:ext uri="{FF2B5EF4-FFF2-40B4-BE49-F238E27FC236}">
                <a16:creationId xmlns:a16="http://schemas.microsoft.com/office/drawing/2014/main" id="{5EB0781E-F43A-2E06-AE10-E63CD36B896F}"/>
              </a:ext>
            </a:extLst>
          </p:cNvPr>
          <p:cNvSpPr/>
          <p:nvPr/>
        </p:nvSpPr>
        <p:spPr>
          <a:xfrm>
            <a:off x="0" y="0"/>
            <a:ext cx="9144000" cy="914400"/>
          </a:xfrm>
          <a:prstGeom prst="rect">
            <a:avLst/>
          </a:prstGeom>
          <a:solidFill>
            <a:srgbClr val="1A2B5E"/>
          </a:solidFill>
          <a:ln w="12700">
            <a:solidFill>
              <a:srgbClr val="1A2B5E"/>
            </a:solidFill>
            <a:prstDash val="solid"/>
          </a:ln>
        </p:spPr>
        <p:txBody>
          <a:bodyPr/>
          <a:lstStyle/>
          <a:p>
            <a:endParaRPr lang="en-US" b="1" dirty="0">
              <a:solidFill>
                <a:srgbClr val="FFFFFF"/>
              </a:solidFill>
              <a:latin typeface="Trebuchet MS" pitchFamily="34" charset="0"/>
              <a:ea typeface="Trebuchet MS" pitchFamily="34" charset="-122"/>
              <a:cs typeface="Trebuchet MS" pitchFamily="34" charset="-120"/>
            </a:endParaRPr>
          </a:p>
          <a:p>
            <a:r>
              <a:rPr lang="fr-CA" sz="2800" b="1" dirty="0">
                <a:solidFill>
                  <a:srgbClr val="FFFFFF"/>
                </a:solidFill>
                <a:latin typeface="Calibri" pitchFamily="34" charset="0"/>
                <a:ea typeface="Calibri" pitchFamily="34" charset="-122"/>
                <a:cs typeface="Calibri" pitchFamily="34" charset="-120"/>
              </a:rPr>
              <a:t>Plan de la présentation</a:t>
            </a:r>
            <a:endParaRPr lang="en-US" sz="2800" b="1" dirty="0">
              <a:solidFill>
                <a:srgbClr val="FFFFFF"/>
              </a:solidFill>
              <a:latin typeface="Calibri" pitchFamily="34" charset="0"/>
              <a:ea typeface="Calibri" pitchFamily="34" charset="-122"/>
              <a:cs typeface="Calibri" pitchFamily="34" charset="-120"/>
            </a:endParaRPr>
          </a:p>
        </p:txBody>
      </p:sp>
      <p:sp>
        <p:nvSpPr>
          <p:cNvPr id="37" name="Shape 1">
            <a:extLst>
              <a:ext uri="{FF2B5EF4-FFF2-40B4-BE49-F238E27FC236}">
                <a16:creationId xmlns:a16="http://schemas.microsoft.com/office/drawing/2014/main" id="{A3B63988-AC09-19EA-D77B-FC90AFF31FCD}"/>
              </a:ext>
            </a:extLst>
          </p:cNvPr>
          <p:cNvSpPr/>
          <p:nvPr/>
        </p:nvSpPr>
        <p:spPr>
          <a:xfrm>
            <a:off x="0" y="914400"/>
            <a:ext cx="9144000" cy="54864"/>
          </a:xfrm>
          <a:prstGeom prst="rect">
            <a:avLst/>
          </a:prstGeom>
          <a:solidFill>
            <a:srgbClr val="0D9488"/>
          </a:solidFill>
          <a:ln w="12700">
            <a:solidFill>
              <a:srgbClr val="0D9488"/>
            </a:solidFill>
            <a:prstDash val="solid"/>
          </a:ln>
        </p:spPr>
        <p:txBody>
          <a:bodyPr/>
          <a:lstStyle/>
          <a:p>
            <a:endParaRPr lang="fr-CA"/>
          </a:p>
        </p:txBody>
      </p:sp>
    </p:spTree>
    <p:extLst>
      <p:ext uri="{BB962C8B-B14F-4D97-AF65-F5344CB8AC3E}">
        <p14:creationId xmlns:p14="http://schemas.microsoft.com/office/powerpoint/2010/main" val="3285716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p:spPr>
        <p:txBody>
          <a:bodyPr/>
          <a:lstStyle/>
          <a:p>
            <a:endParaRPr lang="fr-CA"/>
          </a:p>
        </p:txBody>
      </p:sp>
      <p:sp>
        <p:nvSpPr>
          <p:cNvPr id="3" name="Text 1"/>
          <p:cNvSpPr/>
          <p:nvPr/>
        </p:nvSpPr>
        <p:spPr>
          <a:xfrm>
            <a:off x="457200" y="228600"/>
            <a:ext cx="8229600" cy="548640"/>
          </a:xfrm>
          <a:prstGeom prst="rect">
            <a:avLst/>
          </a:prstGeom>
          <a:noFill/>
          <a:ln/>
        </p:spPr>
        <p:txBody>
          <a:bodyPr wrap="square" rtlCol="0" anchor="ctr"/>
          <a:lstStyle/>
          <a:p>
            <a:r>
              <a:rPr lang="en-US" sz="2800" b="1" dirty="0">
                <a:solidFill>
                  <a:srgbClr val="FFFFFF"/>
                </a:solidFill>
                <a:latin typeface="Trebuchet MS" pitchFamily="34" charset="0"/>
                <a:ea typeface="Trebuchet MS" pitchFamily="34" charset="-122"/>
                <a:cs typeface="Trebuchet MS" pitchFamily="34" charset="-120"/>
              </a:rPr>
              <a:t>01  · </a:t>
            </a:r>
            <a:r>
              <a:rPr lang="en-US" sz="2800" b="1" dirty="0" err="1">
                <a:solidFill>
                  <a:srgbClr val="FFFFFF"/>
                </a:solidFill>
                <a:latin typeface="Calibri" pitchFamily="34" charset="0"/>
                <a:ea typeface="Calibri" pitchFamily="34" charset="-122"/>
                <a:cs typeface="Calibri" pitchFamily="34" charset="-120"/>
              </a:rPr>
              <a:t>Contexte</a:t>
            </a:r>
            <a:r>
              <a:rPr lang="en-US" sz="2800" b="1" dirty="0">
                <a:solidFill>
                  <a:srgbClr val="FFFFFF"/>
                </a:solidFill>
                <a:latin typeface="Calibri" pitchFamily="34" charset="0"/>
                <a:ea typeface="Calibri" pitchFamily="34" charset="-122"/>
                <a:cs typeface="Calibri" pitchFamily="34" charset="-120"/>
              </a:rPr>
              <a:t> &amp; Problématique</a:t>
            </a:r>
            <a:endParaRPr lang="en-US" sz="2800" dirty="0"/>
          </a:p>
        </p:txBody>
      </p:sp>
      <p:sp>
        <p:nvSpPr>
          <p:cNvPr id="4" name="Shape 2"/>
          <p:cNvSpPr/>
          <p:nvPr/>
        </p:nvSpPr>
        <p:spPr>
          <a:xfrm>
            <a:off x="320040" y="960120"/>
            <a:ext cx="3840480" cy="34747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5" name="Shape 3"/>
          <p:cNvSpPr/>
          <p:nvPr/>
        </p:nvSpPr>
        <p:spPr>
          <a:xfrm>
            <a:off x="320040" y="960120"/>
            <a:ext cx="3840480" cy="73152"/>
          </a:xfrm>
          <a:prstGeom prst="rect">
            <a:avLst/>
          </a:prstGeom>
          <a:solidFill>
            <a:srgbClr val="00B4D8"/>
          </a:solidFill>
          <a:ln/>
        </p:spPr>
        <p:txBody>
          <a:bodyPr/>
          <a:lstStyle/>
          <a:p>
            <a:endParaRPr lang="fr-CA"/>
          </a:p>
        </p:txBody>
      </p:sp>
      <p:sp>
        <p:nvSpPr>
          <p:cNvPr id="6" name="Text 4"/>
          <p:cNvSpPr/>
          <p:nvPr/>
        </p:nvSpPr>
        <p:spPr>
          <a:xfrm>
            <a:off x="502920" y="1097280"/>
            <a:ext cx="3474720" cy="411480"/>
          </a:xfrm>
          <a:prstGeom prst="rect">
            <a:avLst/>
          </a:prstGeom>
          <a:noFill/>
          <a:ln/>
        </p:spPr>
        <p:txBody>
          <a:bodyPr wrap="square"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 CONTEXTE</a:t>
            </a:r>
            <a:endParaRPr lang="en-US" sz="1300" dirty="0"/>
          </a:p>
        </p:txBody>
      </p:sp>
      <p:sp>
        <p:nvSpPr>
          <p:cNvPr id="7" name="Text 5"/>
          <p:cNvSpPr/>
          <p:nvPr/>
        </p:nvSpPr>
        <p:spPr>
          <a:xfrm>
            <a:off x="457200" y="1691640"/>
            <a:ext cx="3474720" cy="2651760"/>
          </a:xfrm>
          <a:prstGeom prst="rect">
            <a:avLst/>
          </a:prstGeom>
          <a:noFill/>
          <a:ln/>
        </p:spPr>
        <p:txBody>
          <a:bodyPr wrap="square" rtlCol="0" anchor="t"/>
          <a:lstStyle/>
          <a:p>
            <a:pPr marL="171450" indent="-171450">
              <a:buFont typeface="Wingdings" panose="05000000000000000000" pitchFamily="2" charset="2"/>
              <a:buChar char="Ø"/>
            </a:pPr>
            <a:r>
              <a:rPr lang="en-US" sz="1200" dirty="0">
                <a:solidFill>
                  <a:schemeClr val="bg1"/>
                </a:solidFill>
                <a:latin typeface="Calibri" pitchFamily="34" charset="0"/>
                <a:ea typeface="Calibri" pitchFamily="34" charset="-122"/>
                <a:cs typeface="Calibri" pitchFamily="34" charset="-120"/>
              </a:rPr>
              <a:t>La vision par </a:t>
            </a:r>
            <a:r>
              <a:rPr lang="en-US" sz="1200" dirty="0" err="1">
                <a:solidFill>
                  <a:schemeClr val="bg1"/>
                </a:solidFill>
                <a:latin typeface="Calibri" pitchFamily="34" charset="0"/>
                <a:ea typeface="Calibri" pitchFamily="34" charset="-122"/>
                <a:cs typeface="Calibri" pitchFamily="34" charset="-120"/>
              </a:rPr>
              <a:t>ordinateur</a:t>
            </a:r>
            <a:r>
              <a:rPr lang="en-US" sz="1200" dirty="0">
                <a:solidFill>
                  <a:schemeClr val="bg1"/>
                </a:solidFill>
                <a:latin typeface="Calibri" pitchFamily="34" charset="0"/>
                <a:ea typeface="Calibri" pitchFamily="34" charset="-122"/>
                <a:cs typeface="Calibri" pitchFamily="34" charset="-120"/>
              </a:rPr>
              <a:t> </a:t>
            </a:r>
            <a:r>
              <a:rPr lang="en-US" sz="1200" dirty="0">
                <a:solidFill>
                  <a:srgbClr val="E8F4F8"/>
                </a:solidFill>
                <a:latin typeface="Calibri" pitchFamily="34" charset="0"/>
                <a:ea typeface="Calibri" pitchFamily="34" charset="-122"/>
                <a:cs typeface="Calibri" pitchFamily="34" charset="-120"/>
              </a:rPr>
              <a:t>extrait </a:t>
            </a:r>
            <a:r>
              <a:rPr lang="en-US" sz="1200" dirty="0" err="1">
                <a:solidFill>
                  <a:srgbClr val="E8F4F8"/>
                </a:solidFill>
                <a:latin typeface="Calibri" pitchFamily="34" charset="0"/>
                <a:ea typeface="Calibri" pitchFamily="34" charset="-122"/>
                <a:cs typeface="Calibri" pitchFamily="34" charset="-120"/>
              </a:rPr>
              <a:t>automatiquement</a:t>
            </a:r>
            <a:r>
              <a:rPr lang="en-US" sz="1200" dirty="0">
                <a:solidFill>
                  <a:srgbClr val="E8F4F8"/>
                </a:solidFill>
                <a:latin typeface="Calibri" pitchFamily="34" charset="0"/>
                <a:ea typeface="Calibri" pitchFamily="34" charset="-122"/>
                <a:cs typeface="Calibri" pitchFamily="34" charset="-120"/>
              </a:rPr>
              <a:t> des </a:t>
            </a:r>
            <a:r>
              <a:rPr lang="en-US" sz="1200" dirty="0" err="1">
                <a:solidFill>
                  <a:srgbClr val="E8F4F8"/>
                </a:solidFill>
                <a:latin typeface="Calibri" pitchFamily="34" charset="0"/>
                <a:ea typeface="Calibri" pitchFamily="34" charset="-122"/>
                <a:cs typeface="Calibri" pitchFamily="34" charset="-120"/>
              </a:rPr>
              <a:t>informations</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depuis</a:t>
            </a:r>
            <a:r>
              <a:rPr lang="en-US" sz="1200" dirty="0">
                <a:solidFill>
                  <a:srgbClr val="E8F4F8"/>
                </a:solidFill>
                <a:latin typeface="Calibri" pitchFamily="34" charset="0"/>
                <a:ea typeface="Calibri" pitchFamily="34" charset="-122"/>
                <a:cs typeface="Calibri" pitchFamily="34" charset="-120"/>
              </a:rPr>
              <a:t> des images </a:t>
            </a:r>
            <a:r>
              <a:rPr lang="en-US" sz="1200" dirty="0" err="1">
                <a:solidFill>
                  <a:srgbClr val="E8F4F8"/>
                </a:solidFill>
                <a:latin typeface="Calibri" pitchFamily="34" charset="0"/>
                <a:ea typeface="Calibri" pitchFamily="34" charset="-122"/>
                <a:cs typeface="Calibri" pitchFamily="34" charset="-120"/>
              </a:rPr>
              <a:t>médicales</a:t>
            </a:r>
            <a:r>
              <a:rPr lang="en-US" sz="1200" dirty="0">
                <a:solidFill>
                  <a:srgbClr val="E8F4F8"/>
                </a:solidFill>
                <a:latin typeface="Calibri" pitchFamily="34" charset="0"/>
                <a:ea typeface="Calibri" pitchFamily="34" charset="-122"/>
                <a:cs typeface="Calibri" pitchFamily="34" charset="-120"/>
              </a:rPr>
              <a:t>.</a:t>
            </a:r>
          </a:p>
          <a:p>
            <a:endParaRPr lang="en-US" sz="1200" dirty="0">
              <a:solidFill>
                <a:srgbClr val="E8F4F8"/>
              </a:solidFill>
              <a:latin typeface="Calibri" pitchFamily="34" charset="0"/>
              <a:ea typeface="Calibri" pitchFamily="34" charset="-122"/>
              <a:cs typeface="Calibri" pitchFamily="34" charset="-120"/>
            </a:endParaRPr>
          </a:p>
          <a:p>
            <a:pPr marL="171450" indent="-171450">
              <a:buFont typeface="Wingdings" panose="05000000000000000000" pitchFamily="2" charset="2"/>
              <a:buChar char="Ø"/>
            </a:pPr>
            <a:r>
              <a:rPr lang="en-US" sz="1200" dirty="0" err="1">
                <a:solidFill>
                  <a:srgbClr val="E8F4F8"/>
                </a:solidFill>
                <a:latin typeface="Calibri" pitchFamily="34" charset="0"/>
                <a:ea typeface="Calibri" pitchFamily="34" charset="-122"/>
                <a:cs typeface="Calibri" pitchFamily="34" charset="-120"/>
              </a:rPr>
              <a:t>Analyse</a:t>
            </a:r>
            <a:r>
              <a:rPr lang="en-US" sz="1200" dirty="0">
                <a:solidFill>
                  <a:srgbClr val="E8F4F8"/>
                </a:solidFill>
                <a:latin typeface="Calibri" pitchFamily="34" charset="0"/>
                <a:ea typeface="Calibri" pitchFamily="34" charset="-122"/>
                <a:cs typeface="Calibri" pitchFamily="34" charset="-120"/>
              </a:rPr>
              <a:t> des </a:t>
            </a:r>
            <a:r>
              <a:rPr lang="en-US" sz="1200" dirty="0" err="1">
                <a:solidFill>
                  <a:srgbClr val="E8F4F8"/>
                </a:solidFill>
                <a:latin typeface="Calibri" pitchFamily="34" charset="0"/>
                <a:ea typeface="Calibri" pitchFamily="34" charset="-122"/>
                <a:cs typeface="Calibri" pitchFamily="34" charset="-120"/>
              </a:rPr>
              <a:t>lésions</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cutanées</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en</a:t>
            </a:r>
            <a:r>
              <a:rPr lang="en-US" sz="1200" dirty="0">
                <a:solidFill>
                  <a:srgbClr val="E8F4F8"/>
                </a:solidFill>
                <a:latin typeface="Calibri" pitchFamily="34" charset="0"/>
                <a:ea typeface="Calibri" pitchFamily="34" charset="-122"/>
                <a:cs typeface="Calibri" pitchFamily="34" charset="-120"/>
              </a:rPr>
              <a:t> </a:t>
            </a:r>
            <a:r>
              <a:rPr lang="en-US" sz="1200" dirty="0" err="1">
                <a:solidFill>
                  <a:srgbClr val="E8F4F8"/>
                </a:solidFill>
                <a:latin typeface="Calibri" pitchFamily="34" charset="0"/>
                <a:ea typeface="Calibri" pitchFamily="34" charset="-122"/>
                <a:cs typeface="Calibri" pitchFamily="34" charset="-120"/>
              </a:rPr>
              <a:t>dermatologie</a:t>
            </a:r>
            <a:r>
              <a:rPr lang="en-US" sz="1200" dirty="0">
                <a:solidFill>
                  <a:srgbClr val="E8F4F8"/>
                </a:solidFill>
                <a:latin typeface="Calibri" pitchFamily="34" charset="0"/>
                <a:ea typeface="Calibri" pitchFamily="34" charset="-122"/>
                <a:cs typeface="Calibri" pitchFamily="34" charset="-120"/>
              </a:rPr>
              <a:t>.</a:t>
            </a:r>
          </a:p>
          <a:p>
            <a:pPr marL="171450" indent="-171450">
              <a:buFont typeface="Wingdings" panose="05000000000000000000" pitchFamily="2" charset="2"/>
              <a:buChar char="Ø"/>
            </a:pPr>
            <a:endParaRPr lang="en-US" sz="1200" dirty="0">
              <a:solidFill>
                <a:srgbClr val="E8F4F8"/>
              </a:solidFill>
              <a:latin typeface="Calibri" pitchFamily="34" charset="0"/>
              <a:ea typeface="Calibri" pitchFamily="34" charset="-122"/>
              <a:cs typeface="Calibri" pitchFamily="34" charset="-120"/>
            </a:endParaRPr>
          </a:p>
          <a:p>
            <a:pPr marL="171450" indent="-171450">
              <a:buFont typeface="Wingdings" panose="05000000000000000000" pitchFamily="2" charset="2"/>
              <a:buChar char="Ø"/>
            </a:pPr>
            <a:r>
              <a:rPr lang="en-US" sz="1200" dirty="0" err="1">
                <a:solidFill>
                  <a:srgbClr val="E8F4F8"/>
                </a:solidFill>
                <a:latin typeface="Calibri" pitchFamily="34" charset="0"/>
                <a:ea typeface="Calibri" pitchFamily="34" charset="-122"/>
                <a:cs typeface="Calibri" pitchFamily="34" charset="-120"/>
              </a:rPr>
              <a:t>Amélioration</a:t>
            </a:r>
            <a:r>
              <a:rPr lang="en-US" sz="1200" dirty="0">
                <a:solidFill>
                  <a:srgbClr val="E8F4F8"/>
                </a:solidFill>
                <a:latin typeface="Calibri" pitchFamily="34" charset="0"/>
                <a:ea typeface="Calibri" pitchFamily="34" charset="-122"/>
                <a:cs typeface="Calibri" pitchFamily="34" charset="-120"/>
              </a:rPr>
              <a:t> de la </a:t>
            </a:r>
            <a:r>
              <a:rPr lang="en-US" sz="1200" dirty="0" err="1">
                <a:solidFill>
                  <a:srgbClr val="E8F4F8"/>
                </a:solidFill>
                <a:latin typeface="Calibri" pitchFamily="34" charset="0"/>
                <a:ea typeface="Calibri" pitchFamily="34" charset="-122"/>
                <a:cs typeface="Calibri" pitchFamily="34" charset="-120"/>
              </a:rPr>
              <a:t>rapidité</a:t>
            </a:r>
            <a:r>
              <a:rPr lang="en-US" sz="1200" dirty="0">
                <a:solidFill>
                  <a:srgbClr val="E8F4F8"/>
                </a:solidFill>
                <a:latin typeface="Calibri" pitchFamily="34" charset="0"/>
                <a:ea typeface="Calibri" pitchFamily="34" charset="-122"/>
                <a:cs typeface="Calibri" pitchFamily="34" charset="-120"/>
              </a:rPr>
              <a:t> et la </a:t>
            </a:r>
            <a:r>
              <a:rPr lang="en-US" sz="1200" dirty="0" err="1">
                <a:solidFill>
                  <a:srgbClr val="E8F4F8"/>
                </a:solidFill>
                <a:latin typeface="Calibri" pitchFamily="34" charset="0"/>
                <a:ea typeface="Calibri" pitchFamily="34" charset="-122"/>
                <a:cs typeface="Calibri" pitchFamily="34" charset="-120"/>
              </a:rPr>
              <a:t>précision</a:t>
            </a:r>
            <a:r>
              <a:rPr lang="en-US" sz="1200" dirty="0">
                <a:solidFill>
                  <a:srgbClr val="E8F4F8"/>
                </a:solidFill>
                <a:latin typeface="Calibri" pitchFamily="34" charset="0"/>
                <a:ea typeface="Calibri" pitchFamily="34" charset="-122"/>
                <a:cs typeface="Calibri" pitchFamily="34" charset="-120"/>
              </a:rPr>
              <a:t> du diagnostic.</a:t>
            </a:r>
          </a:p>
          <a:p>
            <a:endParaRPr lang="en-US" sz="1200" dirty="0">
              <a:solidFill>
                <a:srgbClr val="E8F4F8"/>
              </a:solidFill>
              <a:latin typeface="Calibri" pitchFamily="34" charset="0"/>
              <a:ea typeface="Calibri" pitchFamily="34" charset="-122"/>
              <a:cs typeface="Calibri" pitchFamily="34" charset="-120"/>
            </a:endParaRPr>
          </a:p>
          <a:p>
            <a:endParaRPr lang="en-US" sz="1200" dirty="0"/>
          </a:p>
        </p:txBody>
      </p:sp>
      <p:sp>
        <p:nvSpPr>
          <p:cNvPr id="8" name="Shape 6"/>
          <p:cNvSpPr/>
          <p:nvPr/>
        </p:nvSpPr>
        <p:spPr>
          <a:xfrm>
            <a:off x="4983480" y="960120"/>
            <a:ext cx="3840480" cy="34747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9" name="Shape 7"/>
          <p:cNvSpPr/>
          <p:nvPr/>
        </p:nvSpPr>
        <p:spPr>
          <a:xfrm>
            <a:off x="4983480" y="960120"/>
            <a:ext cx="3840480" cy="73152"/>
          </a:xfrm>
          <a:prstGeom prst="rect">
            <a:avLst/>
          </a:prstGeom>
          <a:solidFill>
            <a:srgbClr val="06D6A0"/>
          </a:solidFill>
          <a:ln/>
        </p:spPr>
        <p:txBody>
          <a:bodyPr/>
          <a:lstStyle/>
          <a:p>
            <a:endParaRPr lang="fr-CA"/>
          </a:p>
        </p:txBody>
      </p:sp>
      <p:sp>
        <p:nvSpPr>
          <p:cNvPr id="10" name="Text 8"/>
          <p:cNvSpPr/>
          <p:nvPr/>
        </p:nvSpPr>
        <p:spPr>
          <a:xfrm>
            <a:off x="5166360" y="1097280"/>
            <a:ext cx="3474720" cy="411480"/>
          </a:xfrm>
          <a:prstGeom prst="rect">
            <a:avLst/>
          </a:prstGeom>
          <a:noFill/>
          <a:ln/>
        </p:spPr>
        <p:txBody>
          <a:bodyPr wrap="square" rtlCol="0" anchor="ctr"/>
          <a:lstStyle/>
          <a:p>
            <a:pPr marL="0" indent="0">
              <a:buNone/>
            </a:pPr>
            <a:r>
              <a:rPr lang="en-US" sz="1300" b="1" dirty="0">
                <a:solidFill>
                  <a:srgbClr val="06D6A0"/>
                </a:solidFill>
                <a:latin typeface="Calibri" pitchFamily="34" charset="0"/>
                <a:ea typeface="Calibri" pitchFamily="34" charset="-122"/>
                <a:cs typeface="Calibri" pitchFamily="34" charset="-120"/>
              </a:rPr>
              <a:t>❓ PROBLÉMATIQUE</a:t>
            </a:r>
            <a:endParaRPr lang="en-US" sz="1300" dirty="0"/>
          </a:p>
        </p:txBody>
      </p:sp>
      <p:sp>
        <p:nvSpPr>
          <p:cNvPr id="11" name="Text 9"/>
          <p:cNvSpPr/>
          <p:nvPr/>
        </p:nvSpPr>
        <p:spPr>
          <a:xfrm>
            <a:off x="5166360" y="1600200"/>
            <a:ext cx="3474720" cy="457200"/>
          </a:xfrm>
          <a:prstGeom prst="rect">
            <a:avLst/>
          </a:prstGeom>
          <a:noFill/>
          <a:ln/>
        </p:spPr>
        <p:txBody>
          <a:bodyPr wrap="square" rtlCol="0" anchor="ctr"/>
          <a:lstStyle/>
          <a:p>
            <a:pPr marL="0" indent="0">
              <a:buNone/>
            </a:pPr>
            <a:r>
              <a:rPr lang="en-US" sz="1200" b="1" dirty="0">
                <a:solidFill>
                  <a:srgbClr val="E8F4F8"/>
                </a:solidFill>
                <a:latin typeface="Calibri" pitchFamily="34" charset="0"/>
                <a:ea typeface="Calibri" pitchFamily="34" charset="-122"/>
                <a:cs typeface="Calibri" pitchFamily="34" charset="-120"/>
              </a:rPr>
              <a:t>Comment développer un système capable de :</a:t>
            </a:r>
            <a:endParaRPr lang="en-US" sz="1200" dirty="0"/>
          </a:p>
        </p:txBody>
      </p:sp>
      <p:sp>
        <p:nvSpPr>
          <p:cNvPr id="12" name="Text 10"/>
          <p:cNvSpPr/>
          <p:nvPr/>
        </p:nvSpPr>
        <p:spPr>
          <a:xfrm>
            <a:off x="5166360" y="2148840"/>
            <a:ext cx="3474720" cy="2103120"/>
          </a:xfrm>
          <a:prstGeom prst="rect">
            <a:avLst/>
          </a:prstGeom>
          <a:noFill/>
          <a:ln/>
        </p:spPr>
        <p:txBody>
          <a:bodyPr wrap="square" rtlCol="0" anchor="t"/>
          <a:lstStyle/>
          <a:p>
            <a:pPr marL="0" indent="0">
              <a:spcAft>
                <a:spcPts val="800"/>
              </a:spcAft>
              <a:buNone/>
            </a:pPr>
            <a:r>
              <a:rPr lang="en-US" sz="1200" dirty="0">
                <a:solidFill>
                  <a:srgbClr val="E8F4F8"/>
                </a:solidFill>
                <a:latin typeface="Calibri" pitchFamily="34" charset="0"/>
                <a:ea typeface="Calibri" pitchFamily="34" charset="-122"/>
                <a:cs typeface="Calibri" pitchFamily="34" charset="-120"/>
              </a:rPr>
              <a:t>1. Segmenter automatiquement une lésion cutanée</a:t>
            </a:r>
            <a:endParaRPr lang="en-US" sz="1200" dirty="0"/>
          </a:p>
          <a:p>
            <a:pPr marL="0" indent="0">
              <a:spcAft>
                <a:spcPts val="800"/>
              </a:spcAft>
              <a:buNone/>
            </a:pPr>
            <a:r>
              <a:rPr lang="en-US" sz="1200" dirty="0">
                <a:solidFill>
                  <a:srgbClr val="E8F4F8"/>
                </a:solidFill>
                <a:latin typeface="Calibri" pitchFamily="34" charset="0"/>
                <a:ea typeface="Calibri" pitchFamily="34" charset="-122"/>
                <a:cs typeface="Calibri" pitchFamily="34" charset="-120"/>
              </a:rPr>
              <a:t>2. Extraire des indicateurs géométriques fiables</a:t>
            </a:r>
            <a:endParaRPr lang="en-US" sz="1200" dirty="0"/>
          </a:p>
          <a:p>
            <a:pPr marL="0" indent="0">
              <a:spcAft>
                <a:spcPts val="800"/>
              </a:spcAft>
              <a:buNone/>
            </a:pPr>
            <a:r>
              <a:rPr lang="en-US" sz="1200" dirty="0">
                <a:solidFill>
                  <a:srgbClr val="E8F4F8"/>
                </a:solidFill>
                <a:latin typeface="Calibri" pitchFamily="34" charset="0"/>
                <a:ea typeface="Calibri" pitchFamily="34" charset="-122"/>
                <a:cs typeface="Calibri" pitchFamily="34" charset="-120"/>
              </a:rPr>
              <a:t>3. Produire un score d'analyse visuel et interprétable</a:t>
            </a:r>
            <a:endParaRPr lang="en-US" sz="1200" dirty="0"/>
          </a:p>
        </p:txBody>
      </p:sp>
      <p:sp>
        <p:nvSpPr>
          <p:cNvPr id="13" name="Shape 11"/>
          <p:cNvSpPr/>
          <p:nvPr/>
        </p:nvSpPr>
        <p:spPr>
          <a:xfrm>
            <a:off x="320040" y="4617720"/>
            <a:ext cx="8503920" cy="365760"/>
          </a:xfrm>
          <a:prstGeom prst="rect">
            <a:avLst/>
          </a:prstGeom>
          <a:solidFill>
            <a:srgbClr val="00B4D8">
              <a:alpha val="20000"/>
            </a:srgbClr>
          </a:solidFill>
          <a:ln/>
        </p:spPr>
        <p:txBody>
          <a:bodyPr/>
          <a:lstStyle/>
          <a:p>
            <a:endParaRPr lang="fr-CA" dirty="0"/>
          </a:p>
        </p:txBody>
      </p:sp>
      <p:sp>
        <p:nvSpPr>
          <p:cNvPr id="14" name="Text 12"/>
          <p:cNvSpPr/>
          <p:nvPr/>
        </p:nvSpPr>
        <p:spPr>
          <a:xfrm>
            <a:off x="457200" y="4636008"/>
            <a:ext cx="8229600" cy="329184"/>
          </a:xfrm>
          <a:prstGeom prst="rect">
            <a:avLst/>
          </a:prstGeom>
          <a:noFill/>
          <a:ln/>
        </p:spPr>
        <p:txBody>
          <a:bodyPr wrap="square" rtlCol="0" anchor="ctr"/>
          <a:lstStyle/>
          <a:p>
            <a:pPr marL="0" indent="0">
              <a:buNone/>
            </a:pPr>
            <a:r>
              <a:rPr lang="en-US" sz="1000" i="1" dirty="0">
                <a:solidFill>
                  <a:srgbClr val="90E0EF"/>
                </a:solidFill>
                <a:latin typeface="Calibri" pitchFamily="34" charset="0"/>
                <a:ea typeface="Calibri" pitchFamily="34" charset="-122"/>
                <a:cs typeface="Calibri" pitchFamily="34" charset="-120"/>
              </a:rPr>
              <a:t>⚠️  Le système ne doit pas être présenté comme un outil de diagnostic médical.</a:t>
            </a:r>
            <a:endParaRPr lang="en-US" sz="1000" dirty="0"/>
          </a:p>
        </p:txBody>
      </p:sp>
      <p:pic>
        <p:nvPicPr>
          <p:cNvPr id="1035" name="Picture 11" descr="179 mille Images et Photos de Context Libres de Droits | Shutterstock">
            <a:extLst>
              <a:ext uri="{FF2B5EF4-FFF2-40B4-BE49-F238E27FC236}">
                <a16:creationId xmlns:a16="http://schemas.microsoft.com/office/drawing/2014/main" id="{DD6F7369-8699-1BC3-5E3C-578AFAE30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17" y="2973432"/>
            <a:ext cx="1704703" cy="1278528"/>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roblematique Vector Art, Icons, and Graphics for Free Download">
            <a:extLst>
              <a:ext uri="{FF2B5EF4-FFF2-40B4-BE49-F238E27FC236}">
                <a16:creationId xmlns:a16="http://schemas.microsoft.com/office/drawing/2014/main" id="{F693F6CB-C978-6873-E3EE-E5D8168B8D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3349" y="3116453"/>
            <a:ext cx="1483451" cy="1153795"/>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Folded Corner 19">
            <a:extLst>
              <a:ext uri="{FF2B5EF4-FFF2-40B4-BE49-F238E27FC236}">
                <a16:creationId xmlns:a16="http://schemas.microsoft.com/office/drawing/2014/main" id="{CCD57CC5-0355-A235-C6FC-8A32DE9112E0}"/>
              </a:ext>
            </a:extLst>
          </p:cNvPr>
          <p:cNvSpPr/>
          <p:nvPr/>
        </p:nvSpPr>
        <p:spPr>
          <a:xfrm>
            <a:off x="8817424" y="8516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D6A0"/>
          </a:solidFill>
          <a:ln/>
        </p:spPr>
        <p:txBody>
          <a:bodyPr/>
          <a:lstStyle/>
          <a:p>
            <a:endParaRPr lang="fr-CA"/>
          </a:p>
        </p:txBody>
      </p:sp>
      <p:sp>
        <p:nvSpPr>
          <p:cNvPr id="3" name="Text 1"/>
          <p:cNvSpPr/>
          <p:nvPr/>
        </p:nvSpPr>
        <p:spPr>
          <a:xfrm>
            <a:off x="457200" y="228600"/>
            <a:ext cx="8229600" cy="548640"/>
          </a:xfrm>
          <a:prstGeom prst="rect">
            <a:avLst/>
          </a:prstGeom>
          <a:noFill/>
          <a:ln/>
        </p:spPr>
        <p:txBody>
          <a:bodyPr wrap="square" rtlCol="0" anchor="ctr"/>
          <a:lstStyle/>
          <a:p>
            <a:r>
              <a:rPr lang="en-US" sz="2800" b="1" dirty="0">
                <a:solidFill>
                  <a:srgbClr val="FFFFFF"/>
                </a:solidFill>
                <a:latin typeface="Trebuchet MS" pitchFamily="34" charset="0"/>
                <a:ea typeface="Trebuchet MS" pitchFamily="34" charset="-122"/>
                <a:cs typeface="Trebuchet MS" pitchFamily="34" charset="-120"/>
              </a:rPr>
              <a:t>01  · </a:t>
            </a:r>
            <a:r>
              <a:rPr lang="en-US" sz="2800" b="1" dirty="0" err="1">
                <a:solidFill>
                  <a:srgbClr val="FFFFFF"/>
                </a:solidFill>
                <a:latin typeface="Calibri" pitchFamily="34" charset="0"/>
                <a:ea typeface="Calibri" pitchFamily="34" charset="-122"/>
                <a:cs typeface="Calibri" pitchFamily="34" charset="-120"/>
              </a:rPr>
              <a:t>Objectifs</a:t>
            </a:r>
            <a:r>
              <a:rPr lang="en-US" sz="2800" b="1" dirty="0">
                <a:solidFill>
                  <a:srgbClr val="FFFFFF"/>
                </a:solidFill>
                <a:latin typeface="Calibri" pitchFamily="34" charset="0"/>
                <a:ea typeface="Calibri" pitchFamily="34" charset="-122"/>
                <a:cs typeface="Calibri" pitchFamily="34" charset="-120"/>
              </a:rPr>
              <a:t> du Projet</a:t>
            </a:r>
            <a:endParaRPr lang="en-US" sz="2800" dirty="0"/>
          </a:p>
        </p:txBody>
      </p:sp>
      <p:sp>
        <p:nvSpPr>
          <p:cNvPr id="4" name="Shape 2"/>
          <p:cNvSpPr/>
          <p:nvPr/>
        </p:nvSpPr>
        <p:spPr>
          <a:xfrm>
            <a:off x="320040" y="878366"/>
            <a:ext cx="8503920" cy="1005840"/>
          </a:xfrm>
          <a:prstGeom prst="rect">
            <a:avLst/>
          </a:prstGeom>
          <a:solidFill>
            <a:srgbClr val="00B4D8">
              <a:alpha val="85000"/>
            </a:srgbClr>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5" name="Text 3"/>
          <p:cNvSpPr/>
          <p:nvPr/>
        </p:nvSpPr>
        <p:spPr>
          <a:xfrm>
            <a:off x="3754436" y="960120"/>
            <a:ext cx="3657600" cy="320040"/>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  </a:t>
            </a:r>
            <a:r>
              <a:rPr lang="en-US" sz="1400" b="1" kern="0" spc="100" dirty="0">
                <a:solidFill>
                  <a:srgbClr val="C00000"/>
                </a:solidFill>
                <a:latin typeface="Calibri" pitchFamily="34" charset="0"/>
                <a:ea typeface="Calibri" pitchFamily="34" charset="-122"/>
                <a:cs typeface="Calibri" pitchFamily="34" charset="-120"/>
              </a:rPr>
              <a:t>OBJECTIF PRINCIPAL</a:t>
            </a:r>
            <a:endParaRPr lang="en-US" sz="1100" dirty="0">
              <a:solidFill>
                <a:srgbClr val="C00000"/>
              </a:solidFill>
            </a:endParaRPr>
          </a:p>
        </p:txBody>
      </p:sp>
      <p:sp>
        <p:nvSpPr>
          <p:cNvPr id="6" name="Text 4"/>
          <p:cNvSpPr/>
          <p:nvPr/>
        </p:nvSpPr>
        <p:spPr>
          <a:xfrm>
            <a:off x="548640" y="1280160"/>
            <a:ext cx="804672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Développer un système basé sur YOLOv8 permettant la segmentation d'instance de lésions cutanées</a:t>
            </a:r>
            <a:endParaRPr lang="en-US" sz="1400" dirty="0"/>
          </a:p>
        </p:txBody>
      </p:sp>
      <p:sp>
        <p:nvSpPr>
          <p:cNvPr id="7" name="Shape 5"/>
          <p:cNvSpPr/>
          <p:nvPr/>
        </p:nvSpPr>
        <p:spPr>
          <a:xfrm>
            <a:off x="32004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8" name="Shape 6"/>
          <p:cNvSpPr/>
          <p:nvPr/>
        </p:nvSpPr>
        <p:spPr>
          <a:xfrm>
            <a:off x="320040" y="2194560"/>
            <a:ext cx="1965960" cy="64008"/>
          </a:xfrm>
          <a:prstGeom prst="rect">
            <a:avLst/>
          </a:prstGeom>
          <a:solidFill>
            <a:srgbClr val="00B4D8"/>
          </a:solidFill>
          <a:ln/>
        </p:spPr>
        <p:txBody>
          <a:bodyPr/>
          <a:lstStyle/>
          <a:p>
            <a:endParaRPr lang="fr-CA"/>
          </a:p>
        </p:txBody>
      </p:sp>
      <p:sp>
        <p:nvSpPr>
          <p:cNvPr id="10" name="Text 8"/>
          <p:cNvSpPr/>
          <p:nvPr/>
        </p:nvSpPr>
        <p:spPr>
          <a:xfrm>
            <a:off x="378455" y="3083912"/>
            <a:ext cx="1783080" cy="365760"/>
          </a:xfrm>
          <a:prstGeom prst="rect">
            <a:avLst/>
          </a:prstGeom>
          <a:noFill/>
          <a:ln/>
        </p:spPr>
        <p:txBody>
          <a:bodyPr wrap="square" rtlCol="0" anchor="ctr"/>
          <a:lstStyle/>
          <a:p>
            <a:pPr marL="0" indent="0" algn="ctr">
              <a:buNone/>
            </a:pPr>
            <a:r>
              <a:rPr lang="en-US" sz="1300" b="1" dirty="0">
                <a:solidFill>
                  <a:srgbClr val="00B4D8"/>
                </a:solidFill>
                <a:latin typeface="Calibri" pitchFamily="34" charset="0"/>
                <a:ea typeface="Calibri" pitchFamily="34" charset="-122"/>
                <a:cs typeface="Calibri" pitchFamily="34" charset="-120"/>
              </a:rPr>
              <a:t>Détection</a:t>
            </a:r>
            <a:endParaRPr lang="en-US" sz="1300" dirty="0"/>
          </a:p>
        </p:txBody>
      </p:sp>
      <p:sp>
        <p:nvSpPr>
          <p:cNvPr id="11" name="Text 9"/>
          <p:cNvSpPr/>
          <p:nvPr/>
        </p:nvSpPr>
        <p:spPr>
          <a:xfrm>
            <a:off x="411480" y="3429000"/>
            <a:ext cx="1783080" cy="1188720"/>
          </a:xfrm>
          <a:prstGeom prst="rect">
            <a:avLst/>
          </a:prstGeom>
          <a:noFill/>
          <a:ln/>
        </p:spPr>
        <p:txBody>
          <a:bodyPr wrap="square" rtlCol="0" anchor="t"/>
          <a:lstStyle/>
          <a:p>
            <a:pPr marL="0" indent="0" algn="ctr">
              <a:buNone/>
            </a:pPr>
            <a:r>
              <a:rPr lang="en-US" sz="1050" dirty="0">
                <a:solidFill>
                  <a:srgbClr val="E8F4F8"/>
                </a:solidFill>
                <a:latin typeface="Calibri" pitchFamily="34" charset="0"/>
                <a:ea typeface="Calibri" pitchFamily="34" charset="-122"/>
                <a:cs typeface="Calibri" pitchFamily="34" charset="-120"/>
              </a:rPr>
              <a:t>Localiser et segmenter automatiquement la lésion dans l'image d'entrée</a:t>
            </a:r>
            <a:endParaRPr lang="en-US" sz="1050" dirty="0"/>
          </a:p>
        </p:txBody>
      </p:sp>
      <p:sp>
        <p:nvSpPr>
          <p:cNvPr id="12" name="Shape 10"/>
          <p:cNvSpPr/>
          <p:nvPr/>
        </p:nvSpPr>
        <p:spPr>
          <a:xfrm>
            <a:off x="246888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dirty="0"/>
          </a:p>
        </p:txBody>
      </p:sp>
      <p:sp>
        <p:nvSpPr>
          <p:cNvPr id="13" name="Shape 11"/>
          <p:cNvSpPr/>
          <p:nvPr/>
        </p:nvSpPr>
        <p:spPr>
          <a:xfrm>
            <a:off x="2468880" y="2194560"/>
            <a:ext cx="1965960" cy="64008"/>
          </a:xfrm>
          <a:prstGeom prst="rect">
            <a:avLst/>
          </a:prstGeom>
          <a:solidFill>
            <a:srgbClr val="06D6A0"/>
          </a:solidFill>
          <a:ln/>
        </p:spPr>
        <p:txBody>
          <a:bodyPr/>
          <a:lstStyle/>
          <a:p>
            <a:endParaRPr lang="fr-CA"/>
          </a:p>
        </p:txBody>
      </p:sp>
      <p:sp>
        <p:nvSpPr>
          <p:cNvPr id="15" name="Text 13"/>
          <p:cNvSpPr/>
          <p:nvPr/>
        </p:nvSpPr>
        <p:spPr>
          <a:xfrm>
            <a:off x="2560320" y="3017520"/>
            <a:ext cx="1783080" cy="365760"/>
          </a:xfrm>
          <a:prstGeom prst="rect">
            <a:avLst/>
          </a:prstGeom>
          <a:noFill/>
          <a:ln/>
        </p:spPr>
        <p:txBody>
          <a:bodyPr wrap="square" rtlCol="0" anchor="ctr"/>
          <a:lstStyle/>
          <a:p>
            <a:pPr marL="0" indent="0" algn="ctr">
              <a:buNone/>
            </a:pPr>
            <a:r>
              <a:rPr lang="en-US" sz="1300" b="1" dirty="0">
                <a:solidFill>
                  <a:srgbClr val="06D6A0"/>
                </a:solidFill>
                <a:latin typeface="Calibri" pitchFamily="34" charset="0"/>
                <a:ea typeface="Calibri" pitchFamily="34" charset="-122"/>
                <a:cs typeface="Calibri" pitchFamily="34" charset="-120"/>
              </a:rPr>
              <a:t>Métriques</a:t>
            </a:r>
            <a:endParaRPr lang="en-US" sz="1300" dirty="0"/>
          </a:p>
        </p:txBody>
      </p:sp>
      <p:sp>
        <p:nvSpPr>
          <p:cNvPr id="16" name="Text 14"/>
          <p:cNvSpPr/>
          <p:nvPr/>
        </p:nvSpPr>
        <p:spPr>
          <a:xfrm>
            <a:off x="2560320" y="3429000"/>
            <a:ext cx="1783080" cy="1188720"/>
          </a:xfrm>
          <a:prstGeom prst="rect">
            <a:avLst/>
          </a:prstGeom>
          <a:noFill/>
          <a:ln/>
        </p:spPr>
        <p:txBody>
          <a:bodyPr wrap="square" rtlCol="0" anchor="t"/>
          <a:lstStyle/>
          <a:p>
            <a:pPr algn="ctr"/>
            <a:r>
              <a:rPr lang="en-US" sz="1050" dirty="0" err="1">
                <a:solidFill>
                  <a:srgbClr val="E8F4F8"/>
                </a:solidFill>
                <a:latin typeface="Calibri" pitchFamily="34" charset="0"/>
                <a:ea typeface="Calibri" pitchFamily="34" charset="-122"/>
                <a:cs typeface="Calibri" pitchFamily="34" charset="-120"/>
              </a:rPr>
              <a:t>Calculer</a:t>
            </a:r>
            <a:r>
              <a:rPr lang="en-US" sz="1050" dirty="0">
                <a:solidFill>
                  <a:srgbClr val="E8F4F8"/>
                </a:solidFill>
                <a:latin typeface="Calibri" pitchFamily="34" charset="0"/>
                <a:ea typeface="Calibri" pitchFamily="34" charset="-122"/>
                <a:cs typeface="Calibri" pitchFamily="34" charset="-120"/>
              </a:rPr>
              <a:t> la surface et la </a:t>
            </a:r>
            <a:r>
              <a:rPr lang="en-US" sz="1050" dirty="0" err="1">
                <a:solidFill>
                  <a:srgbClr val="E8F4F8"/>
                </a:solidFill>
                <a:latin typeface="Calibri" pitchFamily="34" charset="0"/>
                <a:ea typeface="Calibri" pitchFamily="34" charset="-122"/>
                <a:cs typeface="Calibri" pitchFamily="34" charset="-120"/>
              </a:rPr>
              <a:t>régularité</a:t>
            </a:r>
            <a:r>
              <a:rPr lang="en-US" sz="1050" dirty="0">
                <a:solidFill>
                  <a:srgbClr val="E8F4F8"/>
                </a:solidFill>
                <a:latin typeface="Calibri" pitchFamily="34" charset="0"/>
                <a:ea typeface="Calibri" pitchFamily="34" charset="-122"/>
                <a:cs typeface="Calibri" pitchFamily="34" charset="-120"/>
              </a:rPr>
              <a:t> la lésion segmentée</a:t>
            </a:r>
            <a:endParaRPr lang="en-US" sz="1050" dirty="0"/>
          </a:p>
        </p:txBody>
      </p:sp>
      <p:sp>
        <p:nvSpPr>
          <p:cNvPr id="17" name="Shape 15"/>
          <p:cNvSpPr/>
          <p:nvPr/>
        </p:nvSpPr>
        <p:spPr>
          <a:xfrm>
            <a:off x="461772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a:p>
        </p:txBody>
      </p:sp>
      <p:sp>
        <p:nvSpPr>
          <p:cNvPr id="18" name="Shape 16"/>
          <p:cNvSpPr/>
          <p:nvPr/>
        </p:nvSpPr>
        <p:spPr>
          <a:xfrm>
            <a:off x="4617720" y="2194560"/>
            <a:ext cx="1965960" cy="64008"/>
          </a:xfrm>
          <a:prstGeom prst="rect">
            <a:avLst/>
          </a:prstGeom>
          <a:solidFill>
            <a:srgbClr val="FFB703"/>
          </a:solidFill>
          <a:ln/>
        </p:spPr>
        <p:txBody>
          <a:bodyPr/>
          <a:lstStyle/>
          <a:p>
            <a:endParaRPr lang="fr-CA"/>
          </a:p>
        </p:txBody>
      </p:sp>
      <p:sp>
        <p:nvSpPr>
          <p:cNvPr id="20" name="Text 18"/>
          <p:cNvSpPr/>
          <p:nvPr/>
        </p:nvSpPr>
        <p:spPr>
          <a:xfrm>
            <a:off x="4709160" y="3017520"/>
            <a:ext cx="1783080" cy="365760"/>
          </a:xfrm>
          <a:prstGeom prst="rect">
            <a:avLst/>
          </a:prstGeom>
          <a:noFill/>
          <a:ln/>
        </p:spPr>
        <p:txBody>
          <a:bodyPr wrap="square" rtlCol="0" anchor="ctr"/>
          <a:lstStyle/>
          <a:p>
            <a:pPr marL="0" indent="0" algn="ctr">
              <a:buNone/>
            </a:pPr>
            <a:r>
              <a:rPr lang="en-US" sz="1300" b="1" dirty="0">
                <a:solidFill>
                  <a:srgbClr val="FFB703"/>
                </a:solidFill>
                <a:latin typeface="Calibri" pitchFamily="34" charset="0"/>
                <a:ea typeface="Calibri" pitchFamily="34" charset="-122"/>
                <a:cs typeface="Calibri" pitchFamily="34" charset="-120"/>
              </a:rPr>
              <a:t>Score</a:t>
            </a:r>
            <a:endParaRPr lang="en-US" sz="1300" dirty="0"/>
          </a:p>
        </p:txBody>
      </p:sp>
      <p:sp>
        <p:nvSpPr>
          <p:cNvPr id="21" name="Text 19"/>
          <p:cNvSpPr/>
          <p:nvPr/>
        </p:nvSpPr>
        <p:spPr>
          <a:xfrm>
            <a:off x="4709160" y="3429000"/>
            <a:ext cx="1783080" cy="1188720"/>
          </a:xfrm>
          <a:prstGeom prst="rect">
            <a:avLst/>
          </a:prstGeom>
          <a:noFill/>
          <a:ln/>
        </p:spPr>
        <p:txBody>
          <a:bodyPr wrap="square" rtlCol="0" anchor="t"/>
          <a:lstStyle/>
          <a:p>
            <a:pPr marL="0" indent="0" algn="ctr">
              <a:buNone/>
            </a:pPr>
            <a:r>
              <a:rPr lang="en-US" sz="1050" dirty="0">
                <a:solidFill>
                  <a:srgbClr val="E8F4F8"/>
                </a:solidFill>
                <a:latin typeface="Calibri" pitchFamily="34" charset="0"/>
                <a:ea typeface="Calibri" pitchFamily="34" charset="-122"/>
                <a:cs typeface="Calibri" pitchFamily="34" charset="-120"/>
              </a:rPr>
              <a:t>Produire un indicateur de sévérité basé sur taille et irrégularité</a:t>
            </a:r>
            <a:endParaRPr lang="en-US" sz="1050" dirty="0"/>
          </a:p>
        </p:txBody>
      </p:sp>
      <p:sp>
        <p:nvSpPr>
          <p:cNvPr id="22" name="Shape 20"/>
          <p:cNvSpPr/>
          <p:nvPr/>
        </p:nvSpPr>
        <p:spPr>
          <a:xfrm>
            <a:off x="6766560" y="2194560"/>
            <a:ext cx="1965960" cy="2560320"/>
          </a:xfrm>
          <a:prstGeom prst="rect">
            <a:avLst/>
          </a:prstGeom>
          <a:solidFill>
            <a:srgbClr val="162535"/>
          </a:solidFill>
          <a:ln/>
          <a:effectLst>
            <a:outerShdw blurRad="101600" dist="38100" dir="8100000" algn="bl" rotWithShape="0">
              <a:srgbClr val="000000">
                <a:alpha val="25000"/>
              </a:srgbClr>
            </a:outerShdw>
          </a:effectLst>
          <a:scene3d>
            <a:camera prst="orthographicFront"/>
            <a:lightRig rig="threePt" dir="t"/>
          </a:scene3d>
          <a:sp3d>
            <a:bevelT w="152400" h="50800" prst="softRound"/>
          </a:sp3d>
        </p:spPr>
        <p:txBody>
          <a:bodyPr/>
          <a:lstStyle/>
          <a:p>
            <a:endParaRPr lang="fr-CA"/>
          </a:p>
        </p:txBody>
      </p:sp>
      <p:sp>
        <p:nvSpPr>
          <p:cNvPr id="23" name="Shape 21"/>
          <p:cNvSpPr/>
          <p:nvPr/>
        </p:nvSpPr>
        <p:spPr>
          <a:xfrm>
            <a:off x="6766560" y="2194560"/>
            <a:ext cx="1965960" cy="64008"/>
          </a:xfrm>
          <a:prstGeom prst="rect">
            <a:avLst/>
          </a:prstGeom>
          <a:solidFill>
            <a:srgbClr val="EF476F"/>
          </a:solidFill>
          <a:ln/>
        </p:spPr>
        <p:txBody>
          <a:bodyPr/>
          <a:lstStyle/>
          <a:p>
            <a:endParaRPr lang="fr-CA"/>
          </a:p>
        </p:txBody>
      </p:sp>
      <p:sp>
        <p:nvSpPr>
          <p:cNvPr id="25" name="Text 23"/>
          <p:cNvSpPr/>
          <p:nvPr/>
        </p:nvSpPr>
        <p:spPr>
          <a:xfrm>
            <a:off x="6858000" y="3017520"/>
            <a:ext cx="1783080" cy="365760"/>
          </a:xfrm>
          <a:prstGeom prst="rect">
            <a:avLst/>
          </a:prstGeom>
          <a:noFill/>
          <a:ln/>
        </p:spPr>
        <p:txBody>
          <a:bodyPr wrap="square" rtlCol="0" anchor="ctr"/>
          <a:lstStyle/>
          <a:p>
            <a:pPr marL="0" indent="0" algn="ctr">
              <a:buNone/>
            </a:pPr>
            <a:r>
              <a:rPr lang="en-US" sz="1300" b="1" dirty="0">
                <a:solidFill>
                  <a:srgbClr val="EF476F"/>
                </a:solidFill>
                <a:latin typeface="Calibri" pitchFamily="34" charset="0"/>
                <a:ea typeface="Calibri" pitchFamily="34" charset="-122"/>
                <a:cs typeface="Calibri" pitchFamily="34" charset="-120"/>
              </a:rPr>
              <a:t>Visualisation</a:t>
            </a:r>
            <a:endParaRPr lang="en-US" sz="1300" dirty="0"/>
          </a:p>
        </p:txBody>
      </p:sp>
      <p:sp>
        <p:nvSpPr>
          <p:cNvPr id="26" name="Text 24"/>
          <p:cNvSpPr/>
          <p:nvPr/>
        </p:nvSpPr>
        <p:spPr>
          <a:xfrm>
            <a:off x="6858000" y="3429000"/>
            <a:ext cx="1783080" cy="1188720"/>
          </a:xfrm>
          <a:prstGeom prst="rect">
            <a:avLst/>
          </a:prstGeom>
          <a:noFill/>
          <a:ln/>
        </p:spPr>
        <p:txBody>
          <a:bodyPr wrap="square" rtlCol="0" anchor="t"/>
          <a:lstStyle/>
          <a:p>
            <a:pPr marL="0" indent="0" algn="ctr">
              <a:buNone/>
            </a:pPr>
            <a:r>
              <a:rPr lang="en-US" sz="1050" dirty="0">
                <a:solidFill>
                  <a:srgbClr val="E8F4F8"/>
                </a:solidFill>
                <a:latin typeface="Calibri" pitchFamily="34" charset="0"/>
                <a:ea typeface="Calibri" pitchFamily="34" charset="-122"/>
                <a:cs typeface="Calibri" pitchFamily="34" charset="-120"/>
              </a:rPr>
              <a:t>Afficher masque, contours et métriques de façon claire et lisible</a:t>
            </a:r>
            <a:endParaRPr lang="en-US" sz="1050" dirty="0"/>
          </a:p>
        </p:txBody>
      </p:sp>
      <p:sp>
        <p:nvSpPr>
          <p:cNvPr id="27" name="Text 25"/>
          <p:cNvSpPr/>
          <p:nvPr/>
        </p:nvSpPr>
        <p:spPr>
          <a:xfrm>
            <a:off x="320040" y="4709160"/>
            <a:ext cx="8503920" cy="274320"/>
          </a:xfrm>
          <a:prstGeom prst="rect">
            <a:avLst/>
          </a:prstGeom>
          <a:noFill/>
          <a:ln/>
        </p:spPr>
        <p:txBody>
          <a:bodyPr wrap="square" rtlCol="0" anchor="ctr"/>
          <a:lstStyle/>
          <a:p>
            <a:pPr marL="0" indent="0">
              <a:buNone/>
            </a:pPr>
            <a:r>
              <a:rPr lang="en-US" sz="1100" i="1" dirty="0">
                <a:solidFill>
                  <a:srgbClr val="8EAFC2"/>
                </a:solidFill>
                <a:latin typeface="Calibri" pitchFamily="34" charset="0"/>
                <a:ea typeface="Calibri" pitchFamily="34" charset="-122"/>
                <a:cs typeface="Calibri" pitchFamily="34" charset="-120"/>
              </a:rPr>
              <a:t>Formule de circularité :  C = (4π × A) / P²</a:t>
            </a:r>
            <a:endParaRPr lang="en-US" sz="1100" dirty="0"/>
          </a:p>
        </p:txBody>
      </p:sp>
      <p:pic>
        <p:nvPicPr>
          <p:cNvPr id="2052" name="Picture 4" descr="492,871 Detection Royalty-Free Images, Stock Photos &amp; Pictures |  Shutterstock">
            <a:extLst>
              <a:ext uri="{FF2B5EF4-FFF2-40B4-BE49-F238E27FC236}">
                <a16:creationId xmlns:a16="http://schemas.microsoft.com/office/drawing/2014/main" id="{F16B1745-6E6A-5B47-C6F9-727C09CAB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343" y="2322576"/>
            <a:ext cx="1261304" cy="78200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isualize, IT, Information Technology Conceptual Word Cloud For For Design  Wallpaper, Texture Or Background Stock Photo, Picture and Royalty Free  Image. Image 97308541.">
            <a:extLst>
              <a:ext uri="{FF2B5EF4-FFF2-40B4-BE49-F238E27FC236}">
                <a16:creationId xmlns:a16="http://schemas.microsoft.com/office/drawing/2014/main" id="{77B160C2-596F-58F4-A24A-3ACCC44B30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7832" y="2409986"/>
            <a:ext cx="843415" cy="56181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ICO Score: How It Works &amp; What It's Used For">
            <a:extLst>
              <a:ext uri="{FF2B5EF4-FFF2-40B4-BE49-F238E27FC236}">
                <a16:creationId xmlns:a16="http://schemas.microsoft.com/office/drawing/2014/main" id="{6C68BB7D-BEAD-8F97-C678-8E61C5B327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3846" y="2409986"/>
            <a:ext cx="998781" cy="56181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uban à mesurer, métrique/impérial Lufkin, 1,2'' x 25' (8 m) CS8525CME |  RONA">
            <a:extLst>
              <a:ext uri="{FF2B5EF4-FFF2-40B4-BE49-F238E27FC236}">
                <a16:creationId xmlns:a16="http://schemas.microsoft.com/office/drawing/2014/main" id="{2A721D33-1398-F852-D5F6-C2381C5B0A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7896" y="2326929"/>
            <a:ext cx="727928" cy="727928"/>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Une alternative à SMART pour la priorisation des objectifs - Formation et  coaching en performance d'entreprise">
            <a:extLst>
              <a:ext uri="{FF2B5EF4-FFF2-40B4-BE49-F238E27FC236}">
                <a16:creationId xmlns:a16="http://schemas.microsoft.com/office/drawing/2014/main" id="{4568255E-D974-4400-0C89-2C39C00988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4583" y="944446"/>
            <a:ext cx="1985553" cy="454586"/>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Folded Corner 27">
            <a:extLst>
              <a:ext uri="{FF2B5EF4-FFF2-40B4-BE49-F238E27FC236}">
                <a16:creationId xmlns:a16="http://schemas.microsoft.com/office/drawing/2014/main" id="{4FC63C14-4315-1908-9F87-DE25A233B346}"/>
              </a:ext>
            </a:extLst>
          </p:cNvPr>
          <p:cNvSpPr/>
          <p:nvPr/>
        </p:nvSpPr>
        <p:spPr>
          <a:xfrm>
            <a:off x="8817424" y="85160"/>
            <a:ext cx="326576" cy="501446"/>
          </a:xfrm>
          <a:prstGeom prst="foldedCorne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1B2B3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D6A0"/>
          </a:solidFill>
          <a:ln/>
        </p:spPr>
        <p:txBody>
          <a:bodyPr/>
          <a:lstStyle/>
          <a:p>
            <a:endParaRPr lang="fr-CA"/>
          </a:p>
        </p:txBody>
      </p:sp>
      <p:sp>
        <p:nvSpPr>
          <p:cNvPr id="4" name="Shape 2"/>
          <p:cNvSpPr/>
          <p:nvPr/>
        </p:nvSpPr>
        <p:spPr>
          <a:xfrm>
            <a:off x="320040" y="960120"/>
            <a:ext cx="640080" cy="530352"/>
          </a:xfrm>
          <a:prstGeom prst="rect">
            <a:avLst/>
          </a:prstGeom>
          <a:solidFill>
            <a:srgbClr val="00B4D8"/>
          </a:solidFill>
          <a:ln/>
        </p:spPr>
        <p:txBody>
          <a:bodyPr/>
          <a:lstStyle/>
          <a:p>
            <a:endParaRPr lang="fr-CA"/>
          </a:p>
        </p:txBody>
      </p:sp>
      <p:sp>
        <p:nvSpPr>
          <p:cNvPr id="5" name="Text 3"/>
          <p:cNvSpPr/>
          <p:nvPr/>
        </p:nvSpPr>
        <p:spPr>
          <a:xfrm>
            <a:off x="320040" y="960120"/>
            <a:ext cx="64008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S1</a:t>
            </a:r>
            <a:endParaRPr lang="en-US" sz="1300" dirty="0"/>
          </a:p>
        </p:txBody>
      </p:sp>
      <p:sp>
        <p:nvSpPr>
          <p:cNvPr id="6" name="Shape 4"/>
          <p:cNvSpPr/>
          <p:nvPr/>
        </p:nvSpPr>
        <p:spPr>
          <a:xfrm>
            <a:off x="1051560" y="1024128"/>
            <a:ext cx="990600" cy="402336"/>
          </a:xfrm>
          <a:prstGeom prst="rect">
            <a:avLst/>
          </a:prstGeom>
          <a:solidFill>
            <a:srgbClr val="00B4D8">
              <a:alpha val="70000"/>
            </a:srgbClr>
          </a:solidFill>
          <a:ln/>
        </p:spPr>
        <p:txBody>
          <a:bodyPr/>
          <a:lstStyle/>
          <a:p>
            <a:endParaRPr lang="fr-CA"/>
          </a:p>
        </p:txBody>
      </p:sp>
      <p:sp>
        <p:nvSpPr>
          <p:cNvPr id="7" name="Text 5"/>
          <p:cNvSpPr/>
          <p:nvPr/>
        </p:nvSpPr>
        <p:spPr>
          <a:xfrm>
            <a:off x="1143000" y="1024128"/>
            <a:ext cx="3200400" cy="20116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Recherche &amp; Dataset</a:t>
            </a:r>
            <a:endParaRPr lang="en-US" sz="1100" dirty="0"/>
          </a:p>
        </p:txBody>
      </p:sp>
      <p:sp>
        <p:nvSpPr>
          <p:cNvPr id="8" name="Text 6"/>
          <p:cNvSpPr/>
          <p:nvPr/>
        </p:nvSpPr>
        <p:spPr>
          <a:xfrm>
            <a:off x="1143000" y="1225296"/>
            <a:ext cx="7498080" cy="201168"/>
          </a:xfrm>
          <a:prstGeom prst="rect">
            <a:avLst/>
          </a:prstGeom>
          <a:noFill/>
          <a:ln/>
        </p:spPr>
        <p:txBody>
          <a:bodyPr wrap="square" rtlCol="0" anchor="t"/>
          <a:lstStyle/>
          <a:p>
            <a:pPr marL="0" indent="0">
              <a:buNone/>
            </a:pPr>
            <a:r>
              <a:rPr lang="en-US" sz="950" dirty="0">
                <a:solidFill>
                  <a:schemeClr val="bg1"/>
                </a:solidFill>
                <a:latin typeface="Calibri" pitchFamily="34" charset="0"/>
                <a:ea typeface="Calibri" pitchFamily="34" charset="-122"/>
                <a:cs typeface="Calibri" pitchFamily="34" charset="-120"/>
              </a:rPr>
              <a:t>Exploration ISIC, état de l'art YOLOv8, mise en place environnement</a:t>
            </a:r>
            <a:endParaRPr lang="en-US" sz="950" dirty="0">
              <a:solidFill>
                <a:schemeClr val="bg1"/>
              </a:solidFill>
            </a:endParaRPr>
          </a:p>
        </p:txBody>
      </p:sp>
      <p:sp>
        <p:nvSpPr>
          <p:cNvPr id="9" name="Shape 7"/>
          <p:cNvSpPr/>
          <p:nvPr/>
        </p:nvSpPr>
        <p:spPr>
          <a:xfrm>
            <a:off x="320040" y="1627632"/>
            <a:ext cx="640080" cy="530352"/>
          </a:xfrm>
          <a:prstGeom prst="rect">
            <a:avLst/>
          </a:prstGeom>
          <a:solidFill>
            <a:srgbClr val="06D6A0"/>
          </a:solidFill>
          <a:ln/>
        </p:spPr>
        <p:txBody>
          <a:bodyPr/>
          <a:lstStyle/>
          <a:p>
            <a:endParaRPr lang="fr-CA"/>
          </a:p>
        </p:txBody>
      </p:sp>
      <p:sp>
        <p:nvSpPr>
          <p:cNvPr id="10" name="Text 8"/>
          <p:cNvSpPr/>
          <p:nvPr/>
        </p:nvSpPr>
        <p:spPr>
          <a:xfrm>
            <a:off x="320040" y="1627632"/>
            <a:ext cx="64008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S2</a:t>
            </a:r>
            <a:endParaRPr lang="en-US" sz="1300" dirty="0"/>
          </a:p>
        </p:txBody>
      </p:sp>
      <p:sp>
        <p:nvSpPr>
          <p:cNvPr id="11" name="Shape 9"/>
          <p:cNvSpPr/>
          <p:nvPr/>
        </p:nvSpPr>
        <p:spPr>
          <a:xfrm>
            <a:off x="1051560" y="1691640"/>
            <a:ext cx="1981200" cy="402336"/>
          </a:xfrm>
          <a:prstGeom prst="rect">
            <a:avLst/>
          </a:prstGeom>
          <a:solidFill>
            <a:srgbClr val="06D6A0">
              <a:alpha val="70000"/>
            </a:srgbClr>
          </a:solidFill>
          <a:ln/>
        </p:spPr>
        <p:txBody>
          <a:bodyPr/>
          <a:lstStyle/>
          <a:p>
            <a:endParaRPr lang="fr-CA"/>
          </a:p>
        </p:txBody>
      </p:sp>
      <p:sp>
        <p:nvSpPr>
          <p:cNvPr id="12" name="Text 10"/>
          <p:cNvSpPr/>
          <p:nvPr/>
        </p:nvSpPr>
        <p:spPr>
          <a:xfrm>
            <a:off x="1143000" y="1691640"/>
            <a:ext cx="3200400" cy="20116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Modèle IA</a:t>
            </a:r>
            <a:endParaRPr lang="en-US" sz="1100" dirty="0"/>
          </a:p>
        </p:txBody>
      </p:sp>
      <p:sp>
        <p:nvSpPr>
          <p:cNvPr id="13" name="Text 11"/>
          <p:cNvSpPr/>
          <p:nvPr/>
        </p:nvSpPr>
        <p:spPr>
          <a:xfrm>
            <a:off x="1143000" y="1892808"/>
            <a:ext cx="7498080" cy="201168"/>
          </a:xfrm>
          <a:prstGeom prst="rect">
            <a:avLst/>
          </a:prstGeom>
          <a:noFill/>
          <a:ln/>
        </p:spPr>
        <p:txBody>
          <a:bodyPr wrap="square" rtlCol="0" anchor="t"/>
          <a:lstStyle/>
          <a:p>
            <a:pPr marL="0" indent="0">
              <a:buNone/>
            </a:pPr>
            <a:r>
              <a:rPr lang="en-US" sz="950" dirty="0">
                <a:solidFill>
                  <a:schemeClr val="bg1"/>
                </a:solidFill>
                <a:latin typeface="Calibri" pitchFamily="34" charset="0"/>
                <a:ea typeface="Calibri" pitchFamily="34" charset="-122"/>
                <a:cs typeface="Calibri" pitchFamily="34" charset="-120"/>
              </a:rPr>
              <a:t>Configuration YOLOv8, fine-tuning, premiers tests d'inférence</a:t>
            </a:r>
            <a:endParaRPr lang="en-US" sz="950" dirty="0">
              <a:solidFill>
                <a:schemeClr val="bg1"/>
              </a:solidFill>
            </a:endParaRPr>
          </a:p>
        </p:txBody>
      </p:sp>
      <p:sp>
        <p:nvSpPr>
          <p:cNvPr id="14" name="Shape 12"/>
          <p:cNvSpPr/>
          <p:nvPr/>
        </p:nvSpPr>
        <p:spPr>
          <a:xfrm>
            <a:off x="320040" y="2295144"/>
            <a:ext cx="640080" cy="530352"/>
          </a:xfrm>
          <a:prstGeom prst="rect">
            <a:avLst/>
          </a:prstGeom>
          <a:solidFill>
            <a:srgbClr val="FFB703"/>
          </a:solidFill>
          <a:ln/>
        </p:spPr>
        <p:txBody>
          <a:bodyPr/>
          <a:lstStyle/>
          <a:p>
            <a:endParaRPr lang="fr-CA"/>
          </a:p>
        </p:txBody>
      </p:sp>
      <p:sp>
        <p:nvSpPr>
          <p:cNvPr id="15" name="Text 13"/>
          <p:cNvSpPr/>
          <p:nvPr/>
        </p:nvSpPr>
        <p:spPr>
          <a:xfrm>
            <a:off x="320040" y="2295144"/>
            <a:ext cx="64008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S3</a:t>
            </a:r>
            <a:endParaRPr lang="en-US" sz="1300" dirty="0"/>
          </a:p>
        </p:txBody>
      </p:sp>
      <p:sp>
        <p:nvSpPr>
          <p:cNvPr id="16" name="Shape 14"/>
          <p:cNvSpPr/>
          <p:nvPr/>
        </p:nvSpPr>
        <p:spPr>
          <a:xfrm>
            <a:off x="1051560" y="2359152"/>
            <a:ext cx="2971800" cy="402336"/>
          </a:xfrm>
          <a:prstGeom prst="rect">
            <a:avLst/>
          </a:prstGeom>
          <a:solidFill>
            <a:srgbClr val="FFB703">
              <a:alpha val="70000"/>
            </a:srgbClr>
          </a:solidFill>
          <a:ln/>
        </p:spPr>
        <p:txBody>
          <a:bodyPr/>
          <a:lstStyle/>
          <a:p>
            <a:endParaRPr lang="fr-CA"/>
          </a:p>
        </p:txBody>
      </p:sp>
      <p:sp>
        <p:nvSpPr>
          <p:cNvPr id="17" name="Text 15"/>
          <p:cNvSpPr/>
          <p:nvPr/>
        </p:nvSpPr>
        <p:spPr>
          <a:xfrm>
            <a:off x="1143000" y="2359152"/>
            <a:ext cx="3200400" cy="20116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Segmentation &amp; Tests</a:t>
            </a:r>
            <a:endParaRPr lang="en-US" sz="1100" dirty="0"/>
          </a:p>
        </p:txBody>
      </p:sp>
      <p:sp>
        <p:nvSpPr>
          <p:cNvPr id="18" name="Text 16"/>
          <p:cNvSpPr/>
          <p:nvPr/>
        </p:nvSpPr>
        <p:spPr>
          <a:xfrm>
            <a:off x="1143000" y="2560320"/>
            <a:ext cx="7498080" cy="201168"/>
          </a:xfrm>
          <a:prstGeom prst="rect">
            <a:avLst/>
          </a:prstGeom>
          <a:noFill/>
          <a:ln/>
        </p:spPr>
        <p:txBody>
          <a:bodyPr wrap="square" rtlCol="0" anchor="t"/>
          <a:lstStyle/>
          <a:p>
            <a:pPr marL="0" indent="0">
              <a:buNone/>
            </a:pPr>
            <a:r>
              <a:rPr lang="en-US" sz="950" dirty="0">
                <a:solidFill>
                  <a:schemeClr val="bg1"/>
                </a:solidFill>
                <a:latin typeface="Calibri" pitchFamily="34" charset="0"/>
                <a:ea typeface="Calibri" pitchFamily="34" charset="-122"/>
                <a:cs typeface="Calibri" pitchFamily="34" charset="-120"/>
              </a:rPr>
              <a:t>Validation masques, calcul IoU / Dice, correction des erreurs</a:t>
            </a:r>
            <a:endParaRPr lang="en-US" sz="950" dirty="0">
              <a:solidFill>
                <a:schemeClr val="bg1"/>
              </a:solidFill>
            </a:endParaRPr>
          </a:p>
        </p:txBody>
      </p:sp>
      <p:sp>
        <p:nvSpPr>
          <p:cNvPr id="19" name="Shape 17"/>
          <p:cNvSpPr/>
          <p:nvPr/>
        </p:nvSpPr>
        <p:spPr>
          <a:xfrm>
            <a:off x="320040" y="2962656"/>
            <a:ext cx="640080" cy="530352"/>
          </a:xfrm>
          <a:prstGeom prst="rect">
            <a:avLst/>
          </a:prstGeom>
          <a:solidFill>
            <a:srgbClr val="EF476F"/>
          </a:solidFill>
          <a:ln/>
        </p:spPr>
        <p:txBody>
          <a:bodyPr/>
          <a:lstStyle/>
          <a:p>
            <a:endParaRPr lang="fr-CA"/>
          </a:p>
        </p:txBody>
      </p:sp>
      <p:sp>
        <p:nvSpPr>
          <p:cNvPr id="20" name="Text 18"/>
          <p:cNvSpPr/>
          <p:nvPr/>
        </p:nvSpPr>
        <p:spPr>
          <a:xfrm>
            <a:off x="320040" y="2962656"/>
            <a:ext cx="64008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S4</a:t>
            </a:r>
            <a:endParaRPr lang="en-US" sz="1300" dirty="0"/>
          </a:p>
        </p:txBody>
      </p:sp>
      <p:sp>
        <p:nvSpPr>
          <p:cNvPr id="21" name="Shape 19"/>
          <p:cNvSpPr/>
          <p:nvPr/>
        </p:nvSpPr>
        <p:spPr>
          <a:xfrm>
            <a:off x="1051560" y="3026664"/>
            <a:ext cx="3962400" cy="402336"/>
          </a:xfrm>
          <a:prstGeom prst="rect">
            <a:avLst/>
          </a:prstGeom>
          <a:solidFill>
            <a:srgbClr val="EF476F">
              <a:alpha val="70000"/>
            </a:srgbClr>
          </a:solidFill>
          <a:ln/>
        </p:spPr>
        <p:txBody>
          <a:bodyPr/>
          <a:lstStyle/>
          <a:p>
            <a:endParaRPr lang="fr-CA"/>
          </a:p>
        </p:txBody>
      </p:sp>
      <p:sp>
        <p:nvSpPr>
          <p:cNvPr id="22" name="Text 20"/>
          <p:cNvSpPr/>
          <p:nvPr/>
        </p:nvSpPr>
        <p:spPr>
          <a:xfrm>
            <a:off x="1143000" y="3026664"/>
            <a:ext cx="3200400" cy="20116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Extraction métriques</a:t>
            </a:r>
            <a:endParaRPr lang="en-US" sz="1100" dirty="0"/>
          </a:p>
        </p:txBody>
      </p:sp>
      <p:sp>
        <p:nvSpPr>
          <p:cNvPr id="23" name="Text 21"/>
          <p:cNvSpPr/>
          <p:nvPr/>
        </p:nvSpPr>
        <p:spPr>
          <a:xfrm>
            <a:off x="1143000" y="3227832"/>
            <a:ext cx="7498080" cy="201168"/>
          </a:xfrm>
          <a:prstGeom prst="rect">
            <a:avLst/>
          </a:prstGeom>
          <a:noFill/>
          <a:ln/>
        </p:spPr>
        <p:txBody>
          <a:bodyPr wrap="square" rtlCol="0" anchor="t"/>
          <a:lstStyle/>
          <a:p>
            <a:pPr marL="0" indent="0">
              <a:buNone/>
            </a:pPr>
            <a:r>
              <a:rPr lang="en-US" sz="950" dirty="0">
                <a:solidFill>
                  <a:schemeClr val="bg1"/>
                </a:solidFill>
                <a:latin typeface="Calibri" pitchFamily="34" charset="0"/>
                <a:ea typeface="Calibri" pitchFamily="34" charset="-122"/>
                <a:cs typeface="Calibri" pitchFamily="34" charset="-120"/>
              </a:rPr>
              <a:t>Calcul aire, périmètre, circularité, score de sévérité</a:t>
            </a:r>
            <a:endParaRPr lang="en-US" sz="950" dirty="0">
              <a:solidFill>
                <a:schemeClr val="bg1"/>
              </a:solidFill>
            </a:endParaRPr>
          </a:p>
        </p:txBody>
      </p:sp>
      <p:sp>
        <p:nvSpPr>
          <p:cNvPr id="24" name="Shape 22"/>
          <p:cNvSpPr/>
          <p:nvPr/>
        </p:nvSpPr>
        <p:spPr>
          <a:xfrm>
            <a:off x="320040" y="3630168"/>
            <a:ext cx="640080" cy="530352"/>
          </a:xfrm>
          <a:prstGeom prst="rect">
            <a:avLst/>
          </a:prstGeom>
          <a:solidFill>
            <a:srgbClr val="00B4D8"/>
          </a:solidFill>
          <a:ln/>
        </p:spPr>
        <p:txBody>
          <a:bodyPr/>
          <a:lstStyle/>
          <a:p>
            <a:endParaRPr lang="fr-CA"/>
          </a:p>
        </p:txBody>
      </p:sp>
      <p:sp>
        <p:nvSpPr>
          <p:cNvPr id="25" name="Text 23"/>
          <p:cNvSpPr/>
          <p:nvPr/>
        </p:nvSpPr>
        <p:spPr>
          <a:xfrm>
            <a:off x="320040" y="3630168"/>
            <a:ext cx="64008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S5</a:t>
            </a:r>
            <a:endParaRPr lang="en-US" sz="1300" dirty="0"/>
          </a:p>
        </p:txBody>
      </p:sp>
      <p:sp>
        <p:nvSpPr>
          <p:cNvPr id="26" name="Shape 24"/>
          <p:cNvSpPr/>
          <p:nvPr/>
        </p:nvSpPr>
        <p:spPr>
          <a:xfrm>
            <a:off x="1051560" y="3694176"/>
            <a:ext cx="4953000" cy="402336"/>
          </a:xfrm>
          <a:prstGeom prst="rect">
            <a:avLst/>
          </a:prstGeom>
          <a:solidFill>
            <a:srgbClr val="00B4D8">
              <a:alpha val="70000"/>
            </a:srgbClr>
          </a:solidFill>
          <a:ln/>
        </p:spPr>
        <p:txBody>
          <a:bodyPr/>
          <a:lstStyle/>
          <a:p>
            <a:endParaRPr lang="fr-CA"/>
          </a:p>
        </p:txBody>
      </p:sp>
      <p:sp>
        <p:nvSpPr>
          <p:cNvPr id="27" name="Text 25"/>
          <p:cNvSpPr/>
          <p:nvPr/>
        </p:nvSpPr>
        <p:spPr>
          <a:xfrm>
            <a:off x="1143000" y="3694176"/>
            <a:ext cx="3200400" cy="20116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Interface &amp; Visualisation</a:t>
            </a:r>
            <a:endParaRPr lang="en-US" sz="1100" dirty="0"/>
          </a:p>
        </p:txBody>
      </p:sp>
      <p:sp>
        <p:nvSpPr>
          <p:cNvPr id="28" name="Text 26"/>
          <p:cNvSpPr/>
          <p:nvPr/>
        </p:nvSpPr>
        <p:spPr>
          <a:xfrm>
            <a:off x="1143000" y="3895344"/>
            <a:ext cx="7498080" cy="201168"/>
          </a:xfrm>
          <a:prstGeom prst="rect">
            <a:avLst/>
          </a:prstGeom>
          <a:noFill/>
          <a:ln/>
        </p:spPr>
        <p:txBody>
          <a:bodyPr wrap="square" rtlCol="0" anchor="t"/>
          <a:lstStyle/>
          <a:p>
            <a:pPr marL="0" indent="0">
              <a:buNone/>
            </a:pPr>
            <a:r>
              <a:rPr lang="en-US" sz="950" dirty="0">
                <a:solidFill>
                  <a:schemeClr val="bg1"/>
                </a:solidFill>
                <a:latin typeface="Calibri" pitchFamily="34" charset="0"/>
                <a:ea typeface="Calibri" pitchFamily="34" charset="-122"/>
                <a:cs typeface="Calibri" pitchFamily="34" charset="-120"/>
              </a:rPr>
              <a:t>Développement UI Streamlit, affichage résultats, UX tests</a:t>
            </a:r>
            <a:endParaRPr lang="en-US" sz="950" dirty="0">
              <a:solidFill>
                <a:schemeClr val="bg1"/>
              </a:solidFill>
            </a:endParaRPr>
          </a:p>
        </p:txBody>
      </p:sp>
      <p:sp>
        <p:nvSpPr>
          <p:cNvPr id="29" name="Shape 27"/>
          <p:cNvSpPr/>
          <p:nvPr/>
        </p:nvSpPr>
        <p:spPr>
          <a:xfrm>
            <a:off x="320040" y="4297680"/>
            <a:ext cx="640080" cy="530352"/>
          </a:xfrm>
          <a:prstGeom prst="rect">
            <a:avLst/>
          </a:prstGeom>
          <a:solidFill>
            <a:srgbClr val="06D6A0"/>
          </a:solidFill>
          <a:ln/>
        </p:spPr>
        <p:txBody>
          <a:bodyPr/>
          <a:lstStyle/>
          <a:p>
            <a:endParaRPr lang="fr-CA"/>
          </a:p>
        </p:txBody>
      </p:sp>
      <p:sp>
        <p:nvSpPr>
          <p:cNvPr id="30" name="Text 28"/>
          <p:cNvSpPr/>
          <p:nvPr/>
        </p:nvSpPr>
        <p:spPr>
          <a:xfrm>
            <a:off x="320040" y="4297680"/>
            <a:ext cx="640080"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S6</a:t>
            </a:r>
            <a:endParaRPr lang="en-US" sz="1300" dirty="0"/>
          </a:p>
        </p:txBody>
      </p:sp>
      <p:sp>
        <p:nvSpPr>
          <p:cNvPr id="31" name="Shape 29"/>
          <p:cNvSpPr/>
          <p:nvPr/>
        </p:nvSpPr>
        <p:spPr>
          <a:xfrm>
            <a:off x="1051560" y="4361688"/>
            <a:ext cx="5943600" cy="402336"/>
          </a:xfrm>
          <a:prstGeom prst="rect">
            <a:avLst/>
          </a:prstGeom>
          <a:solidFill>
            <a:srgbClr val="06D6A0">
              <a:alpha val="70000"/>
            </a:srgbClr>
          </a:solidFill>
          <a:ln/>
        </p:spPr>
        <p:txBody>
          <a:bodyPr/>
          <a:lstStyle/>
          <a:p>
            <a:endParaRPr lang="fr-CA"/>
          </a:p>
        </p:txBody>
      </p:sp>
      <p:sp>
        <p:nvSpPr>
          <p:cNvPr id="32" name="Text 30"/>
          <p:cNvSpPr/>
          <p:nvPr/>
        </p:nvSpPr>
        <p:spPr>
          <a:xfrm>
            <a:off x="1143000" y="4361688"/>
            <a:ext cx="3200400" cy="20116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Finalisation &amp; Rapport</a:t>
            </a:r>
            <a:endParaRPr lang="en-US" sz="1100" dirty="0"/>
          </a:p>
        </p:txBody>
      </p:sp>
      <p:sp>
        <p:nvSpPr>
          <p:cNvPr id="33" name="Text 31"/>
          <p:cNvSpPr/>
          <p:nvPr/>
        </p:nvSpPr>
        <p:spPr>
          <a:xfrm>
            <a:off x="1143000" y="4562856"/>
            <a:ext cx="7498080" cy="201168"/>
          </a:xfrm>
          <a:prstGeom prst="rect">
            <a:avLst/>
          </a:prstGeom>
          <a:noFill/>
          <a:ln/>
        </p:spPr>
        <p:txBody>
          <a:bodyPr wrap="square" rtlCol="0" anchor="t"/>
          <a:lstStyle/>
          <a:p>
            <a:pPr marL="0" indent="0">
              <a:buNone/>
            </a:pPr>
            <a:r>
              <a:rPr lang="en-US" sz="950" dirty="0">
                <a:solidFill>
                  <a:schemeClr val="bg1"/>
                </a:solidFill>
                <a:latin typeface="Calibri" pitchFamily="34" charset="0"/>
                <a:ea typeface="Calibri" pitchFamily="34" charset="-122"/>
                <a:cs typeface="Calibri" pitchFamily="34" charset="-120"/>
              </a:rPr>
              <a:t>Rapport écrit, présentation orale, démo fonctionnelle</a:t>
            </a:r>
            <a:endParaRPr lang="en-US" sz="950" dirty="0">
              <a:solidFill>
                <a:schemeClr val="bg1"/>
              </a:solidFill>
            </a:endParaRPr>
          </a:p>
        </p:txBody>
      </p:sp>
      <p:sp>
        <p:nvSpPr>
          <p:cNvPr id="34" name="Shape 0">
            <a:extLst>
              <a:ext uri="{FF2B5EF4-FFF2-40B4-BE49-F238E27FC236}">
                <a16:creationId xmlns:a16="http://schemas.microsoft.com/office/drawing/2014/main" id="{476D806F-2523-DB87-405B-299250E0B50B}"/>
              </a:ext>
            </a:extLst>
          </p:cNvPr>
          <p:cNvSpPr/>
          <p:nvPr/>
        </p:nvSpPr>
        <p:spPr>
          <a:xfrm>
            <a:off x="0" y="73152"/>
            <a:ext cx="9144000" cy="841248"/>
          </a:xfrm>
          <a:prstGeom prst="rect">
            <a:avLst/>
          </a:prstGeom>
          <a:solidFill>
            <a:schemeClr val="tx2"/>
          </a:solidFill>
          <a:ln w="12700">
            <a:solidFill>
              <a:srgbClr val="1A2B5E"/>
            </a:solidFill>
            <a:prstDash val="solid"/>
          </a:ln>
        </p:spPr>
        <p:txBody>
          <a:bodyPr/>
          <a:lstStyle/>
          <a:p>
            <a:endParaRPr lang="fr-CA" dirty="0"/>
          </a:p>
        </p:txBody>
      </p:sp>
      <p:sp>
        <p:nvSpPr>
          <p:cNvPr id="35" name="Text 2">
            <a:extLst>
              <a:ext uri="{FF2B5EF4-FFF2-40B4-BE49-F238E27FC236}">
                <a16:creationId xmlns:a16="http://schemas.microsoft.com/office/drawing/2014/main" id="{A11542F3-D062-3184-F0CD-127E750C0E8F}"/>
              </a:ext>
            </a:extLst>
          </p:cNvPr>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02  ·  Calendrier des Activités</a:t>
            </a:r>
            <a:endParaRPr lang="en-US" sz="2600" dirty="0"/>
          </a:p>
        </p:txBody>
      </p:sp>
      <p:sp>
        <p:nvSpPr>
          <p:cNvPr id="36" name="Rectangle: Folded Corner 35">
            <a:extLst>
              <a:ext uri="{FF2B5EF4-FFF2-40B4-BE49-F238E27FC236}">
                <a16:creationId xmlns:a16="http://schemas.microsoft.com/office/drawing/2014/main" id="{32DCDA4D-CEB9-6DDF-ABA6-006051509D73}"/>
              </a:ext>
            </a:extLst>
          </p:cNvPr>
          <p:cNvSpPr/>
          <p:nvPr/>
        </p:nvSpPr>
        <p:spPr>
          <a:xfrm>
            <a:off x="8817424" y="85160"/>
            <a:ext cx="326576" cy="501446"/>
          </a:xfrm>
          <a:prstGeom prst="foldedCorne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F98AA37-98BD-3C6A-C9DA-B1D4C458435B}"/>
              </a:ext>
            </a:extLst>
          </p:cNvPr>
          <p:cNvSpPr/>
          <p:nvPr/>
        </p:nvSpPr>
        <p:spPr>
          <a:xfrm>
            <a:off x="0" y="0"/>
            <a:ext cx="9144000" cy="868680"/>
          </a:xfrm>
          <a:prstGeom prst="rect">
            <a:avLst/>
          </a:prstGeom>
          <a:solidFill>
            <a:srgbClr val="1A2B5E"/>
          </a:solidFill>
          <a:ln w="12700">
            <a:solidFill>
              <a:srgbClr val="1A2B5E"/>
            </a:solidFill>
            <a:prstDash val="solid"/>
          </a:ln>
        </p:spPr>
        <p:txBody>
          <a:bodyPr/>
          <a:lstStyle/>
          <a:p>
            <a:endParaRPr lang="fr-CA" dirty="0"/>
          </a:p>
        </p:txBody>
      </p:sp>
      <p:sp>
        <p:nvSpPr>
          <p:cNvPr id="4" name="Text 2">
            <a:extLst>
              <a:ext uri="{FF2B5EF4-FFF2-40B4-BE49-F238E27FC236}">
                <a16:creationId xmlns:a16="http://schemas.microsoft.com/office/drawing/2014/main" id="{549000A3-12E9-514C-4F41-D6082A177F65}"/>
              </a:ext>
            </a:extLst>
          </p:cNvPr>
          <p:cNvSpPr/>
          <p:nvPr/>
        </p:nvSpPr>
        <p:spPr>
          <a:xfrm>
            <a:off x="320040" y="0"/>
            <a:ext cx="8503920" cy="86868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02  ·  Planification du Projet — 6 Sprints</a:t>
            </a:r>
            <a:endParaRPr lang="en-US" sz="2400" dirty="0"/>
          </a:p>
        </p:txBody>
      </p:sp>
      <p:sp>
        <p:nvSpPr>
          <p:cNvPr id="5" name="Shape 3">
            <a:extLst>
              <a:ext uri="{FF2B5EF4-FFF2-40B4-BE49-F238E27FC236}">
                <a16:creationId xmlns:a16="http://schemas.microsoft.com/office/drawing/2014/main" id="{2B404442-185E-67F2-DF3E-B48856DA037F}"/>
              </a:ext>
            </a:extLst>
          </p:cNvPr>
          <p:cNvSpPr/>
          <p:nvPr/>
        </p:nvSpPr>
        <p:spPr>
          <a:xfrm>
            <a:off x="256032" y="1005840"/>
            <a:ext cx="27432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6" name="Shape 3">
            <a:extLst>
              <a:ext uri="{FF2B5EF4-FFF2-40B4-BE49-F238E27FC236}">
                <a16:creationId xmlns:a16="http://schemas.microsoft.com/office/drawing/2014/main" id="{93BC7F52-6802-CC01-6867-B1609FDD9055}"/>
              </a:ext>
            </a:extLst>
          </p:cNvPr>
          <p:cNvSpPr/>
          <p:nvPr/>
        </p:nvSpPr>
        <p:spPr>
          <a:xfrm>
            <a:off x="3200400" y="1005840"/>
            <a:ext cx="27432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7" name="Shape 3">
            <a:extLst>
              <a:ext uri="{FF2B5EF4-FFF2-40B4-BE49-F238E27FC236}">
                <a16:creationId xmlns:a16="http://schemas.microsoft.com/office/drawing/2014/main" id="{17B78861-C341-5D62-E63C-CF6DB50B5AC3}"/>
              </a:ext>
            </a:extLst>
          </p:cNvPr>
          <p:cNvSpPr/>
          <p:nvPr/>
        </p:nvSpPr>
        <p:spPr>
          <a:xfrm>
            <a:off x="6313932" y="1033272"/>
            <a:ext cx="27432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8" name="Shape 3">
            <a:extLst>
              <a:ext uri="{FF2B5EF4-FFF2-40B4-BE49-F238E27FC236}">
                <a16:creationId xmlns:a16="http://schemas.microsoft.com/office/drawing/2014/main" id="{6BDFC8D2-2BCB-4E93-4856-DF0F97B55BE2}"/>
              </a:ext>
            </a:extLst>
          </p:cNvPr>
          <p:cNvSpPr/>
          <p:nvPr/>
        </p:nvSpPr>
        <p:spPr>
          <a:xfrm>
            <a:off x="256032" y="2987040"/>
            <a:ext cx="27432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9" name="Shape 3">
            <a:extLst>
              <a:ext uri="{FF2B5EF4-FFF2-40B4-BE49-F238E27FC236}">
                <a16:creationId xmlns:a16="http://schemas.microsoft.com/office/drawing/2014/main" id="{8D93318E-5621-3D8B-73FE-9C2559C1CDAD}"/>
              </a:ext>
            </a:extLst>
          </p:cNvPr>
          <p:cNvSpPr/>
          <p:nvPr/>
        </p:nvSpPr>
        <p:spPr>
          <a:xfrm>
            <a:off x="3200400" y="2987040"/>
            <a:ext cx="27432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0" name="Shape 3">
            <a:extLst>
              <a:ext uri="{FF2B5EF4-FFF2-40B4-BE49-F238E27FC236}">
                <a16:creationId xmlns:a16="http://schemas.microsoft.com/office/drawing/2014/main" id="{BAAF547A-3A75-A945-A606-99B15E0D65F3}"/>
              </a:ext>
            </a:extLst>
          </p:cNvPr>
          <p:cNvSpPr/>
          <p:nvPr/>
        </p:nvSpPr>
        <p:spPr>
          <a:xfrm>
            <a:off x="6313932" y="2971800"/>
            <a:ext cx="2743200" cy="18288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b="1" dirty="0"/>
          </a:p>
        </p:txBody>
      </p:sp>
      <p:sp>
        <p:nvSpPr>
          <p:cNvPr id="11" name="Shape 4">
            <a:extLst>
              <a:ext uri="{FF2B5EF4-FFF2-40B4-BE49-F238E27FC236}">
                <a16:creationId xmlns:a16="http://schemas.microsoft.com/office/drawing/2014/main" id="{1D2435B0-AD14-A7DF-EDA4-0CE7F016081E}"/>
              </a:ext>
            </a:extLst>
          </p:cNvPr>
          <p:cNvSpPr/>
          <p:nvPr/>
        </p:nvSpPr>
        <p:spPr>
          <a:xfrm>
            <a:off x="256032" y="1005840"/>
            <a:ext cx="2743200" cy="402336"/>
          </a:xfrm>
          <a:prstGeom prst="rect">
            <a:avLst/>
          </a:prstGeom>
          <a:solidFill>
            <a:srgbClr val="1A2B5E"/>
          </a:solidFill>
          <a:ln w="12700">
            <a:solidFill>
              <a:srgbClr val="1A2B5E"/>
            </a:solidFill>
            <a:prstDash val="solid"/>
          </a:ln>
        </p:spPr>
        <p:txBody>
          <a:bodyPr/>
          <a:lstStyle/>
          <a:p>
            <a:endParaRPr lang="fr-CA" dirty="0"/>
          </a:p>
        </p:txBody>
      </p:sp>
      <p:sp>
        <p:nvSpPr>
          <p:cNvPr id="12" name="Shape 17">
            <a:extLst>
              <a:ext uri="{FF2B5EF4-FFF2-40B4-BE49-F238E27FC236}">
                <a16:creationId xmlns:a16="http://schemas.microsoft.com/office/drawing/2014/main" id="{F4A74104-39A8-E632-7BBE-08DDFB7F9338}"/>
              </a:ext>
            </a:extLst>
          </p:cNvPr>
          <p:cNvSpPr/>
          <p:nvPr/>
        </p:nvSpPr>
        <p:spPr>
          <a:xfrm>
            <a:off x="3200400" y="1005840"/>
            <a:ext cx="2743200" cy="402336"/>
          </a:xfrm>
          <a:prstGeom prst="rect">
            <a:avLst/>
          </a:prstGeom>
          <a:solidFill>
            <a:srgbClr val="0D9488"/>
          </a:solidFill>
          <a:ln w="12700">
            <a:solidFill>
              <a:srgbClr val="0D9488"/>
            </a:solidFill>
            <a:prstDash val="solid"/>
          </a:ln>
        </p:spPr>
        <p:txBody>
          <a:bodyPr/>
          <a:lstStyle/>
          <a:p>
            <a:endParaRPr lang="fr-CA" dirty="0"/>
          </a:p>
        </p:txBody>
      </p:sp>
      <p:sp>
        <p:nvSpPr>
          <p:cNvPr id="14" name="Shape 30">
            <a:extLst>
              <a:ext uri="{FF2B5EF4-FFF2-40B4-BE49-F238E27FC236}">
                <a16:creationId xmlns:a16="http://schemas.microsoft.com/office/drawing/2014/main" id="{8AE0C4C7-3C08-5E8D-2554-F6FBB6439437}"/>
              </a:ext>
            </a:extLst>
          </p:cNvPr>
          <p:cNvSpPr/>
          <p:nvPr/>
        </p:nvSpPr>
        <p:spPr>
          <a:xfrm>
            <a:off x="6313932" y="1005840"/>
            <a:ext cx="2743200" cy="402336"/>
          </a:xfrm>
          <a:prstGeom prst="rect">
            <a:avLst/>
          </a:prstGeom>
          <a:solidFill>
            <a:srgbClr val="7C3AED"/>
          </a:solidFill>
          <a:ln w="12700">
            <a:solidFill>
              <a:srgbClr val="7C3AED"/>
            </a:solidFill>
            <a:prstDash val="solid"/>
          </a:ln>
        </p:spPr>
        <p:txBody>
          <a:bodyPr/>
          <a:lstStyle/>
          <a:p>
            <a:endParaRPr lang="fr-CA"/>
          </a:p>
        </p:txBody>
      </p:sp>
      <p:sp>
        <p:nvSpPr>
          <p:cNvPr id="15" name="Shape 42">
            <a:extLst>
              <a:ext uri="{FF2B5EF4-FFF2-40B4-BE49-F238E27FC236}">
                <a16:creationId xmlns:a16="http://schemas.microsoft.com/office/drawing/2014/main" id="{31512C91-36E0-AE49-DA3C-510B8474644E}"/>
              </a:ext>
            </a:extLst>
          </p:cNvPr>
          <p:cNvSpPr/>
          <p:nvPr/>
        </p:nvSpPr>
        <p:spPr>
          <a:xfrm>
            <a:off x="256032" y="2999232"/>
            <a:ext cx="2743200" cy="402336"/>
          </a:xfrm>
          <a:prstGeom prst="rect">
            <a:avLst/>
          </a:prstGeom>
          <a:solidFill>
            <a:srgbClr val="EA580C"/>
          </a:solidFill>
          <a:ln w="12700">
            <a:solidFill>
              <a:srgbClr val="EA580C"/>
            </a:solidFill>
            <a:prstDash val="solid"/>
          </a:ln>
        </p:spPr>
        <p:txBody>
          <a:bodyPr/>
          <a:lstStyle/>
          <a:p>
            <a:endParaRPr lang="fr-CA" dirty="0"/>
          </a:p>
        </p:txBody>
      </p:sp>
      <p:sp>
        <p:nvSpPr>
          <p:cNvPr id="16" name="Shape 55">
            <a:extLst>
              <a:ext uri="{FF2B5EF4-FFF2-40B4-BE49-F238E27FC236}">
                <a16:creationId xmlns:a16="http://schemas.microsoft.com/office/drawing/2014/main" id="{19CC0E00-FA06-CA50-B7C4-12791351A78F}"/>
              </a:ext>
            </a:extLst>
          </p:cNvPr>
          <p:cNvSpPr/>
          <p:nvPr/>
        </p:nvSpPr>
        <p:spPr>
          <a:xfrm>
            <a:off x="3200400" y="2999232"/>
            <a:ext cx="2743200" cy="402336"/>
          </a:xfrm>
          <a:prstGeom prst="rect">
            <a:avLst/>
          </a:prstGeom>
          <a:solidFill>
            <a:srgbClr val="10B981"/>
          </a:solidFill>
          <a:ln w="12700">
            <a:solidFill>
              <a:srgbClr val="10B981"/>
            </a:solidFill>
            <a:prstDash val="solid"/>
          </a:ln>
        </p:spPr>
        <p:txBody>
          <a:bodyPr/>
          <a:lstStyle/>
          <a:p>
            <a:endParaRPr lang="fr-CA" dirty="0"/>
          </a:p>
        </p:txBody>
      </p:sp>
      <p:sp>
        <p:nvSpPr>
          <p:cNvPr id="17" name="Shape 68">
            <a:extLst>
              <a:ext uri="{FF2B5EF4-FFF2-40B4-BE49-F238E27FC236}">
                <a16:creationId xmlns:a16="http://schemas.microsoft.com/office/drawing/2014/main" id="{B2785AC4-7058-18D9-0E74-A1992C300099}"/>
              </a:ext>
            </a:extLst>
          </p:cNvPr>
          <p:cNvSpPr/>
          <p:nvPr/>
        </p:nvSpPr>
        <p:spPr>
          <a:xfrm>
            <a:off x="6313932" y="2987040"/>
            <a:ext cx="2743200" cy="402336"/>
          </a:xfrm>
          <a:prstGeom prst="rect">
            <a:avLst/>
          </a:prstGeom>
          <a:solidFill>
            <a:srgbClr val="F59E0B"/>
          </a:solidFill>
          <a:ln w="12700">
            <a:solidFill>
              <a:srgbClr val="F59E0B"/>
            </a:solidFill>
            <a:prstDash val="solid"/>
          </a:ln>
        </p:spPr>
        <p:txBody>
          <a:bodyPr/>
          <a:lstStyle/>
          <a:p>
            <a:endParaRPr lang="fr-CA" dirty="0"/>
          </a:p>
        </p:txBody>
      </p:sp>
      <p:sp>
        <p:nvSpPr>
          <p:cNvPr id="18" name="Text 8">
            <a:extLst>
              <a:ext uri="{FF2B5EF4-FFF2-40B4-BE49-F238E27FC236}">
                <a16:creationId xmlns:a16="http://schemas.microsoft.com/office/drawing/2014/main" id="{A4868BD4-11BC-AC4E-CFC0-457774E47A61}"/>
              </a:ext>
            </a:extLst>
          </p:cNvPr>
          <p:cNvSpPr/>
          <p:nvPr/>
        </p:nvSpPr>
        <p:spPr>
          <a:xfrm>
            <a:off x="512064" y="1463040"/>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Analyse du document d'attentes</a:t>
            </a:r>
            <a:endParaRPr lang="en-US" sz="1000" dirty="0"/>
          </a:p>
        </p:txBody>
      </p:sp>
      <p:sp>
        <p:nvSpPr>
          <p:cNvPr id="19" name="Text 10">
            <a:extLst>
              <a:ext uri="{FF2B5EF4-FFF2-40B4-BE49-F238E27FC236}">
                <a16:creationId xmlns:a16="http://schemas.microsoft.com/office/drawing/2014/main" id="{426EE3F2-EF9A-A1C0-1F66-8F34400A8D36}"/>
              </a:ext>
            </a:extLst>
          </p:cNvPr>
          <p:cNvSpPr/>
          <p:nvPr/>
        </p:nvSpPr>
        <p:spPr>
          <a:xfrm>
            <a:off x="512064" y="179222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Définition du problème (ISIC2018)</a:t>
            </a:r>
            <a:endParaRPr lang="en-US" sz="1000" dirty="0"/>
          </a:p>
        </p:txBody>
      </p:sp>
      <p:sp>
        <p:nvSpPr>
          <p:cNvPr id="20" name="Text 12">
            <a:extLst>
              <a:ext uri="{FF2B5EF4-FFF2-40B4-BE49-F238E27FC236}">
                <a16:creationId xmlns:a16="http://schemas.microsoft.com/office/drawing/2014/main" id="{51D88C6A-08A4-9E99-8975-5C08679194C9}"/>
              </a:ext>
            </a:extLst>
          </p:cNvPr>
          <p:cNvSpPr/>
          <p:nvPr/>
        </p:nvSpPr>
        <p:spPr>
          <a:xfrm>
            <a:off x="512064" y="2121408"/>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Choix des métriques (mAP, IoU, Dice)</a:t>
            </a:r>
            <a:endParaRPr lang="en-US" sz="1000" dirty="0"/>
          </a:p>
        </p:txBody>
      </p:sp>
      <p:sp>
        <p:nvSpPr>
          <p:cNvPr id="21" name="Text 14">
            <a:extLst>
              <a:ext uri="{FF2B5EF4-FFF2-40B4-BE49-F238E27FC236}">
                <a16:creationId xmlns:a16="http://schemas.microsoft.com/office/drawing/2014/main" id="{6EC8549B-5017-C76F-70BD-0BE1BF6415DC}"/>
              </a:ext>
            </a:extLst>
          </p:cNvPr>
          <p:cNvSpPr/>
          <p:nvPr/>
        </p:nvSpPr>
        <p:spPr>
          <a:xfrm>
            <a:off x="512064" y="2450592"/>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Mise en place Colab + GitHub</a:t>
            </a:r>
            <a:endParaRPr lang="en-US" sz="1000" dirty="0"/>
          </a:p>
        </p:txBody>
      </p:sp>
      <p:sp>
        <p:nvSpPr>
          <p:cNvPr id="22" name="Text 21">
            <a:extLst>
              <a:ext uri="{FF2B5EF4-FFF2-40B4-BE49-F238E27FC236}">
                <a16:creationId xmlns:a16="http://schemas.microsoft.com/office/drawing/2014/main" id="{08BFB411-982A-9557-337C-F0AACFFB07A1}"/>
              </a:ext>
            </a:extLst>
          </p:cNvPr>
          <p:cNvSpPr/>
          <p:nvPr/>
        </p:nvSpPr>
        <p:spPr>
          <a:xfrm>
            <a:off x="3456432" y="1463040"/>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Téléchargement &amp; vérification ISIC2018</a:t>
            </a:r>
            <a:endParaRPr lang="en-US" sz="1000" dirty="0"/>
          </a:p>
        </p:txBody>
      </p:sp>
      <p:sp>
        <p:nvSpPr>
          <p:cNvPr id="23" name="Text 23">
            <a:extLst>
              <a:ext uri="{FF2B5EF4-FFF2-40B4-BE49-F238E27FC236}">
                <a16:creationId xmlns:a16="http://schemas.microsoft.com/office/drawing/2014/main" id="{3D97D691-F46A-3AF1-14A0-CA4DC3F3E5E4}"/>
              </a:ext>
            </a:extLst>
          </p:cNvPr>
          <p:cNvSpPr/>
          <p:nvPr/>
        </p:nvSpPr>
        <p:spPr>
          <a:xfrm>
            <a:off x="3456432" y="179222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Nettoyage &amp; binarisation des masques</a:t>
            </a:r>
            <a:endParaRPr lang="en-US" sz="1000" dirty="0"/>
          </a:p>
        </p:txBody>
      </p:sp>
      <p:sp>
        <p:nvSpPr>
          <p:cNvPr id="24" name="Text 25">
            <a:extLst>
              <a:ext uri="{FF2B5EF4-FFF2-40B4-BE49-F238E27FC236}">
                <a16:creationId xmlns:a16="http://schemas.microsoft.com/office/drawing/2014/main" id="{5E24B7A9-E009-EB6F-F4D8-36114793CD6C}"/>
              </a:ext>
            </a:extLst>
          </p:cNvPr>
          <p:cNvSpPr/>
          <p:nvPr/>
        </p:nvSpPr>
        <p:spPr>
          <a:xfrm>
            <a:off x="3456432" y="2121408"/>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Redimensionnement images &amp; masques</a:t>
            </a:r>
            <a:endParaRPr lang="en-US" sz="1000" dirty="0"/>
          </a:p>
        </p:txBody>
      </p:sp>
      <p:sp>
        <p:nvSpPr>
          <p:cNvPr id="25" name="Text 27">
            <a:extLst>
              <a:ext uri="{FF2B5EF4-FFF2-40B4-BE49-F238E27FC236}">
                <a16:creationId xmlns:a16="http://schemas.microsoft.com/office/drawing/2014/main" id="{22EAF03F-6849-E9BD-E2F2-938C46460AB8}"/>
              </a:ext>
            </a:extLst>
          </p:cNvPr>
          <p:cNvSpPr/>
          <p:nvPr/>
        </p:nvSpPr>
        <p:spPr>
          <a:xfrm>
            <a:off x="3456432" y="2450592"/>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Séparation train / val / test + YAML</a:t>
            </a:r>
            <a:endParaRPr lang="en-US" sz="1000" dirty="0"/>
          </a:p>
        </p:txBody>
      </p:sp>
      <p:sp>
        <p:nvSpPr>
          <p:cNvPr id="26" name="Text 34">
            <a:extLst>
              <a:ext uri="{FF2B5EF4-FFF2-40B4-BE49-F238E27FC236}">
                <a16:creationId xmlns:a16="http://schemas.microsoft.com/office/drawing/2014/main" id="{D13DF3B6-6C79-B3E3-C9A0-F3248B97083E}"/>
              </a:ext>
            </a:extLst>
          </p:cNvPr>
          <p:cNvSpPr/>
          <p:nvPr/>
        </p:nvSpPr>
        <p:spPr>
          <a:xfrm>
            <a:off x="6711696" y="1420368"/>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YOLOv8n/s/m-seg — série 100‑20‑20</a:t>
            </a:r>
            <a:endParaRPr lang="en-US" sz="1000" dirty="0"/>
          </a:p>
        </p:txBody>
      </p:sp>
      <p:sp>
        <p:nvSpPr>
          <p:cNvPr id="27" name="Text 36">
            <a:extLst>
              <a:ext uri="{FF2B5EF4-FFF2-40B4-BE49-F238E27FC236}">
                <a16:creationId xmlns:a16="http://schemas.microsoft.com/office/drawing/2014/main" id="{74F68D88-EC8E-62D0-3267-C4F3BD4F1CF5}"/>
              </a:ext>
            </a:extLst>
          </p:cNvPr>
          <p:cNvSpPr/>
          <p:nvPr/>
        </p:nvSpPr>
        <p:spPr>
          <a:xfrm>
            <a:off x="6716268" y="168554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Extraction des poids (best.pt)</a:t>
            </a:r>
            <a:endParaRPr lang="en-US" sz="1000" dirty="0"/>
          </a:p>
        </p:txBody>
      </p:sp>
      <p:sp>
        <p:nvSpPr>
          <p:cNvPr id="28" name="Text 38">
            <a:extLst>
              <a:ext uri="{FF2B5EF4-FFF2-40B4-BE49-F238E27FC236}">
                <a16:creationId xmlns:a16="http://schemas.microsoft.com/office/drawing/2014/main" id="{77F02790-CEC0-38C4-323A-CCC974799510}"/>
              </a:ext>
            </a:extLst>
          </p:cNvPr>
          <p:cNvSpPr/>
          <p:nvPr/>
        </p:nvSpPr>
        <p:spPr>
          <a:xfrm>
            <a:off x="6716268" y="2002536"/>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Analyse préliminaire mAP, rappel</a:t>
            </a:r>
            <a:endParaRPr lang="en-US" sz="1000" dirty="0"/>
          </a:p>
        </p:txBody>
      </p:sp>
      <p:sp>
        <p:nvSpPr>
          <p:cNvPr id="30" name="Text 40">
            <a:extLst>
              <a:ext uri="{FF2B5EF4-FFF2-40B4-BE49-F238E27FC236}">
                <a16:creationId xmlns:a16="http://schemas.microsoft.com/office/drawing/2014/main" id="{FDCBF597-B86A-9721-0F02-CC4BBA5D62FD}"/>
              </a:ext>
            </a:extLst>
          </p:cNvPr>
          <p:cNvSpPr/>
          <p:nvPr/>
        </p:nvSpPr>
        <p:spPr>
          <a:xfrm>
            <a:off x="6716268" y="2299716"/>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Identification limites &amp; instabilités</a:t>
            </a:r>
            <a:endParaRPr lang="en-US" sz="1000" dirty="0"/>
          </a:p>
        </p:txBody>
      </p:sp>
      <p:sp>
        <p:nvSpPr>
          <p:cNvPr id="31" name="Text 46">
            <a:extLst>
              <a:ext uri="{FF2B5EF4-FFF2-40B4-BE49-F238E27FC236}">
                <a16:creationId xmlns:a16="http://schemas.microsoft.com/office/drawing/2014/main" id="{C9893567-9065-997D-0668-8AF8F3D1F46B}"/>
              </a:ext>
            </a:extLst>
          </p:cNvPr>
          <p:cNvSpPr/>
          <p:nvPr/>
        </p:nvSpPr>
        <p:spPr>
          <a:xfrm>
            <a:off x="512064" y="3456432"/>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Ajustement lr, patience, dropout, mask_ratio</a:t>
            </a:r>
            <a:endParaRPr lang="en-US" sz="1000" dirty="0"/>
          </a:p>
        </p:txBody>
      </p:sp>
      <p:sp>
        <p:nvSpPr>
          <p:cNvPr id="32" name="Text 48">
            <a:extLst>
              <a:ext uri="{FF2B5EF4-FFF2-40B4-BE49-F238E27FC236}">
                <a16:creationId xmlns:a16="http://schemas.microsoft.com/office/drawing/2014/main" id="{98B8F36F-D1FD-DB44-0AD4-0FC50C05A9E7}"/>
              </a:ext>
            </a:extLst>
          </p:cNvPr>
          <p:cNvSpPr/>
          <p:nvPr/>
        </p:nvSpPr>
        <p:spPr>
          <a:xfrm>
            <a:off x="512064" y="3785616"/>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Re-entraînement série 125‑50‑50</a:t>
            </a:r>
            <a:endParaRPr lang="en-US" sz="1000" dirty="0"/>
          </a:p>
        </p:txBody>
      </p:sp>
      <p:sp>
        <p:nvSpPr>
          <p:cNvPr id="33" name="Text 50">
            <a:extLst>
              <a:ext uri="{FF2B5EF4-FFF2-40B4-BE49-F238E27FC236}">
                <a16:creationId xmlns:a16="http://schemas.microsoft.com/office/drawing/2014/main" id="{4692EEBE-C9BF-95AB-E4F5-EC57B722D485}"/>
              </a:ext>
            </a:extLst>
          </p:cNvPr>
          <p:cNvSpPr/>
          <p:nvPr/>
        </p:nvSpPr>
        <p:spPr>
          <a:xfrm>
            <a:off x="512064" y="409346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Analyse comparative S3 vs S4</a:t>
            </a:r>
            <a:endParaRPr lang="en-US" sz="1000" dirty="0"/>
          </a:p>
        </p:txBody>
      </p:sp>
      <p:sp>
        <p:nvSpPr>
          <p:cNvPr id="34" name="Text 52">
            <a:extLst>
              <a:ext uri="{FF2B5EF4-FFF2-40B4-BE49-F238E27FC236}">
                <a16:creationId xmlns:a16="http://schemas.microsoft.com/office/drawing/2014/main" id="{67B1E929-63C8-93E7-0BE7-44052CCAE146}"/>
              </a:ext>
            </a:extLst>
          </p:cNvPr>
          <p:cNvSpPr/>
          <p:nvPr/>
        </p:nvSpPr>
        <p:spPr>
          <a:xfrm>
            <a:off x="512064" y="444398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Sélection configs prometteuses</a:t>
            </a:r>
            <a:endParaRPr lang="en-US" sz="1000" dirty="0"/>
          </a:p>
        </p:txBody>
      </p:sp>
      <p:sp>
        <p:nvSpPr>
          <p:cNvPr id="35" name="Text 59">
            <a:extLst>
              <a:ext uri="{FF2B5EF4-FFF2-40B4-BE49-F238E27FC236}">
                <a16:creationId xmlns:a16="http://schemas.microsoft.com/office/drawing/2014/main" id="{BE615726-FDC7-5F7B-A263-9A5D668AFE5D}"/>
              </a:ext>
            </a:extLst>
          </p:cNvPr>
          <p:cNvSpPr/>
          <p:nvPr/>
        </p:nvSpPr>
        <p:spPr>
          <a:xfrm>
            <a:off x="3456432" y="3456432"/>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Entraînement final série 150‑50‑50</a:t>
            </a:r>
            <a:endParaRPr lang="en-US" sz="1000" dirty="0"/>
          </a:p>
        </p:txBody>
      </p:sp>
      <p:sp>
        <p:nvSpPr>
          <p:cNvPr id="36" name="Text 61">
            <a:extLst>
              <a:ext uri="{FF2B5EF4-FFF2-40B4-BE49-F238E27FC236}">
                <a16:creationId xmlns:a16="http://schemas.microsoft.com/office/drawing/2014/main" id="{C62AE3AF-FDE3-4B9E-2C22-4CB3C2B1263A}"/>
              </a:ext>
            </a:extLst>
          </p:cNvPr>
          <p:cNvSpPr/>
          <p:nvPr/>
        </p:nvSpPr>
        <p:spPr>
          <a:xfrm>
            <a:off x="3456432" y="3785616"/>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Analyse détaillée métriques finales</a:t>
            </a:r>
            <a:endParaRPr lang="en-US" sz="1000" dirty="0"/>
          </a:p>
        </p:txBody>
      </p:sp>
      <p:sp>
        <p:nvSpPr>
          <p:cNvPr id="37" name="Text 63">
            <a:extLst>
              <a:ext uri="{FF2B5EF4-FFF2-40B4-BE49-F238E27FC236}">
                <a16:creationId xmlns:a16="http://schemas.microsoft.com/office/drawing/2014/main" id="{7A724516-B28A-DE79-9377-A27A34A0A90E}"/>
              </a:ext>
            </a:extLst>
          </p:cNvPr>
          <p:cNvSpPr/>
          <p:nvPr/>
        </p:nvSpPr>
        <p:spPr>
          <a:xfrm>
            <a:off x="3456432" y="4114800"/>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Comparaison 3 séries d'entraînement</a:t>
            </a:r>
            <a:endParaRPr lang="en-US" sz="1000" dirty="0"/>
          </a:p>
        </p:txBody>
      </p:sp>
      <p:sp>
        <p:nvSpPr>
          <p:cNvPr id="38" name="Text 65">
            <a:extLst>
              <a:ext uri="{FF2B5EF4-FFF2-40B4-BE49-F238E27FC236}">
                <a16:creationId xmlns:a16="http://schemas.microsoft.com/office/drawing/2014/main" id="{6BE66FD0-6335-4BC6-11A5-15DFA05BBAA1}"/>
              </a:ext>
            </a:extLst>
          </p:cNvPr>
          <p:cNvSpPr/>
          <p:nvPr/>
        </p:nvSpPr>
        <p:spPr>
          <a:xfrm>
            <a:off x="3456432" y="444398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Sélection YOLOv8s‑seg (meilleur)</a:t>
            </a:r>
            <a:endParaRPr lang="en-US" sz="1000" dirty="0"/>
          </a:p>
        </p:txBody>
      </p:sp>
      <p:sp>
        <p:nvSpPr>
          <p:cNvPr id="39" name="Text 72">
            <a:extLst>
              <a:ext uri="{FF2B5EF4-FFF2-40B4-BE49-F238E27FC236}">
                <a16:creationId xmlns:a16="http://schemas.microsoft.com/office/drawing/2014/main" id="{93C8E05A-2FEF-9E0C-ADE5-FB6797781531}"/>
              </a:ext>
            </a:extLst>
          </p:cNvPr>
          <p:cNvSpPr/>
          <p:nvPr/>
        </p:nvSpPr>
        <p:spPr>
          <a:xfrm>
            <a:off x="6624828" y="345338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Pipeline inférence (pré/post‑traitement)</a:t>
            </a:r>
            <a:endParaRPr lang="en-US" sz="1000" dirty="0"/>
          </a:p>
        </p:txBody>
      </p:sp>
      <p:sp>
        <p:nvSpPr>
          <p:cNvPr id="40" name="Text 74">
            <a:extLst>
              <a:ext uri="{FF2B5EF4-FFF2-40B4-BE49-F238E27FC236}">
                <a16:creationId xmlns:a16="http://schemas.microsoft.com/office/drawing/2014/main" id="{692E5759-4B1F-40A7-64AE-081FFE8BC2E0}"/>
              </a:ext>
            </a:extLst>
          </p:cNvPr>
          <p:cNvSpPr/>
          <p:nvPr/>
        </p:nvSpPr>
        <p:spPr>
          <a:xfrm>
            <a:off x="6653784" y="3776472"/>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Visualisations : masque, superposition</a:t>
            </a:r>
            <a:endParaRPr lang="en-US" sz="1000" dirty="0"/>
          </a:p>
        </p:txBody>
      </p:sp>
      <p:sp>
        <p:nvSpPr>
          <p:cNvPr id="41" name="Text 76">
            <a:extLst>
              <a:ext uri="{FF2B5EF4-FFF2-40B4-BE49-F238E27FC236}">
                <a16:creationId xmlns:a16="http://schemas.microsoft.com/office/drawing/2014/main" id="{80E5BE71-CB67-9646-678F-71594361573E}"/>
              </a:ext>
            </a:extLst>
          </p:cNvPr>
          <p:cNvSpPr/>
          <p:nvPr/>
        </p:nvSpPr>
        <p:spPr>
          <a:xfrm>
            <a:off x="6687312" y="4114800"/>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Évaluation finale IoU &amp; Dice</a:t>
            </a:r>
            <a:endParaRPr lang="en-US" sz="1000" dirty="0"/>
          </a:p>
        </p:txBody>
      </p:sp>
      <p:sp>
        <p:nvSpPr>
          <p:cNvPr id="42" name="Text 78">
            <a:extLst>
              <a:ext uri="{FF2B5EF4-FFF2-40B4-BE49-F238E27FC236}">
                <a16:creationId xmlns:a16="http://schemas.microsoft.com/office/drawing/2014/main" id="{49E9BD97-64C1-3157-8415-A1E6B7D5C60D}"/>
              </a:ext>
            </a:extLst>
          </p:cNvPr>
          <p:cNvSpPr/>
          <p:nvPr/>
        </p:nvSpPr>
        <p:spPr>
          <a:xfrm>
            <a:off x="6687312" y="4413504"/>
            <a:ext cx="2432304" cy="310896"/>
          </a:xfrm>
          <a:prstGeom prst="rect">
            <a:avLst/>
          </a:prstGeom>
          <a:noFill/>
          <a:ln/>
        </p:spPr>
        <p:txBody>
          <a:bodyPr wrap="square"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Rapport, démo, dépôt GitHub finalisé</a:t>
            </a:r>
            <a:endParaRPr lang="en-US" sz="1000" dirty="0"/>
          </a:p>
        </p:txBody>
      </p:sp>
      <p:sp>
        <p:nvSpPr>
          <p:cNvPr id="43" name="Text 5">
            <a:extLst>
              <a:ext uri="{FF2B5EF4-FFF2-40B4-BE49-F238E27FC236}">
                <a16:creationId xmlns:a16="http://schemas.microsoft.com/office/drawing/2014/main" id="{78BED87C-46B9-D858-3124-8571D0CECE9C}"/>
              </a:ext>
            </a:extLst>
          </p:cNvPr>
          <p:cNvSpPr/>
          <p:nvPr/>
        </p:nvSpPr>
        <p:spPr>
          <a:xfrm>
            <a:off x="310896" y="1005840"/>
            <a:ext cx="457200" cy="402336"/>
          </a:xfrm>
          <a:prstGeom prst="rect">
            <a:avLst/>
          </a:prstGeom>
          <a:noFill/>
          <a:ln/>
        </p:spPr>
        <p:txBody>
          <a:bodyPr wrap="square" lIns="0" tIns="0" rIns="0" bIns="0" rtlCol="0" anchor="ctr"/>
          <a:lstStyle/>
          <a:p>
            <a:pPr marL="0" indent="0" algn="ctr">
              <a:buNone/>
            </a:pPr>
            <a:r>
              <a:rPr lang="en-US" sz="1400" b="1" dirty="0">
                <a:solidFill>
                  <a:srgbClr val="FFFFFF"/>
                </a:solidFill>
              </a:rPr>
              <a:t>S1</a:t>
            </a:r>
            <a:endParaRPr lang="en-US" sz="1400" dirty="0"/>
          </a:p>
        </p:txBody>
      </p:sp>
      <p:sp>
        <p:nvSpPr>
          <p:cNvPr id="44" name="Text 6">
            <a:extLst>
              <a:ext uri="{FF2B5EF4-FFF2-40B4-BE49-F238E27FC236}">
                <a16:creationId xmlns:a16="http://schemas.microsoft.com/office/drawing/2014/main" id="{1160F216-674C-7455-62A6-8873705750D9}"/>
              </a:ext>
            </a:extLst>
          </p:cNvPr>
          <p:cNvSpPr/>
          <p:nvPr/>
        </p:nvSpPr>
        <p:spPr>
          <a:xfrm>
            <a:off x="768096" y="1005840"/>
            <a:ext cx="2176272" cy="402336"/>
          </a:xfrm>
          <a:prstGeom prst="rect">
            <a:avLst/>
          </a:prstGeom>
          <a:noFill/>
          <a:ln/>
        </p:spPr>
        <p:txBody>
          <a:bodyPr wrap="square" lIns="0" tIns="0" rIns="0" bIns="0" rtlCol="0" anchor="ctr"/>
          <a:lstStyle/>
          <a:p>
            <a:pPr marL="0" indent="0">
              <a:buNone/>
            </a:pPr>
            <a:r>
              <a:rPr lang="en-US" sz="1050" b="1" dirty="0">
                <a:solidFill>
                  <a:srgbClr val="FFFFFF"/>
                </a:solidFill>
              </a:rPr>
              <a:t>Cadrage &amp; Environnement</a:t>
            </a:r>
            <a:endParaRPr lang="en-US" sz="1050" dirty="0"/>
          </a:p>
        </p:txBody>
      </p:sp>
      <p:sp>
        <p:nvSpPr>
          <p:cNvPr id="45" name="Text 18">
            <a:extLst>
              <a:ext uri="{FF2B5EF4-FFF2-40B4-BE49-F238E27FC236}">
                <a16:creationId xmlns:a16="http://schemas.microsoft.com/office/drawing/2014/main" id="{0B6A33A1-0DA2-62FB-F97C-755A2A4BCF1D}"/>
              </a:ext>
            </a:extLst>
          </p:cNvPr>
          <p:cNvSpPr/>
          <p:nvPr/>
        </p:nvSpPr>
        <p:spPr>
          <a:xfrm>
            <a:off x="3255264" y="1005840"/>
            <a:ext cx="457200" cy="402336"/>
          </a:xfrm>
          <a:prstGeom prst="rect">
            <a:avLst/>
          </a:prstGeom>
          <a:noFill/>
          <a:ln/>
        </p:spPr>
        <p:txBody>
          <a:bodyPr wrap="square" lIns="0" tIns="0" rIns="0" bIns="0" rtlCol="0" anchor="ctr"/>
          <a:lstStyle/>
          <a:p>
            <a:pPr marL="0" indent="0" algn="ctr">
              <a:buNone/>
            </a:pPr>
            <a:r>
              <a:rPr lang="en-US" sz="1400" b="1" dirty="0">
                <a:solidFill>
                  <a:srgbClr val="FFFFFF"/>
                </a:solidFill>
              </a:rPr>
              <a:t>S2</a:t>
            </a:r>
            <a:endParaRPr lang="en-US" sz="1400" dirty="0"/>
          </a:p>
        </p:txBody>
      </p:sp>
      <p:sp>
        <p:nvSpPr>
          <p:cNvPr id="46" name="Text 19">
            <a:extLst>
              <a:ext uri="{FF2B5EF4-FFF2-40B4-BE49-F238E27FC236}">
                <a16:creationId xmlns:a16="http://schemas.microsoft.com/office/drawing/2014/main" id="{6D06CE9C-ED46-B97A-1557-056B5EA3A8C0}"/>
              </a:ext>
            </a:extLst>
          </p:cNvPr>
          <p:cNvSpPr/>
          <p:nvPr/>
        </p:nvSpPr>
        <p:spPr>
          <a:xfrm>
            <a:off x="3712464" y="1005840"/>
            <a:ext cx="2176272" cy="402336"/>
          </a:xfrm>
          <a:prstGeom prst="rect">
            <a:avLst/>
          </a:prstGeom>
          <a:noFill/>
          <a:ln/>
        </p:spPr>
        <p:txBody>
          <a:bodyPr wrap="square" lIns="0" tIns="0" rIns="0" bIns="0" rtlCol="0" anchor="ctr"/>
          <a:lstStyle/>
          <a:p>
            <a:pPr marL="0" indent="0">
              <a:buNone/>
            </a:pPr>
            <a:r>
              <a:rPr lang="en-US" sz="1050" b="1" dirty="0">
                <a:solidFill>
                  <a:srgbClr val="FFFFFF"/>
                </a:solidFill>
              </a:rPr>
              <a:t>Préparation du Dataset</a:t>
            </a:r>
            <a:endParaRPr lang="en-US" sz="1050" dirty="0"/>
          </a:p>
        </p:txBody>
      </p:sp>
      <p:sp>
        <p:nvSpPr>
          <p:cNvPr id="47" name="Text 31">
            <a:extLst>
              <a:ext uri="{FF2B5EF4-FFF2-40B4-BE49-F238E27FC236}">
                <a16:creationId xmlns:a16="http://schemas.microsoft.com/office/drawing/2014/main" id="{092A5953-8B54-8D42-07CA-D14F2BD877F1}"/>
              </a:ext>
            </a:extLst>
          </p:cNvPr>
          <p:cNvSpPr/>
          <p:nvPr/>
        </p:nvSpPr>
        <p:spPr>
          <a:xfrm>
            <a:off x="6230112" y="999744"/>
            <a:ext cx="457200" cy="402336"/>
          </a:xfrm>
          <a:prstGeom prst="rect">
            <a:avLst/>
          </a:prstGeom>
          <a:noFill/>
          <a:ln/>
        </p:spPr>
        <p:txBody>
          <a:bodyPr wrap="square" lIns="0" tIns="0" rIns="0" bIns="0" rtlCol="0" anchor="ctr"/>
          <a:lstStyle/>
          <a:p>
            <a:pPr marL="0" indent="0" algn="ctr">
              <a:buNone/>
            </a:pPr>
            <a:r>
              <a:rPr lang="en-US" sz="1400" b="1" dirty="0">
                <a:solidFill>
                  <a:srgbClr val="FFFFFF"/>
                </a:solidFill>
              </a:rPr>
              <a:t>S3</a:t>
            </a:r>
            <a:endParaRPr lang="en-US" sz="1400" dirty="0"/>
          </a:p>
        </p:txBody>
      </p:sp>
      <p:sp>
        <p:nvSpPr>
          <p:cNvPr id="48" name="Text 32">
            <a:extLst>
              <a:ext uri="{FF2B5EF4-FFF2-40B4-BE49-F238E27FC236}">
                <a16:creationId xmlns:a16="http://schemas.microsoft.com/office/drawing/2014/main" id="{E432E6D8-F0FB-B3D6-C595-506E0D21CA9A}"/>
              </a:ext>
            </a:extLst>
          </p:cNvPr>
          <p:cNvSpPr/>
          <p:nvPr/>
        </p:nvSpPr>
        <p:spPr>
          <a:xfrm>
            <a:off x="6656832" y="1005840"/>
            <a:ext cx="2176272" cy="402336"/>
          </a:xfrm>
          <a:prstGeom prst="rect">
            <a:avLst/>
          </a:prstGeom>
          <a:noFill/>
          <a:ln/>
        </p:spPr>
        <p:txBody>
          <a:bodyPr wrap="square" lIns="0" tIns="0" rIns="0" bIns="0" rtlCol="0" anchor="ctr"/>
          <a:lstStyle/>
          <a:p>
            <a:pPr marL="0" indent="0">
              <a:buNone/>
            </a:pPr>
            <a:r>
              <a:rPr lang="en-US" sz="1050" b="1" dirty="0">
                <a:solidFill>
                  <a:srgbClr val="FFFFFF"/>
                </a:solidFill>
              </a:rPr>
              <a:t>Entraînements Initiaux</a:t>
            </a:r>
            <a:endParaRPr lang="en-US" sz="1050" dirty="0"/>
          </a:p>
        </p:txBody>
      </p:sp>
      <p:sp>
        <p:nvSpPr>
          <p:cNvPr id="49" name="Text 43">
            <a:extLst>
              <a:ext uri="{FF2B5EF4-FFF2-40B4-BE49-F238E27FC236}">
                <a16:creationId xmlns:a16="http://schemas.microsoft.com/office/drawing/2014/main" id="{9FE14539-3AC0-FAEE-62FC-B05875DC84FD}"/>
              </a:ext>
            </a:extLst>
          </p:cNvPr>
          <p:cNvSpPr/>
          <p:nvPr/>
        </p:nvSpPr>
        <p:spPr>
          <a:xfrm>
            <a:off x="310896" y="2999232"/>
            <a:ext cx="457200" cy="402336"/>
          </a:xfrm>
          <a:prstGeom prst="rect">
            <a:avLst/>
          </a:prstGeom>
          <a:noFill/>
          <a:ln/>
        </p:spPr>
        <p:txBody>
          <a:bodyPr wrap="square" lIns="0" tIns="0" rIns="0" bIns="0" rtlCol="0" anchor="ctr"/>
          <a:lstStyle/>
          <a:p>
            <a:pPr marL="0" indent="0" algn="ctr">
              <a:buNone/>
            </a:pPr>
            <a:r>
              <a:rPr lang="en-US" sz="1400" b="1" dirty="0">
                <a:solidFill>
                  <a:srgbClr val="FFFFFF"/>
                </a:solidFill>
              </a:rPr>
              <a:t>S4</a:t>
            </a:r>
            <a:endParaRPr lang="en-US" sz="1400" dirty="0"/>
          </a:p>
        </p:txBody>
      </p:sp>
      <p:sp>
        <p:nvSpPr>
          <p:cNvPr id="51" name="Text 44">
            <a:extLst>
              <a:ext uri="{FF2B5EF4-FFF2-40B4-BE49-F238E27FC236}">
                <a16:creationId xmlns:a16="http://schemas.microsoft.com/office/drawing/2014/main" id="{9AAF7BBE-7433-75E0-4AC8-E7971CE0A28D}"/>
              </a:ext>
            </a:extLst>
          </p:cNvPr>
          <p:cNvSpPr/>
          <p:nvPr/>
        </p:nvSpPr>
        <p:spPr>
          <a:xfrm>
            <a:off x="768096" y="2983992"/>
            <a:ext cx="2176272" cy="402336"/>
          </a:xfrm>
          <a:prstGeom prst="rect">
            <a:avLst/>
          </a:prstGeom>
          <a:noFill/>
          <a:ln/>
        </p:spPr>
        <p:txBody>
          <a:bodyPr wrap="square" lIns="0" tIns="0" rIns="0" bIns="0" rtlCol="0" anchor="ctr"/>
          <a:lstStyle/>
          <a:p>
            <a:pPr marL="0" indent="0">
              <a:buNone/>
            </a:pPr>
            <a:r>
              <a:rPr lang="en-US" sz="1050" b="1" dirty="0">
                <a:solidFill>
                  <a:srgbClr val="FFFFFF"/>
                </a:solidFill>
              </a:rPr>
              <a:t>Optimisation Hyperparamètres</a:t>
            </a:r>
            <a:endParaRPr lang="en-US" sz="1050" dirty="0"/>
          </a:p>
        </p:txBody>
      </p:sp>
      <p:sp>
        <p:nvSpPr>
          <p:cNvPr id="52" name="Text 56">
            <a:extLst>
              <a:ext uri="{FF2B5EF4-FFF2-40B4-BE49-F238E27FC236}">
                <a16:creationId xmlns:a16="http://schemas.microsoft.com/office/drawing/2014/main" id="{763B3637-7547-C441-9C89-188CAC91024D}"/>
              </a:ext>
            </a:extLst>
          </p:cNvPr>
          <p:cNvSpPr/>
          <p:nvPr/>
        </p:nvSpPr>
        <p:spPr>
          <a:xfrm>
            <a:off x="3255264" y="2999232"/>
            <a:ext cx="457200" cy="402336"/>
          </a:xfrm>
          <a:prstGeom prst="rect">
            <a:avLst/>
          </a:prstGeom>
          <a:noFill/>
          <a:ln/>
        </p:spPr>
        <p:txBody>
          <a:bodyPr wrap="square" lIns="0" tIns="0" rIns="0" bIns="0" rtlCol="0" anchor="ctr"/>
          <a:lstStyle/>
          <a:p>
            <a:pPr marL="0" indent="0" algn="ctr">
              <a:buNone/>
            </a:pPr>
            <a:r>
              <a:rPr lang="en-US" sz="1400" b="1" dirty="0">
                <a:solidFill>
                  <a:srgbClr val="FFFFFF"/>
                </a:solidFill>
              </a:rPr>
              <a:t>S5</a:t>
            </a:r>
            <a:endParaRPr lang="en-US" sz="1400" dirty="0"/>
          </a:p>
        </p:txBody>
      </p:sp>
      <p:sp>
        <p:nvSpPr>
          <p:cNvPr id="53" name="Text 57">
            <a:extLst>
              <a:ext uri="{FF2B5EF4-FFF2-40B4-BE49-F238E27FC236}">
                <a16:creationId xmlns:a16="http://schemas.microsoft.com/office/drawing/2014/main" id="{76B33EAE-825B-2642-B789-204598FFCE93}"/>
              </a:ext>
            </a:extLst>
          </p:cNvPr>
          <p:cNvSpPr/>
          <p:nvPr/>
        </p:nvSpPr>
        <p:spPr>
          <a:xfrm>
            <a:off x="3712464" y="2999232"/>
            <a:ext cx="2176272" cy="402336"/>
          </a:xfrm>
          <a:prstGeom prst="rect">
            <a:avLst/>
          </a:prstGeom>
          <a:noFill/>
          <a:ln/>
        </p:spPr>
        <p:txBody>
          <a:bodyPr wrap="square" lIns="0" tIns="0" rIns="0" bIns="0" rtlCol="0" anchor="ctr"/>
          <a:lstStyle/>
          <a:p>
            <a:pPr marL="0" indent="0">
              <a:buNone/>
            </a:pPr>
            <a:r>
              <a:rPr lang="en-US" sz="1050" b="1" dirty="0">
                <a:solidFill>
                  <a:srgbClr val="FFFFFF"/>
                </a:solidFill>
              </a:rPr>
              <a:t>Entraînements Finaux</a:t>
            </a:r>
            <a:endParaRPr lang="en-US" sz="1050" dirty="0"/>
          </a:p>
        </p:txBody>
      </p:sp>
      <p:sp>
        <p:nvSpPr>
          <p:cNvPr id="55" name="Text 69">
            <a:extLst>
              <a:ext uri="{FF2B5EF4-FFF2-40B4-BE49-F238E27FC236}">
                <a16:creationId xmlns:a16="http://schemas.microsoft.com/office/drawing/2014/main" id="{FF2A80AC-FDC5-D956-01CB-1A50E5683539}"/>
              </a:ext>
            </a:extLst>
          </p:cNvPr>
          <p:cNvSpPr/>
          <p:nvPr/>
        </p:nvSpPr>
        <p:spPr>
          <a:xfrm>
            <a:off x="6259068" y="2987040"/>
            <a:ext cx="457200" cy="402336"/>
          </a:xfrm>
          <a:prstGeom prst="rect">
            <a:avLst/>
          </a:prstGeom>
          <a:noFill/>
          <a:ln/>
        </p:spPr>
        <p:txBody>
          <a:bodyPr wrap="square" lIns="0" tIns="0" rIns="0" bIns="0" rtlCol="0" anchor="ctr"/>
          <a:lstStyle/>
          <a:p>
            <a:pPr marL="0" indent="0" algn="ctr">
              <a:buNone/>
            </a:pPr>
            <a:r>
              <a:rPr lang="en-US" sz="1400" b="1" dirty="0">
                <a:solidFill>
                  <a:srgbClr val="FFFFFF"/>
                </a:solidFill>
              </a:rPr>
              <a:t>S6</a:t>
            </a:r>
            <a:endParaRPr lang="en-US" sz="1400" dirty="0"/>
          </a:p>
        </p:txBody>
      </p:sp>
      <p:sp>
        <p:nvSpPr>
          <p:cNvPr id="56" name="Text 70">
            <a:extLst>
              <a:ext uri="{FF2B5EF4-FFF2-40B4-BE49-F238E27FC236}">
                <a16:creationId xmlns:a16="http://schemas.microsoft.com/office/drawing/2014/main" id="{EF7F7BA4-A962-020D-05F1-AABD29088929}"/>
              </a:ext>
            </a:extLst>
          </p:cNvPr>
          <p:cNvSpPr/>
          <p:nvPr/>
        </p:nvSpPr>
        <p:spPr>
          <a:xfrm>
            <a:off x="6656832" y="2999232"/>
            <a:ext cx="2176272" cy="402336"/>
          </a:xfrm>
          <a:prstGeom prst="rect">
            <a:avLst/>
          </a:prstGeom>
          <a:noFill/>
          <a:ln/>
        </p:spPr>
        <p:txBody>
          <a:bodyPr wrap="square" lIns="0" tIns="0" rIns="0" bIns="0" rtlCol="0" anchor="ctr"/>
          <a:lstStyle/>
          <a:p>
            <a:pPr marL="0" indent="0">
              <a:buNone/>
            </a:pPr>
            <a:r>
              <a:rPr lang="en-US" sz="1050" b="1" dirty="0">
                <a:solidFill>
                  <a:srgbClr val="FFFFFF"/>
                </a:solidFill>
              </a:rPr>
              <a:t>Pipeline, Tests &amp; Rapport</a:t>
            </a:r>
            <a:endParaRPr lang="en-US" sz="1050" dirty="0"/>
          </a:p>
        </p:txBody>
      </p:sp>
      <p:sp>
        <p:nvSpPr>
          <p:cNvPr id="57" name="Shape 15">
            <a:extLst>
              <a:ext uri="{FF2B5EF4-FFF2-40B4-BE49-F238E27FC236}">
                <a16:creationId xmlns:a16="http://schemas.microsoft.com/office/drawing/2014/main" id="{B20DD25D-57BE-03F9-2693-79D5B25EC060}"/>
              </a:ext>
            </a:extLst>
          </p:cNvPr>
          <p:cNvSpPr/>
          <p:nvPr/>
        </p:nvSpPr>
        <p:spPr>
          <a:xfrm>
            <a:off x="3035808" y="1892808"/>
            <a:ext cx="109728" cy="54864"/>
          </a:xfrm>
          <a:prstGeom prst="rect">
            <a:avLst/>
          </a:prstGeom>
          <a:solidFill>
            <a:srgbClr val="F59E0B"/>
          </a:solidFill>
          <a:ln w="12700">
            <a:solidFill>
              <a:srgbClr val="F59E0B"/>
            </a:solidFill>
            <a:prstDash val="solid"/>
          </a:ln>
        </p:spPr>
        <p:txBody>
          <a:bodyPr/>
          <a:lstStyle/>
          <a:p>
            <a:endParaRPr lang="fr-CA"/>
          </a:p>
        </p:txBody>
      </p:sp>
      <p:sp>
        <p:nvSpPr>
          <p:cNvPr id="58" name="Shape 15">
            <a:extLst>
              <a:ext uri="{FF2B5EF4-FFF2-40B4-BE49-F238E27FC236}">
                <a16:creationId xmlns:a16="http://schemas.microsoft.com/office/drawing/2014/main" id="{413179ED-2F78-00E8-FFFB-BE5A8014F7A9}"/>
              </a:ext>
            </a:extLst>
          </p:cNvPr>
          <p:cNvSpPr/>
          <p:nvPr/>
        </p:nvSpPr>
        <p:spPr>
          <a:xfrm>
            <a:off x="6022848" y="1940052"/>
            <a:ext cx="184404" cy="45719"/>
          </a:xfrm>
          <a:prstGeom prst="rect">
            <a:avLst/>
          </a:prstGeom>
          <a:solidFill>
            <a:srgbClr val="F59E0B"/>
          </a:solidFill>
          <a:ln w="12700">
            <a:solidFill>
              <a:srgbClr val="F59E0B"/>
            </a:solidFill>
            <a:prstDash val="solid"/>
          </a:ln>
        </p:spPr>
        <p:txBody>
          <a:bodyPr/>
          <a:lstStyle/>
          <a:p>
            <a:endParaRPr lang="fr-CA"/>
          </a:p>
        </p:txBody>
      </p:sp>
      <p:sp>
        <p:nvSpPr>
          <p:cNvPr id="59" name="Shape 15">
            <a:extLst>
              <a:ext uri="{FF2B5EF4-FFF2-40B4-BE49-F238E27FC236}">
                <a16:creationId xmlns:a16="http://schemas.microsoft.com/office/drawing/2014/main" id="{3EA029A6-E81C-B485-66D3-C70040BE9A8E}"/>
              </a:ext>
            </a:extLst>
          </p:cNvPr>
          <p:cNvSpPr/>
          <p:nvPr/>
        </p:nvSpPr>
        <p:spPr>
          <a:xfrm>
            <a:off x="3044952" y="3919728"/>
            <a:ext cx="109728" cy="54864"/>
          </a:xfrm>
          <a:prstGeom prst="rect">
            <a:avLst/>
          </a:prstGeom>
          <a:solidFill>
            <a:srgbClr val="F59E0B"/>
          </a:solidFill>
          <a:ln w="12700">
            <a:solidFill>
              <a:srgbClr val="F59E0B"/>
            </a:solidFill>
            <a:prstDash val="solid"/>
          </a:ln>
        </p:spPr>
        <p:txBody>
          <a:bodyPr/>
          <a:lstStyle/>
          <a:p>
            <a:endParaRPr lang="fr-CA"/>
          </a:p>
        </p:txBody>
      </p:sp>
      <p:sp>
        <p:nvSpPr>
          <p:cNvPr id="60" name="Shape 15">
            <a:extLst>
              <a:ext uri="{FF2B5EF4-FFF2-40B4-BE49-F238E27FC236}">
                <a16:creationId xmlns:a16="http://schemas.microsoft.com/office/drawing/2014/main" id="{445A87DE-61B6-1359-3CA9-14D7CD12AC3E}"/>
              </a:ext>
            </a:extLst>
          </p:cNvPr>
          <p:cNvSpPr/>
          <p:nvPr/>
        </p:nvSpPr>
        <p:spPr>
          <a:xfrm>
            <a:off x="6022848" y="3928873"/>
            <a:ext cx="170688" cy="45719"/>
          </a:xfrm>
          <a:prstGeom prst="rect">
            <a:avLst/>
          </a:prstGeom>
          <a:solidFill>
            <a:srgbClr val="F59E0B"/>
          </a:solidFill>
          <a:ln w="12700">
            <a:solidFill>
              <a:srgbClr val="F59E0B"/>
            </a:solidFill>
            <a:prstDash val="solid"/>
          </a:ln>
        </p:spPr>
        <p:txBody>
          <a:bodyPr/>
          <a:lstStyle/>
          <a:p>
            <a:endParaRPr lang="fr-CA"/>
          </a:p>
        </p:txBody>
      </p:sp>
      <p:sp>
        <p:nvSpPr>
          <p:cNvPr id="61" name="Rectangle: Folded Corner 60">
            <a:extLst>
              <a:ext uri="{FF2B5EF4-FFF2-40B4-BE49-F238E27FC236}">
                <a16:creationId xmlns:a16="http://schemas.microsoft.com/office/drawing/2014/main" id="{98F1EC95-2D89-C2CD-F71D-929D4965F4DE}"/>
              </a:ext>
            </a:extLst>
          </p:cNvPr>
          <p:cNvSpPr/>
          <p:nvPr/>
        </p:nvSpPr>
        <p:spPr>
          <a:xfrm>
            <a:off x="8833104" y="-6908"/>
            <a:ext cx="326576" cy="501446"/>
          </a:xfrm>
          <a:prstGeom prst="foldedCorner">
            <a:avLst/>
          </a:prstGeom>
          <a:solidFill>
            <a:schemeClr val="bg2">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2592681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chemeClr val="bg1"/>
          </a:solidFill>
          <a:ln/>
        </p:spPr>
        <p:txBody>
          <a:bodyPr/>
          <a:lstStyle/>
          <a:p>
            <a:endParaRPr lang="fr-CA"/>
          </a:p>
        </p:txBody>
      </p:sp>
      <p:sp>
        <p:nvSpPr>
          <p:cNvPr id="3" name="Text 1"/>
          <p:cNvSpPr/>
          <p:nvPr/>
        </p:nvSpPr>
        <p:spPr>
          <a:xfrm>
            <a:off x="457200" y="182880"/>
            <a:ext cx="8229600" cy="548640"/>
          </a:xfrm>
          <a:prstGeom prst="rect">
            <a:avLst/>
          </a:prstGeom>
          <a:noFill/>
          <a:ln/>
        </p:spPr>
        <p:txBody>
          <a:bodyPr wrap="square" rtlCol="0" anchor="ctr"/>
          <a:lstStyle/>
          <a:p>
            <a:r>
              <a:rPr lang="en-US" sz="2800" b="1" dirty="0">
                <a:solidFill>
                  <a:srgbClr val="FFFFFF"/>
                </a:solidFill>
                <a:latin typeface="Trebuchet MS" pitchFamily="34" charset="0"/>
                <a:ea typeface="Trebuchet MS" pitchFamily="34" charset="-122"/>
                <a:cs typeface="Trebuchet MS" pitchFamily="34" charset="-120"/>
              </a:rPr>
              <a:t>03  · </a:t>
            </a:r>
            <a:r>
              <a:rPr lang="en-US" sz="2800" b="1" dirty="0">
                <a:solidFill>
                  <a:srgbClr val="FFFFFF"/>
                </a:solidFill>
                <a:latin typeface="Calibri" pitchFamily="34" charset="0"/>
                <a:ea typeface="Calibri" pitchFamily="34" charset="-122"/>
                <a:cs typeface="Calibri" pitchFamily="34" charset="-120"/>
              </a:rPr>
              <a:t>Exigences Fonctionnelles</a:t>
            </a:r>
            <a:endParaRPr lang="en-US" sz="2800" dirty="0"/>
          </a:p>
        </p:txBody>
      </p:sp>
      <p:sp>
        <p:nvSpPr>
          <p:cNvPr id="4" name="Shape 2"/>
          <p:cNvSpPr/>
          <p:nvPr/>
        </p:nvSpPr>
        <p:spPr>
          <a:xfrm>
            <a:off x="3497580" y="2309106"/>
            <a:ext cx="2148840" cy="617383"/>
          </a:xfrm>
          <a:prstGeom prst="rect">
            <a:avLst/>
          </a:prstGeom>
          <a:solidFill>
            <a:srgbClr val="00B4D8">
              <a:alpha val="90000"/>
            </a:srgbClr>
          </a:solidFill>
          <a:ln/>
          <a:effectLst>
            <a:outerShdw blurRad="101600" dist="38100" dir="8100000" algn="bl" rotWithShape="0">
              <a:srgbClr val="000000">
                <a:alpha val="25000"/>
              </a:srgbClr>
            </a:outerShdw>
          </a:effectLst>
        </p:spPr>
        <p:txBody>
          <a:bodyPr/>
          <a:lstStyle/>
          <a:p>
            <a:endParaRPr lang="fr-CA"/>
          </a:p>
        </p:txBody>
      </p:sp>
      <p:sp>
        <p:nvSpPr>
          <p:cNvPr id="5" name="Text 3"/>
          <p:cNvSpPr/>
          <p:nvPr/>
        </p:nvSpPr>
        <p:spPr>
          <a:xfrm>
            <a:off x="3355848" y="2304288"/>
            <a:ext cx="228600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SYSTÈME IA</a:t>
            </a:r>
            <a:endParaRPr lang="en-US" sz="1100" dirty="0"/>
          </a:p>
        </p:txBody>
      </p:sp>
      <p:sp>
        <p:nvSpPr>
          <p:cNvPr id="6" name="Text 4"/>
          <p:cNvSpPr/>
          <p:nvPr/>
        </p:nvSpPr>
        <p:spPr>
          <a:xfrm>
            <a:off x="3442716" y="2482596"/>
            <a:ext cx="2286000" cy="320040"/>
          </a:xfrm>
          <a:prstGeom prst="rect">
            <a:avLst/>
          </a:prstGeom>
          <a:noFill/>
          <a:ln/>
        </p:spPr>
        <p:txBody>
          <a:bodyPr wrap="square" rtlCol="0" anchor="ctr"/>
          <a:lstStyle/>
          <a:p>
            <a:pPr marL="0" indent="0" algn="ctr">
              <a:buNone/>
            </a:pPr>
            <a:endParaRPr lang="en-US" sz="1000" i="1" dirty="0">
              <a:solidFill>
                <a:srgbClr val="90E0EF"/>
              </a:solidFill>
              <a:latin typeface="Calibri" pitchFamily="34" charset="0"/>
              <a:ea typeface="Calibri" pitchFamily="34" charset="-122"/>
              <a:cs typeface="Calibri" pitchFamily="34" charset="-120"/>
            </a:endParaRPr>
          </a:p>
          <a:p>
            <a:pPr marL="0" indent="0" algn="ctr">
              <a:buNone/>
            </a:pPr>
            <a:r>
              <a:rPr lang="en-US" sz="1000" b="1" i="1" dirty="0">
                <a:solidFill>
                  <a:srgbClr val="90E0EF"/>
                </a:solidFill>
                <a:latin typeface="Calibri" pitchFamily="34" charset="0"/>
                <a:ea typeface="Calibri" pitchFamily="34" charset="-122"/>
                <a:cs typeface="Calibri" pitchFamily="34" charset="-120"/>
              </a:rPr>
              <a:t>YOLOv8-seg</a:t>
            </a:r>
            <a:endParaRPr lang="en-US" sz="1000" b="1" dirty="0"/>
          </a:p>
        </p:txBody>
      </p:sp>
      <p:sp>
        <p:nvSpPr>
          <p:cNvPr id="9" name="Shape 7"/>
          <p:cNvSpPr/>
          <p:nvPr/>
        </p:nvSpPr>
        <p:spPr>
          <a:xfrm>
            <a:off x="274320" y="91440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0" name="Shape 8"/>
          <p:cNvSpPr/>
          <p:nvPr/>
        </p:nvSpPr>
        <p:spPr>
          <a:xfrm>
            <a:off x="274320" y="914400"/>
            <a:ext cx="2148840" cy="64008"/>
          </a:xfrm>
          <a:prstGeom prst="rect">
            <a:avLst/>
          </a:prstGeom>
          <a:solidFill>
            <a:srgbClr val="00B4D8"/>
          </a:solidFill>
          <a:ln/>
        </p:spPr>
        <p:txBody>
          <a:bodyPr/>
          <a:lstStyle/>
          <a:p>
            <a:endParaRPr lang="fr-CA"/>
          </a:p>
        </p:txBody>
      </p:sp>
      <p:sp>
        <p:nvSpPr>
          <p:cNvPr id="11" name="Text 9"/>
          <p:cNvSpPr/>
          <p:nvPr/>
        </p:nvSpPr>
        <p:spPr>
          <a:xfrm>
            <a:off x="384048" y="1005840"/>
            <a:ext cx="1920240" cy="274320"/>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  EF1</a:t>
            </a:r>
            <a:endParaRPr lang="en-US" sz="900" dirty="0"/>
          </a:p>
        </p:txBody>
      </p:sp>
      <p:sp>
        <p:nvSpPr>
          <p:cNvPr id="12" name="Text 10"/>
          <p:cNvSpPr/>
          <p:nvPr/>
        </p:nvSpPr>
        <p:spPr>
          <a:xfrm>
            <a:off x="384048"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Entrée image</a:t>
            </a:r>
            <a:endParaRPr lang="en-US" sz="1100" dirty="0"/>
          </a:p>
        </p:txBody>
      </p:sp>
      <p:sp>
        <p:nvSpPr>
          <p:cNvPr id="13" name="Text 11"/>
          <p:cNvSpPr/>
          <p:nvPr/>
        </p:nvSpPr>
        <p:spPr>
          <a:xfrm>
            <a:off x="384048" y="157276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Accepter une image de peau en entrée (JPG, PNG)</a:t>
            </a:r>
            <a:endParaRPr lang="en-US" sz="950" dirty="0"/>
          </a:p>
        </p:txBody>
      </p:sp>
      <p:sp>
        <p:nvSpPr>
          <p:cNvPr id="14" name="Shape 12"/>
          <p:cNvSpPr/>
          <p:nvPr/>
        </p:nvSpPr>
        <p:spPr>
          <a:xfrm>
            <a:off x="3429000" y="91440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5" name="Shape 13"/>
          <p:cNvSpPr/>
          <p:nvPr/>
        </p:nvSpPr>
        <p:spPr>
          <a:xfrm>
            <a:off x="3429000" y="914400"/>
            <a:ext cx="2148840" cy="64008"/>
          </a:xfrm>
          <a:prstGeom prst="rect">
            <a:avLst/>
          </a:prstGeom>
          <a:solidFill>
            <a:srgbClr val="06D6A0"/>
          </a:solidFill>
          <a:ln/>
        </p:spPr>
        <p:txBody>
          <a:bodyPr/>
          <a:lstStyle/>
          <a:p>
            <a:endParaRPr lang="fr-CA"/>
          </a:p>
        </p:txBody>
      </p:sp>
      <p:sp>
        <p:nvSpPr>
          <p:cNvPr id="16" name="Text 14"/>
          <p:cNvSpPr/>
          <p:nvPr/>
        </p:nvSpPr>
        <p:spPr>
          <a:xfrm>
            <a:off x="3538728" y="1005840"/>
            <a:ext cx="1920240" cy="274320"/>
          </a:xfrm>
          <a:prstGeom prst="rect">
            <a:avLst/>
          </a:prstGeom>
          <a:noFill/>
          <a:ln/>
        </p:spPr>
        <p:txBody>
          <a:bodyPr wrap="square" rtlCol="0" anchor="ctr"/>
          <a:lstStyle/>
          <a:p>
            <a:pPr marL="0" indent="0">
              <a:buNone/>
            </a:pPr>
            <a:r>
              <a:rPr lang="en-US" sz="900" b="1" dirty="0">
                <a:solidFill>
                  <a:srgbClr val="06D6A0"/>
                </a:solidFill>
                <a:latin typeface="Calibri" pitchFamily="34" charset="0"/>
                <a:ea typeface="Calibri" pitchFamily="34" charset="-122"/>
                <a:cs typeface="Calibri" pitchFamily="34" charset="-120"/>
              </a:rPr>
              <a:t>🎯  EF2</a:t>
            </a:r>
            <a:endParaRPr lang="en-US" sz="900" dirty="0"/>
          </a:p>
        </p:txBody>
      </p:sp>
      <p:sp>
        <p:nvSpPr>
          <p:cNvPr id="17" name="Text 15"/>
          <p:cNvSpPr/>
          <p:nvPr/>
        </p:nvSpPr>
        <p:spPr>
          <a:xfrm>
            <a:off x="3538728"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Détection &amp; Segmentation</a:t>
            </a:r>
            <a:endParaRPr lang="en-US" sz="1100" dirty="0"/>
          </a:p>
        </p:txBody>
      </p:sp>
      <p:sp>
        <p:nvSpPr>
          <p:cNvPr id="18" name="Text 16"/>
          <p:cNvSpPr/>
          <p:nvPr/>
        </p:nvSpPr>
        <p:spPr>
          <a:xfrm>
            <a:off x="3538728" y="157276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Détecter la lésion et générer un masque précis</a:t>
            </a:r>
            <a:endParaRPr lang="en-US" sz="950" dirty="0"/>
          </a:p>
        </p:txBody>
      </p:sp>
      <p:sp>
        <p:nvSpPr>
          <p:cNvPr id="19" name="Shape 17"/>
          <p:cNvSpPr/>
          <p:nvPr/>
        </p:nvSpPr>
        <p:spPr>
          <a:xfrm>
            <a:off x="6583680" y="91440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0" name="Shape 18"/>
          <p:cNvSpPr/>
          <p:nvPr/>
        </p:nvSpPr>
        <p:spPr>
          <a:xfrm>
            <a:off x="6583680" y="914400"/>
            <a:ext cx="2148840" cy="64008"/>
          </a:xfrm>
          <a:prstGeom prst="rect">
            <a:avLst/>
          </a:prstGeom>
          <a:solidFill>
            <a:srgbClr val="FFB703"/>
          </a:solidFill>
          <a:ln/>
        </p:spPr>
        <p:txBody>
          <a:bodyPr/>
          <a:lstStyle/>
          <a:p>
            <a:endParaRPr lang="fr-CA"/>
          </a:p>
        </p:txBody>
      </p:sp>
      <p:sp>
        <p:nvSpPr>
          <p:cNvPr id="21" name="Text 19"/>
          <p:cNvSpPr/>
          <p:nvPr/>
        </p:nvSpPr>
        <p:spPr>
          <a:xfrm>
            <a:off x="6693408" y="1005840"/>
            <a:ext cx="1920240" cy="274320"/>
          </a:xfrm>
          <a:prstGeom prst="rect">
            <a:avLst/>
          </a:prstGeom>
          <a:noFill/>
          <a:ln/>
        </p:spPr>
        <p:txBody>
          <a:bodyPr wrap="square" rtlCol="0" anchor="ctr"/>
          <a:lstStyle/>
          <a:p>
            <a:pPr marL="0" indent="0">
              <a:buNone/>
            </a:pPr>
            <a:r>
              <a:rPr lang="en-US" sz="900" b="1" dirty="0">
                <a:solidFill>
                  <a:srgbClr val="FFB703"/>
                </a:solidFill>
                <a:latin typeface="Calibri" pitchFamily="34" charset="0"/>
                <a:ea typeface="Calibri" pitchFamily="34" charset="-122"/>
                <a:cs typeface="Calibri" pitchFamily="34" charset="-120"/>
              </a:rPr>
              <a:t>🗺️  EF3</a:t>
            </a:r>
            <a:endParaRPr lang="en-US" sz="900" dirty="0"/>
          </a:p>
        </p:txBody>
      </p:sp>
      <p:sp>
        <p:nvSpPr>
          <p:cNvPr id="22" name="Text 20"/>
          <p:cNvSpPr/>
          <p:nvPr/>
        </p:nvSpPr>
        <p:spPr>
          <a:xfrm>
            <a:off x="6693408" y="128016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Masque de segmentation</a:t>
            </a:r>
            <a:endParaRPr lang="en-US" sz="1100" dirty="0"/>
          </a:p>
        </p:txBody>
      </p:sp>
      <p:sp>
        <p:nvSpPr>
          <p:cNvPr id="23" name="Text 21"/>
          <p:cNvSpPr/>
          <p:nvPr/>
        </p:nvSpPr>
        <p:spPr>
          <a:xfrm>
            <a:off x="6693408" y="157276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Produire un masque binaire isolant la lésion</a:t>
            </a:r>
            <a:endParaRPr lang="en-US" sz="950" dirty="0"/>
          </a:p>
        </p:txBody>
      </p:sp>
      <p:sp>
        <p:nvSpPr>
          <p:cNvPr id="24" name="Shape 22"/>
          <p:cNvSpPr/>
          <p:nvPr/>
        </p:nvSpPr>
        <p:spPr>
          <a:xfrm>
            <a:off x="274320" y="324612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5" name="Shape 23"/>
          <p:cNvSpPr/>
          <p:nvPr/>
        </p:nvSpPr>
        <p:spPr>
          <a:xfrm>
            <a:off x="274320" y="3246120"/>
            <a:ext cx="2148840" cy="64008"/>
          </a:xfrm>
          <a:prstGeom prst="rect">
            <a:avLst/>
          </a:prstGeom>
          <a:solidFill>
            <a:srgbClr val="00B4D8"/>
          </a:solidFill>
          <a:ln/>
        </p:spPr>
        <p:txBody>
          <a:bodyPr/>
          <a:lstStyle/>
          <a:p>
            <a:endParaRPr lang="fr-CA"/>
          </a:p>
        </p:txBody>
      </p:sp>
      <p:sp>
        <p:nvSpPr>
          <p:cNvPr id="26" name="Text 24"/>
          <p:cNvSpPr/>
          <p:nvPr/>
        </p:nvSpPr>
        <p:spPr>
          <a:xfrm>
            <a:off x="384048" y="3337560"/>
            <a:ext cx="1920240" cy="274320"/>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  EF4</a:t>
            </a:r>
            <a:endParaRPr lang="en-US" sz="900" dirty="0"/>
          </a:p>
        </p:txBody>
      </p:sp>
      <p:sp>
        <p:nvSpPr>
          <p:cNvPr id="27" name="Text 25"/>
          <p:cNvSpPr/>
          <p:nvPr/>
        </p:nvSpPr>
        <p:spPr>
          <a:xfrm>
            <a:off x="384048" y="36118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Aire &amp; Périmètre</a:t>
            </a:r>
            <a:endParaRPr lang="en-US" sz="1100" dirty="0"/>
          </a:p>
        </p:txBody>
      </p:sp>
      <p:sp>
        <p:nvSpPr>
          <p:cNvPr id="28" name="Text 26"/>
          <p:cNvSpPr/>
          <p:nvPr/>
        </p:nvSpPr>
        <p:spPr>
          <a:xfrm>
            <a:off x="384048" y="390448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Calculer surface (px) et périmètre du contour</a:t>
            </a:r>
            <a:endParaRPr lang="en-US" sz="950" dirty="0"/>
          </a:p>
        </p:txBody>
      </p:sp>
      <p:sp>
        <p:nvSpPr>
          <p:cNvPr id="29" name="Shape 27"/>
          <p:cNvSpPr/>
          <p:nvPr/>
        </p:nvSpPr>
        <p:spPr>
          <a:xfrm>
            <a:off x="3429000" y="324612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30" name="Shape 28"/>
          <p:cNvSpPr/>
          <p:nvPr/>
        </p:nvSpPr>
        <p:spPr>
          <a:xfrm>
            <a:off x="3429000" y="3246120"/>
            <a:ext cx="2148840" cy="64008"/>
          </a:xfrm>
          <a:prstGeom prst="rect">
            <a:avLst/>
          </a:prstGeom>
          <a:solidFill>
            <a:srgbClr val="FFB703"/>
          </a:solidFill>
          <a:ln/>
        </p:spPr>
        <p:txBody>
          <a:bodyPr/>
          <a:lstStyle/>
          <a:p>
            <a:endParaRPr lang="fr-CA"/>
          </a:p>
        </p:txBody>
      </p:sp>
      <p:sp>
        <p:nvSpPr>
          <p:cNvPr id="31" name="Text 29"/>
          <p:cNvSpPr/>
          <p:nvPr/>
        </p:nvSpPr>
        <p:spPr>
          <a:xfrm>
            <a:off x="3538728" y="3337560"/>
            <a:ext cx="1920240" cy="274320"/>
          </a:xfrm>
          <a:prstGeom prst="rect">
            <a:avLst/>
          </a:prstGeom>
          <a:noFill/>
          <a:ln/>
        </p:spPr>
        <p:txBody>
          <a:bodyPr wrap="square" rtlCol="0" anchor="ctr"/>
          <a:lstStyle/>
          <a:p>
            <a:pPr marL="0" indent="0">
              <a:buNone/>
            </a:pPr>
            <a:r>
              <a:rPr lang="en-US" sz="900" b="1" dirty="0">
                <a:solidFill>
                  <a:srgbClr val="FFB703"/>
                </a:solidFill>
                <a:latin typeface="Calibri" pitchFamily="34" charset="0"/>
                <a:ea typeface="Calibri" pitchFamily="34" charset="-122"/>
                <a:cs typeface="Calibri" pitchFamily="34" charset="-120"/>
              </a:rPr>
              <a:t>🔵  EF5</a:t>
            </a:r>
            <a:endParaRPr lang="en-US" sz="900" dirty="0"/>
          </a:p>
        </p:txBody>
      </p:sp>
      <p:sp>
        <p:nvSpPr>
          <p:cNvPr id="32" name="Text 30"/>
          <p:cNvSpPr/>
          <p:nvPr/>
        </p:nvSpPr>
        <p:spPr>
          <a:xfrm>
            <a:off x="3538728" y="36118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Circularité</a:t>
            </a:r>
            <a:endParaRPr lang="en-US" sz="1100" dirty="0"/>
          </a:p>
        </p:txBody>
      </p:sp>
      <p:sp>
        <p:nvSpPr>
          <p:cNvPr id="33" name="Text 31"/>
          <p:cNvSpPr/>
          <p:nvPr/>
        </p:nvSpPr>
        <p:spPr>
          <a:xfrm>
            <a:off x="3538728" y="390448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Calculer C = (4π×A) / P² pour </a:t>
            </a:r>
            <a:r>
              <a:rPr lang="en-US" sz="950" dirty="0" err="1">
                <a:solidFill>
                  <a:srgbClr val="8EAFC2"/>
                </a:solidFill>
                <a:latin typeface="Calibri" pitchFamily="34" charset="0"/>
                <a:ea typeface="Calibri" pitchFamily="34" charset="-122"/>
                <a:cs typeface="Calibri" pitchFamily="34" charset="-120"/>
              </a:rPr>
              <a:t>mesurer</a:t>
            </a:r>
            <a:r>
              <a:rPr lang="en-US" sz="950" dirty="0">
                <a:solidFill>
                  <a:srgbClr val="8EAFC2"/>
                </a:solidFill>
                <a:latin typeface="Calibri" pitchFamily="34" charset="0"/>
                <a:ea typeface="Calibri" pitchFamily="34" charset="-122"/>
                <a:cs typeface="Calibri" pitchFamily="34" charset="-120"/>
              </a:rPr>
              <a:t> </a:t>
            </a:r>
            <a:r>
              <a:rPr lang="en-US" sz="950" dirty="0" err="1">
                <a:solidFill>
                  <a:srgbClr val="8EAFC2"/>
                </a:solidFill>
                <a:latin typeface="Calibri" pitchFamily="34" charset="0"/>
                <a:ea typeface="Calibri" pitchFamily="34" charset="-122"/>
                <a:cs typeface="Calibri" pitchFamily="34" charset="-120"/>
              </a:rPr>
              <a:t>l'irrégularité</a:t>
            </a:r>
            <a:endParaRPr lang="en-US" sz="950" dirty="0"/>
          </a:p>
        </p:txBody>
      </p:sp>
      <p:sp>
        <p:nvSpPr>
          <p:cNvPr id="34" name="Shape 32"/>
          <p:cNvSpPr/>
          <p:nvPr/>
        </p:nvSpPr>
        <p:spPr>
          <a:xfrm>
            <a:off x="6583680" y="3246120"/>
            <a:ext cx="2148840" cy="123444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35" name="Shape 33"/>
          <p:cNvSpPr/>
          <p:nvPr/>
        </p:nvSpPr>
        <p:spPr>
          <a:xfrm>
            <a:off x="6583680" y="3246120"/>
            <a:ext cx="2148840" cy="64008"/>
          </a:xfrm>
          <a:prstGeom prst="rect">
            <a:avLst/>
          </a:prstGeom>
          <a:solidFill>
            <a:srgbClr val="EF476F"/>
          </a:solidFill>
          <a:ln/>
        </p:spPr>
        <p:txBody>
          <a:bodyPr/>
          <a:lstStyle/>
          <a:p>
            <a:endParaRPr lang="fr-CA"/>
          </a:p>
        </p:txBody>
      </p:sp>
      <p:sp>
        <p:nvSpPr>
          <p:cNvPr id="36" name="Text 34"/>
          <p:cNvSpPr/>
          <p:nvPr/>
        </p:nvSpPr>
        <p:spPr>
          <a:xfrm>
            <a:off x="6693408" y="3337560"/>
            <a:ext cx="1920240" cy="274320"/>
          </a:xfrm>
          <a:prstGeom prst="rect">
            <a:avLst/>
          </a:prstGeom>
          <a:noFill/>
          <a:ln/>
        </p:spPr>
        <p:txBody>
          <a:bodyPr wrap="square" rtlCol="0" anchor="ctr"/>
          <a:lstStyle/>
          <a:p>
            <a:pPr marL="0" indent="0">
              <a:buNone/>
            </a:pPr>
            <a:r>
              <a:rPr lang="en-US" sz="900" b="1" dirty="0">
                <a:solidFill>
                  <a:srgbClr val="EF476F"/>
                </a:solidFill>
                <a:latin typeface="Calibri" pitchFamily="34" charset="0"/>
                <a:ea typeface="Calibri" pitchFamily="34" charset="-122"/>
                <a:cs typeface="Calibri" pitchFamily="34" charset="-120"/>
              </a:rPr>
              <a:t>📊  EF6</a:t>
            </a:r>
            <a:endParaRPr lang="en-US" sz="900" dirty="0"/>
          </a:p>
        </p:txBody>
      </p:sp>
      <p:sp>
        <p:nvSpPr>
          <p:cNvPr id="37" name="Text 35"/>
          <p:cNvSpPr/>
          <p:nvPr/>
        </p:nvSpPr>
        <p:spPr>
          <a:xfrm>
            <a:off x="6693408" y="3611880"/>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Score &amp; Affichage</a:t>
            </a:r>
            <a:endParaRPr lang="en-US" sz="1100" dirty="0"/>
          </a:p>
        </p:txBody>
      </p:sp>
      <p:sp>
        <p:nvSpPr>
          <p:cNvPr id="38" name="Text 36"/>
          <p:cNvSpPr/>
          <p:nvPr/>
        </p:nvSpPr>
        <p:spPr>
          <a:xfrm>
            <a:off x="6693408" y="3904488"/>
            <a:ext cx="1920240" cy="502920"/>
          </a:xfrm>
          <a:prstGeom prst="rect">
            <a:avLst/>
          </a:prstGeom>
          <a:noFill/>
          <a:ln/>
        </p:spPr>
        <p:txBody>
          <a:bodyPr wrap="square" rtlCol="0" anchor="t"/>
          <a:lstStyle/>
          <a:p>
            <a:pPr marL="0" indent="0">
              <a:buNone/>
            </a:pPr>
            <a:r>
              <a:rPr lang="en-US" sz="950" dirty="0">
                <a:solidFill>
                  <a:srgbClr val="8EAFC2"/>
                </a:solidFill>
                <a:latin typeface="Calibri" pitchFamily="34" charset="0"/>
                <a:ea typeface="Calibri" pitchFamily="34" charset="-122"/>
                <a:cs typeface="Calibri" pitchFamily="34" charset="-120"/>
              </a:rPr>
              <a:t>Générer un score final et afficher image + métriques</a:t>
            </a:r>
            <a:endParaRPr lang="en-US" sz="950" dirty="0"/>
          </a:p>
        </p:txBody>
      </p:sp>
      <p:sp>
        <p:nvSpPr>
          <p:cNvPr id="39" name="Text 37"/>
          <p:cNvSpPr/>
          <p:nvPr/>
        </p:nvSpPr>
        <p:spPr>
          <a:xfrm>
            <a:off x="274320" y="4709160"/>
            <a:ext cx="8595360" cy="274320"/>
          </a:xfrm>
          <a:prstGeom prst="rect">
            <a:avLst/>
          </a:prstGeom>
          <a:noFill/>
          <a:ln/>
          <a:scene3d>
            <a:camera prst="orthographicFront"/>
            <a:lightRig rig="threePt" dir="t"/>
          </a:scene3d>
          <a:sp3d>
            <a:bevelT w="152400" h="50800" prst="softRound"/>
          </a:sp3d>
        </p:spPr>
        <p:txBody>
          <a:bodyPr wrap="square" rtlCol="0" anchor="ctr"/>
          <a:lstStyle/>
          <a:p>
            <a:pPr marL="0" indent="0" algn="ctr">
              <a:buNone/>
            </a:pPr>
            <a:r>
              <a:rPr lang="en-US" b="1" i="1" dirty="0">
                <a:solidFill>
                  <a:schemeClr val="tx2">
                    <a:lumMod val="20000"/>
                    <a:lumOff val="80000"/>
                  </a:schemeClr>
                </a:solidFill>
                <a:latin typeface="Calibri" pitchFamily="34" charset="0"/>
                <a:ea typeface="Calibri" pitchFamily="34" charset="-122"/>
                <a:cs typeface="Calibri" pitchFamily="34" charset="-120"/>
              </a:rPr>
              <a:t>Flux de traitement : EF1 → EF2 → EF3 → EF4 → EF5 → EF6</a:t>
            </a:r>
            <a:endParaRPr lang="en-US" b="1" dirty="0">
              <a:solidFill>
                <a:schemeClr val="tx2">
                  <a:lumMod val="20000"/>
                  <a:lumOff val="80000"/>
                </a:schemeClr>
              </a:solidFill>
            </a:endParaRPr>
          </a:p>
        </p:txBody>
      </p:sp>
      <p:pic>
        <p:nvPicPr>
          <p:cNvPr id="44" name="Picture 43">
            <a:extLst>
              <a:ext uri="{FF2B5EF4-FFF2-40B4-BE49-F238E27FC236}">
                <a16:creationId xmlns:a16="http://schemas.microsoft.com/office/drawing/2014/main" id="{608210FC-F63E-D4CA-5DDB-AC885E09E248}"/>
              </a:ext>
            </a:extLst>
          </p:cNvPr>
          <p:cNvPicPr>
            <a:picLocks noChangeAspect="1"/>
          </p:cNvPicPr>
          <p:nvPr/>
        </p:nvPicPr>
        <p:blipFill>
          <a:blip r:embed="rId3"/>
          <a:stretch>
            <a:fillRect/>
          </a:stretch>
        </p:blipFill>
        <p:spPr>
          <a:xfrm>
            <a:off x="1837944" y="2275141"/>
            <a:ext cx="1563624" cy="879539"/>
          </a:xfrm>
          <a:prstGeom prst="rect">
            <a:avLst/>
          </a:prstGeom>
        </p:spPr>
      </p:pic>
      <p:pic>
        <p:nvPicPr>
          <p:cNvPr id="47" name="Picture 46">
            <a:extLst>
              <a:ext uri="{FF2B5EF4-FFF2-40B4-BE49-F238E27FC236}">
                <a16:creationId xmlns:a16="http://schemas.microsoft.com/office/drawing/2014/main" id="{398914BF-FD1B-7F32-AF34-52AC7A5874D8}"/>
              </a:ext>
            </a:extLst>
          </p:cNvPr>
          <p:cNvPicPr>
            <a:picLocks noChangeAspect="1"/>
          </p:cNvPicPr>
          <p:nvPr/>
        </p:nvPicPr>
        <p:blipFill>
          <a:blip r:embed="rId4"/>
          <a:stretch>
            <a:fillRect/>
          </a:stretch>
        </p:blipFill>
        <p:spPr>
          <a:xfrm>
            <a:off x="5769864" y="2238279"/>
            <a:ext cx="1271016" cy="953262"/>
          </a:xfrm>
          <a:prstGeom prst="rect">
            <a:avLst/>
          </a:prstGeom>
        </p:spPr>
      </p:pic>
      <p:sp>
        <p:nvSpPr>
          <p:cNvPr id="51" name="Rectangle: Folded Corner 50">
            <a:extLst>
              <a:ext uri="{FF2B5EF4-FFF2-40B4-BE49-F238E27FC236}">
                <a16:creationId xmlns:a16="http://schemas.microsoft.com/office/drawing/2014/main" id="{CC4F469B-5C24-ABEB-AD7D-03D30E9F1906}"/>
              </a:ext>
            </a:extLst>
          </p:cNvPr>
          <p:cNvSpPr/>
          <p:nvPr/>
        </p:nvSpPr>
        <p:spPr>
          <a:xfrm>
            <a:off x="8817424" y="8516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 name="Shape 1">
            <a:extLst>
              <a:ext uri="{FF2B5EF4-FFF2-40B4-BE49-F238E27FC236}">
                <a16:creationId xmlns:a16="http://schemas.microsoft.com/office/drawing/2014/main" id="{B9BF008C-B9FE-1802-D4EB-5AB38033A6AE}"/>
              </a:ext>
            </a:extLst>
          </p:cNvPr>
          <p:cNvSpPr/>
          <p:nvPr/>
        </p:nvSpPr>
        <p:spPr>
          <a:xfrm>
            <a:off x="0" y="708660"/>
            <a:ext cx="9144000" cy="54864"/>
          </a:xfrm>
          <a:prstGeom prst="rect">
            <a:avLst/>
          </a:prstGeom>
          <a:solidFill>
            <a:srgbClr val="F59E0B"/>
          </a:solidFill>
          <a:ln w="12700">
            <a:solidFill>
              <a:srgbClr val="F59E0B"/>
            </a:solidFill>
            <a:prstDash val="solid"/>
          </a:ln>
        </p:spPr>
        <p:txBody>
          <a:bodyPr/>
          <a:lstStyle/>
          <a:p>
            <a:endParaRPr lang="fr-C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B2B3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76F"/>
          </a:solidFill>
          <a:ln/>
        </p:spPr>
        <p:txBody>
          <a:bodyPr/>
          <a:lstStyle/>
          <a:p>
            <a:endParaRPr lang="fr-CA"/>
          </a:p>
        </p:txBody>
      </p:sp>
      <p:sp>
        <p:nvSpPr>
          <p:cNvPr id="3" name="Text 1"/>
          <p:cNvSpPr/>
          <p:nvPr/>
        </p:nvSpPr>
        <p:spPr>
          <a:xfrm>
            <a:off x="457200" y="182880"/>
            <a:ext cx="8229600" cy="548640"/>
          </a:xfrm>
          <a:prstGeom prst="rect">
            <a:avLst/>
          </a:prstGeom>
          <a:noFill/>
          <a:ln/>
        </p:spPr>
        <p:txBody>
          <a:bodyPr wrap="square" rtlCol="0" anchor="ctr"/>
          <a:lstStyle/>
          <a:p>
            <a:r>
              <a:rPr lang="en-US" sz="2400" b="1" dirty="0">
                <a:solidFill>
                  <a:srgbClr val="FFFFFF"/>
                </a:solidFill>
                <a:latin typeface="Trebuchet MS" pitchFamily="34" charset="0"/>
                <a:ea typeface="Trebuchet MS" pitchFamily="34" charset="-122"/>
                <a:cs typeface="Trebuchet MS" pitchFamily="34" charset="-120"/>
              </a:rPr>
              <a:t>03  · </a:t>
            </a:r>
            <a:r>
              <a:rPr lang="en-US" sz="2600" b="1" dirty="0">
                <a:solidFill>
                  <a:srgbClr val="FFFFFF"/>
                </a:solidFill>
                <a:latin typeface="Calibri" pitchFamily="34" charset="0"/>
                <a:ea typeface="Calibri" pitchFamily="34" charset="-122"/>
                <a:cs typeface="Calibri" pitchFamily="34" charset="-120"/>
              </a:rPr>
              <a:t>Exigences Non Fonctionnelles</a:t>
            </a:r>
            <a:endParaRPr lang="en-US" sz="2600" dirty="0"/>
          </a:p>
        </p:txBody>
      </p:sp>
      <p:sp>
        <p:nvSpPr>
          <p:cNvPr id="4" name="Shape 2"/>
          <p:cNvSpPr/>
          <p:nvPr/>
        </p:nvSpPr>
        <p:spPr>
          <a:xfrm>
            <a:off x="320040" y="91440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5" name="Shape 3"/>
          <p:cNvSpPr/>
          <p:nvPr/>
        </p:nvSpPr>
        <p:spPr>
          <a:xfrm>
            <a:off x="320040" y="914400"/>
            <a:ext cx="2697480" cy="64008"/>
          </a:xfrm>
          <a:prstGeom prst="rect">
            <a:avLst/>
          </a:prstGeom>
          <a:solidFill>
            <a:srgbClr val="00B4D8"/>
          </a:solidFill>
          <a:ln/>
        </p:spPr>
        <p:txBody>
          <a:bodyPr/>
          <a:lstStyle/>
          <a:p>
            <a:endParaRPr lang="fr-CA"/>
          </a:p>
        </p:txBody>
      </p:sp>
      <p:sp>
        <p:nvSpPr>
          <p:cNvPr id="6" name="Text 4"/>
          <p:cNvSpPr/>
          <p:nvPr/>
        </p:nvSpPr>
        <p:spPr>
          <a:xfrm>
            <a:off x="457200" y="1024128"/>
            <a:ext cx="1188720" cy="320040"/>
          </a:xfrm>
          <a:prstGeom prst="rect">
            <a:avLst/>
          </a:prstGeom>
          <a:noFill/>
          <a:ln/>
        </p:spPr>
        <p:txBody>
          <a:bodyPr wrap="square" rtlCol="0" anchor="ctr"/>
          <a:lstStyle/>
          <a:p>
            <a:pPr marL="0" indent="0">
              <a:buNone/>
            </a:pPr>
            <a:r>
              <a:rPr lang="en-US" sz="900" b="1" kern="0" spc="50" dirty="0">
                <a:solidFill>
                  <a:srgbClr val="00B4D8"/>
                </a:solidFill>
                <a:latin typeface="Calibri" pitchFamily="34" charset="0"/>
                <a:ea typeface="Calibri" pitchFamily="34" charset="-122"/>
                <a:cs typeface="Calibri" pitchFamily="34" charset="-120"/>
              </a:rPr>
              <a:t>⚡ ENF1</a:t>
            </a:r>
            <a:endParaRPr lang="en-US" sz="900" dirty="0"/>
          </a:p>
        </p:txBody>
      </p:sp>
      <p:sp>
        <p:nvSpPr>
          <p:cNvPr id="7" name="Text 5"/>
          <p:cNvSpPr/>
          <p:nvPr/>
        </p:nvSpPr>
        <p:spPr>
          <a:xfrm>
            <a:off x="457200" y="133502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p>
        </p:txBody>
      </p:sp>
      <p:sp>
        <p:nvSpPr>
          <p:cNvPr id="8" name="Text 6"/>
          <p:cNvSpPr/>
          <p:nvPr/>
        </p:nvSpPr>
        <p:spPr>
          <a:xfrm>
            <a:off x="457200" y="171907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&lt; 2s GPU  /  &lt; 10s CPU</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 10 images/min en batch</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&lt; 6 Go VRAM</a:t>
            </a:r>
            <a:endParaRPr lang="en-US" sz="1000" dirty="0"/>
          </a:p>
        </p:txBody>
      </p:sp>
      <p:sp>
        <p:nvSpPr>
          <p:cNvPr id="9" name="Shape 7"/>
          <p:cNvSpPr/>
          <p:nvPr/>
        </p:nvSpPr>
        <p:spPr>
          <a:xfrm>
            <a:off x="3200400" y="91440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0" name="Shape 8"/>
          <p:cNvSpPr/>
          <p:nvPr/>
        </p:nvSpPr>
        <p:spPr>
          <a:xfrm>
            <a:off x="3200400" y="914400"/>
            <a:ext cx="2697480" cy="64008"/>
          </a:xfrm>
          <a:prstGeom prst="rect">
            <a:avLst/>
          </a:prstGeom>
          <a:solidFill>
            <a:srgbClr val="06D6A0"/>
          </a:solidFill>
          <a:ln/>
        </p:spPr>
        <p:txBody>
          <a:bodyPr/>
          <a:lstStyle/>
          <a:p>
            <a:endParaRPr lang="fr-CA"/>
          </a:p>
        </p:txBody>
      </p:sp>
      <p:sp>
        <p:nvSpPr>
          <p:cNvPr id="11" name="Text 9"/>
          <p:cNvSpPr/>
          <p:nvPr/>
        </p:nvSpPr>
        <p:spPr>
          <a:xfrm>
            <a:off x="3337560" y="1024128"/>
            <a:ext cx="1188720" cy="320040"/>
          </a:xfrm>
          <a:prstGeom prst="rect">
            <a:avLst/>
          </a:prstGeom>
          <a:noFill/>
          <a:ln/>
        </p:spPr>
        <p:txBody>
          <a:bodyPr wrap="square" rtlCol="0" anchor="ctr"/>
          <a:lstStyle/>
          <a:p>
            <a:pPr marL="0" indent="0">
              <a:buNone/>
            </a:pPr>
            <a:r>
              <a:rPr lang="en-US" sz="900" b="1" kern="0" spc="50" dirty="0">
                <a:solidFill>
                  <a:srgbClr val="06D6A0"/>
                </a:solidFill>
                <a:latin typeface="Calibri" pitchFamily="34" charset="0"/>
                <a:ea typeface="Calibri" pitchFamily="34" charset="-122"/>
                <a:cs typeface="Calibri" pitchFamily="34" charset="-120"/>
              </a:rPr>
              <a:t>🎯 ENF2</a:t>
            </a:r>
            <a:endParaRPr lang="en-US" sz="900" dirty="0"/>
          </a:p>
        </p:txBody>
      </p:sp>
      <p:sp>
        <p:nvSpPr>
          <p:cNvPr id="12" name="Text 10"/>
          <p:cNvSpPr/>
          <p:nvPr/>
        </p:nvSpPr>
        <p:spPr>
          <a:xfrm>
            <a:off x="3337560" y="133502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Précision</a:t>
            </a:r>
            <a:endParaRPr lang="en-US" sz="1300" dirty="0"/>
          </a:p>
        </p:txBody>
      </p:sp>
      <p:sp>
        <p:nvSpPr>
          <p:cNvPr id="13" name="Text 11"/>
          <p:cNvSpPr/>
          <p:nvPr/>
        </p:nvSpPr>
        <p:spPr>
          <a:xfrm>
            <a:off x="3337560" y="171907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mAP50-95 ≥ 0.50</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IoU ≥ 0.70  |  Dice ≥ 0.80</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Variation mesures &lt; 5%</a:t>
            </a:r>
            <a:endParaRPr lang="en-US" sz="1000" dirty="0"/>
          </a:p>
        </p:txBody>
      </p:sp>
      <p:sp>
        <p:nvSpPr>
          <p:cNvPr id="14" name="Shape 12"/>
          <p:cNvSpPr/>
          <p:nvPr/>
        </p:nvSpPr>
        <p:spPr>
          <a:xfrm>
            <a:off x="6080760" y="91440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5" name="Shape 13"/>
          <p:cNvSpPr/>
          <p:nvPr/>
        </p:nvSpPr>
        <p:spPr>
          <a:xfrm>
            <a:off x="6080760" y="914400"/>
            <a:ext cx="2697480" cy="64008"/>
          </a:xfrm>
          <a:prstGeom prst="rect">
            <a:avLst/>
          </a:prstGeom>
          <a:solidFill>
            <a:srgbClr val="FFB703"/>
          </a:solidFill>
          <a:ln/>
        </p:spPr>
        <p:txBody>
          <a:bodyPr/>
          <a:lstStyle/>
          <a:p>
            <a:endParaRPr lang="fr-CA"/>
          </a:p>
        </p:txBody>
      </p:sp>
      <p:sp>
        <p:nvSpPr>
          <p:cNvPr id="16" name="Text 14"/>
          <p:cNvSpPr/>
          <p:nvPr/>
        </p:nvSpPr>
        <p:spPr>
          <a:xfrm>
            <a:off x="6217920" y="1024128"/>
            <a:ext cx="1188720" cy="320040"/>
          </a:xfrm>
          <a:prstGeom prst="rect">
            <a:avLst/>
          </a:prstGeom>
          <a:noFill/>
          <a:ln/>
        </p:spPr>
        <p:txBody>
          <a:bodyPr wrap="square" rtlCol="0" anchor="ctr"/>
          <a:lstStyle/>
          <a:p>
            <a:pPr marL="0" indent="0">
              <a:buNone/>
            </a:pPr>
            <a:r>
              <a:rPr lang="en-US" sz="900" b="1" kern="0" spc="50" dirty="0">
                <a:solidFill>
                  <a:srgbClr val="FFB703"/>
                </a:solidFill>
                <a:latin typeface="Calibri" pitchFamily="34" charset="0"/>
                <a:ea typeface="Calibri" pitchFamily="34" charset="-122"/>
                <a:cs typeface="Calibri" pitchFamily="34" charset="-120"/>
              </a:rPr>
              <a:t>🔐 ENF3</a:t>
            </a:r>
            <a:endParaRPr lang="en-US" sz="900" dirty="0"/>
          </a:p>
        </p:txBody>
      </p:sp>
      <p:sp>
        <p:nvSpPr>
          <p:cNvPr id="17" name="Text 15"/>
          <p:cNvSpPr/>
          <p:nvPr/>
        </p:nvSpPr>
        <p:spPr>
          <a:xfrm>
            <a:off x="6217920" y="133502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Sécurité</a:t>
            </a:r>
            <a:endParaRPr lang="en-US" sz="1300" dirty="0"/>
          </a:p>
        </p:txBody>
      </p:sp>
      <p:sp>
        <p:nvSpPr>
          <p:cNvPr id="18" name="Text 16"/>
          <p:cNvSpPr/>
          <p:nvPr/>
        </p:nvSpPr>
        <p:spPr>
          <a:xfrm>
            <a:off x="6217920" y="171907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Aucune donnée personnelle</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Images anonymisées</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Fichiers temp. supprimés</a:t>
            </a:r>
            <a:endParaRPr lang="en-US" sz="1000" dirty="0"/>
          </a:p>
        </p:txBody>
      </p:sp>
      <p:sp>
        <p:nvSpPr>
          <p:cNvPr id="19" name="Shape 17"/>
          <p:cNvSpPr/>
          <p:nvPr/>
        </p:nvSpPr>
        <p:spPr>
          <a:xfrm>
            <a:off x="320040" y="292608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0" name="Shape 18"/>
          <p:cNvSpPr/>
          <p:nvPr/>
        </p:nvSpPr>
        <p:spPr>
          <a:xfrm>
            <a:off x="320040" y="2926080"/>
            <a:ext cx="2697480" cy="64008"/>
          </a:xfrm>
          <a:prstGeom prst="rect">
            <a:avLst/>
          </a:prstGeom>
          <a:solidFill>
            <a:srgbClr val="EF476F"/>
          </a:solidFill>
          <a:ln/>
        </p:spPr>
        <p:txBody>
          <a:bodyPr/>
          <a:lstStyle/>
          <a:p>
            <a:endParaRPr lang="fr-CA"/>
          </a:p>
        </p:txBody>
      </p:sp>
      <p:sp>
        <p:nvSpPr>
          <p:cNvPr id="21" name="Text 19"/>
          <p:cNvSpPr/>
          <p:nvPr/>
        </p:nvSpPr>
        <p:spPr>
          <a:xfrm>
            <a:off x="457200" y="3035808"/>
            <a:ext cx="1188720" cy="320040"/>
          </a:xfrm>
          <a:prstGeom prst="rect">
            <a:avLst/>
          </a:prstGeom>
          <a:noFill/>
          <a:ln/>
        </p:spPr>
        <p:txBody>
          <a:bodyPr wrap="square" rtlCol="0" anchor="ctr"/>
          <a:lstStyle/>
          <a:p>
            <a:pPr marL="0" indent="0">
              <a:buNone/>
            </a:pPr>
            <a:r>
              <a:rPr lang="en-US" sz="900" b="1" kern="0" spc="50" dirty="0">
                <a:solidFill>
                  <a:srgbClr val="EF476F"/>
                </a:solidFill>
                <a:latin typeface="Calibri" pitchFamily="34" charset="0"/>
                <a:ea typeface="Calibri" pitchFamily="34" charset="-122"/>
                <a:cs typeface="Calibri" pitchFamily="34" charset="-120"/>
              </a:rPr>
              <a:t>🛠️ ENF4</a:t>
            </a:r>
            <a:endParaRPr lang="en-US" sz="900" dirty="0"/>
          </a:p>
        </p:txBody>
      </p:sp>
      <p:sp>
        <p:nvSpPr>
          <p:cNvPr id="22" name="Text 20"/>
          <p:cNvSpPr/>
          <p:nvPr/>
        </p:nvSpPr>
        <p:spPr>
          <a:xfrm>
            <a:off x="457200" y="334670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Maintenabilité</a:t>
            </a:r>
            <a:endParaRPr lang="en-US" sz="1300" dirty="0"/>
          </a:p>
        </p:txBody>
      </p:sp>
      <p:sp>
        <p:nvSpPr>
          <p:cNvPr id="23" name="Text 21"/>
          <p:cNvSpPr/>
          <p:nvPr/>
        </p:nvSpPr>
        <p:spPr>
          <a:xfrm>
            <a:off x="457200" y="373075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Code modulaire &amp; PEP8</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Remplacement modèle facile</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Tests ≥ 60% couverture</a:t>
            </a:r>
            <a:endParaRPr lang="en-US" sz="1000" dirty="0"/>
          </a:p>
        </p:txBody>
      </p:sp>
      <p:sp>
        <p:nvSpPr>
          <p:cNvPr id="24" name="Shape 22"/>
          <p:cNvSpPr/>
          <p:nvPr/>
        </p:nvSpPr>
        <p:spPr>
          <a:xfrm>
            <a:off x="3200400" y="292608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25" name="Shape 23"/>
          <p:cNvSpPr/>
          <p:nvPr/>
        </p:nvSpPr>
        <p:spPr>
          <a:xfrm>
            <a:off x="3200400" y="2926080"/>
            <a:ext cx="2697480" cy="64008"/>
          </a:xfrm>
          <a:prstGeom prst="rect">
            <a:avLst/>
          </a:prstGeom>
          <a:solidFill>
            <a:srgbClr val="00B4D8"/>
          </a:solidFill>
          <a:ln/>
        </p:spPr>
        <p:txBody>
          <a:bodyPr/>
          <a:lstStyle/>
          <a:p>
            <a:endParaRPr lang="fr-CA"/>
          </a:p>
        </p:txBody>
      </p:sp>
      <p:sp>
        <p:nvSpPr>
          <p:cNvPr id="26" name="Text 24"/>
          <p:cNvSpPr/>
          <p:nvPr/>
        </p:nvSpPr>
        <p:spPr>
          <a:xfrm>
            <a:off x="3337560" y="3035808"/>
            <a:ext cx="1188720" cy="320040"/>
          </a:xfrm>
          <a:prstGeom prst="rect">
            <a:avLst/>
          </a:prstGeom>
          <a:noFill/>
          <a:ln/>
        </p:spPr>
        <p:txBody>
          <a:bodyPr wrap="square" rtlCol="0" anchor="ctr"/>
          <a:lstStyle/>
          <a:p>
            <a:pPr marL="0" indent="0">
              <a:buNone/>
            </a:pPr>
            <a:r>
              <a:rPr lang="en-US" sz="900" b="1" kern="0" spc="50" dirty="0">
                <a:solidFill>
                  <a:srgbClr val="00B4D8"/>
                </a:solidFill>
                <a:latin typeface="Calibri" pitchFamily="34" charset="0"/>
                <a:ea typeface="Calibri" pitchFamily="34" charset="-122"/>
                <a:cs typeface="Calibri" pitchFamily="34" charset="-120"/>
              </a:rPr>
              <a:t>🖥️ ENF5–7</a:t>
            </a:r>
            <a:endParaRPr lang="en-US" sz="900" dirty="0"/>
          </a:p>
        </p:txBody>
      </p:sp>
      <p:sp>
        <p:nvSpPr>
          <p:cNvPr id="27" name="Text 25"/>
          <p:cNvSpPr/>
          <p:nvPr/>
        </p:nvSpPr>
        <p:spPr>
          <a:xfrm>
            <a:off x="3337560" y="3346704"/>
            <a:ext cx="2423160"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Qualité</a:t>
            </a:r>
            <a:endParaRPr lang="en-US" sz="1300" dirty="0"/>
          </a:p>
        </p:txBody>
      </p:sp>
      <p:sp>
        <p:nvSpPr>
          <p:cNvPr id="28" name="Text 26"/>
          <p:cNvSpPr/>
          <p:nvPr/>
        </p:nvSpPr>
        <p:spPr>
          <a:xfrm>
            <a:off x="3337560" y="373075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Seed fixe → reproductibilité</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Interface intuitive (Streamlit)</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Multi-OS compatible</a:t>
            </a:r>
            <a:endParaRPr lang="en-US" sz="1000" dirty="0"/>
          </a:p>
        </p:txBody>
      </p:sp>
      <p:sp>
        <p:nvSpPr>
          <p:cNvPr id="29" name="Shape 27"/>
          <p:cNvSpPr/>
          <p:nvPr/>
        </p:nvSpPr>
        <p:spPr>
          <a:xfrm>
            <a:off x="6080760" y="2926080"/>
            <a:ext cx="2697480" cy="182880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30" name="Shape 28"/>
          <p:cNvSpPr/>
          <p:nvPr/>
        </p:nvSpPr>
        <p:spPr>
          <a:xfrm>
            <a:off x="6080760" y="2926080"/>
            <a:ext cx="2697480" cy="64008"/>
          </a:xfrm>
          <a:prstGeom prst="rect">
            <a:avLst/>
          </a:prstGeom>
          <a:solidFill>
            <a:srgbClr val="06D6A0"/>
          </a:solidFill>
          <a:ln/>
        </p:spPr>
        <p:txBody>
          <a:bodyPr/>
          <a:lstStyle/>
          <a:p>
            <a:endParaRPr lang="fr-CA"/>
          </a:p>
        </p:txBody>
      </p:sp>
      <p:sp>
        <p:nvSpPr>
          <p:cNvPr id="31" name="Text 29"/>
          <p:cNvSpPr/>
          <p:nvPr/>
        </p:nvSpPr>
        <p:spPr>
          <a:xfrm>
            <a:off x="6217920" y="3035808"/>
            <a:ext cx="1188720" cy="320040"/>
          </a:xfrm>
          <a:prstGeom prst="rect">
            <a:avLst/>
          </a:prstGeom>
          <a:noFill/>
          <a:ln/>
        </p:spPr>
        <p:txBody>
          <a:bodyPr wrap="square" rtlCol="0" anchor="ctr"/>
          <a:lstStyle/>
          <a:p>
            <a:pPr marL="0" indent="0">
              <a:buNone/>
            </a:pPr>
            <a:r>
              <a:rPr lang="en-US" sz="900" b="1" kern="0" spc="50" dirty="0">
                <a:solidFill>
                  <a:srgbClr val="06D6A0"/>
                </a:solidFill>
                <a:latin typeface="Calibri" pitchFamily="34" charset="0"/>
                <a:ea typeface="Calibri" pitchFamily="34" charset="-122"/>
                <a:cs typeface="Calibri" pitchFamily="34" charset="-120"/>
              </a:rPr>
              <a:t>📦 ENF8–9</a:t>
            </a:r>
            <a:endParaRPr lang="en-US" sz="900" dirty="0"/>
          </a:p>
        </p:txBody>
      </p:sp>
      <p:sp>
        <p:nvSpPr>
          <p:cNvPr id="32" name="Text 30"/>
          <p:cNvSpPr/>
          <p:nvPr/>
        </p:nvSpPr>
        <p:spPr>
          <a:xfrm>
            <a:off x="6217920" y="3346704"/>
            <a:ext cx="2423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Scalabilité</a:t>
            </a:r>
            <a:endParaRPr lang="en-US" sz="1300" dirty="0"/>
          </a:p>
        </p:txBody>
      </p:sp>
      <p:sp>
        <p:nvSpPr>
          <p:cNvPr id="33" name="Text 31"/>
          <p:cNvSpPr/>
          <p:nvPr/>
        </p:nvSpPr>
        <p:spPr>
          <a:xfrm>
            <a:off x="6217920" y="3730752"/>
            <a:ext cx="2423160" cy="914400"/>
          </a:xfrm>
          <a:prstGeom prst="rect">
            <a:avLst/>
          </a:prstGeom>
          <a:noFill/>
          <a:ln/>
        </p:spPr>
        <p:txBody>
          <a:bodyPr wrap="square" rtlCol="0" anchor="t"/>
          <a:lstStyle/>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Batch sans dégradation</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Intégration YOLOv8l/v9</a:t>
            </a:r>
            <a:endParaRPr lang="en-US" sz="1000" dirty="0"/>
          </a:p>
          <a:p>
            <a:pPr marL="0" indent="0">
              <a:spcAft>
                <a:spcPts val="400"/>
              </a:spcAft>
              <a:buNone/>
            </a:pPr>
            <a:r>
              <a:rPr lang="en-US" sz="1000" dirty="0">
                <a:solidFill>
                  <a:srgbClr val="8EAFC2"/>
                </a:solidFill>
                <a:latin typeface="Calibri" pitchFamily="34" charset="0"/>
                <a:ea typeface="Calibri" pitchFamily="34" charset="-122"/>
                <a:cs typeface="Calibri" pitchFamily="34" charset="-120"/>
              </a:rPr>
              <a:t>▸  Logs + historique complet</a:t>
            </a:r>
            <a:endParaRPr lang="en-US" sz="1000" dirty="0"/>
          </a:p>
        </p:txBody>
      </p:sp>
      <p:sp>
        <p:nvSpPr>
          <p:cNvPr id="35" name="Rectangle: Folded Corner 34">
            <a:extLst>
              <a:ext uri="{FF2B5EF4-FFF2-40B4-BE49-F238E27FC236}">
                <a16:creationId xmlns:a16="http://schemas.microsoft.com/office/drawing/2014/main" id="{86869276-FC2E-9CF9-C471-8C0EB5133105}"/>
              </a:ext>
            </a:extLst>
          </p:cNvPr>
          <p:cNvSpPr/>
          <p:nvPr/>
        </p:nvSpPr>
        <p:spPr>
          <a:xfrm>
            <a:off x="8817424" y="8516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32B540-64E4-6D67-63BE-3B41A8BD7CEA}"/>
              </a:ext>
            </a:extLst>
          </p:cNvPr>
          <p:cNvSpPr/>
          <p:nvPr/>
        </p:nvSpPr>
        <p:spPr>
          <a:xfrm>
            <a:off x="0" y="0"/>
            <a:ext cx="9144000" cy="914400"/>
          </a:xfrm>
          <a:prstGeom prst="rect">
            <a:avLst/>
          </a:prstGeom>
          <a:solidFill>
            <a:srgbClr val="0D9488"/>
          </a:solidFill>
          <a:ln w="12700">
            <a:solidFill>
              <a:srgbClr val="0D9488"/>
            </a:solidFill>
            <a:prstDash val="solid"/>
          </a:ln>
        </p:spPr>
        <p:txBody>
          <a:bodyPr/>
          <a:lstStyle/>
          <a:p>
            <a:endParaRPr lang="fr-CA" dirty="0"/>
          </a:p>
        </p:txBody>
      </p:sp>
      <p:sp>
        <p:nvSpPr>
          <p:cNvPr id="3" name="Text 2">
            <a:extLst>
              <a:ext uri="{FF2B5EF4-FFF2-40B4-BE49-F238E27FC236}">
                <a16:creationId xmlns:a16="http://schemas.microsoft.com/office/drawing/2014/main" id="{4C6C6EB1-D0A7-4D27-EB9F-0C0A9AC25E3C}"/>
              </a:ext>
            </a:extLst>
          </p:cNvPr>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04  ·  Conception de la Solution IA</a:t>
            </a:r>
            <a:endParaRPr lang="en-US" sz="2600" dirty="0"/>
          </a:p>
        </p:txBody>
      </p:sp>
      <p:sp>
        <p:nvSpPr>
          <p:cNvPr id="4" name="Shape 3">
            <a:extLst>
              <a:ext uri="{FF2B5EF4-FFF2-40B4-BE49-F238E27FC236}">
                <a16:creationId xmlns:a16="http://schemas.microsoft.com/office/drawing/2014/main" id="{772B1D66-A176-1E32-55D8-2901986F97C2}"/>
              </a:ext>
            </a:extLst>
          </p:cNvPr>
          <p:cNvSpPr/>
          <p:nvPr/>
        </p:nvSpPr>
        <p:spPr>
          <a:xfrm>
            <a:off x="228600" y="1188720"/>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5" name="Shape 4">
            <a:extLst>
              <a:ext uri="{FF2B5EF4-FFF2-40B4-BE49-F238E27FC236}">
                <a16:creationId xmlns:a16="http://schemas.microsoft.com/office/drawing/2014/main" id="{EF22EEF6-4565-48C6-5462-1D2DA960957F}"/>
              </a:ext>
            </a:extLst>
          </p:cNvPr>
          <p:cNvSpPr/>
          <p:nvPr/>
        </p:nvSpPr>
        <p:spPr>
          <a:xfrm>
            <a:off x="228600" y="1188720"/>
            <a:ext cx="1298448" cy="384048"/>
          </a:xfrm>
          <a:prstGeom prst="rect">
            <a:avLst/>
          </a:prstGeom>
          <a:solidFill>
            <a:srgbClr val="1A2B5E"/>
          </a:solidFill>
          <a:ln w="12700">
            <a:solidFill>
              <a:srgbClr val="1A2B5E"/>
            </a:solidFill>
            <a:prstDash val="solid"/>
          </a:ln>
        </p:spPr>
        <p:txBody>
          <a:bodyPr/>
          <a:lstStyle/>
          <a:p>
            <a:pPr algn="ctr"/>
            <a:r>
              <a:rPr lang="en-US" b="1" dirty="0">
                <a:solidFill>
                  <a:srgbClr val="FFFFFF"/>
                </a:solidFill>
              </a:rPr>
              <a:t>01</a:t>
            </a:r>
            <a:endParaRPr lang="en-US" dirty="0"/>
          </a:p>
          <a:p>
            <a:endParaRPr lang="fr-CA" dirty="0"/>
          </a:p>
        </p:txBody>
      </p:sp>
      <p:sp>
        <p:nvSpPr>
          <p:cNvPr id="6" name="Shape 9">
            <a:extLst>
              <a:ext uri="{FF2B5EF4-FFF2-40B4-BE49-F238E27FC236}">
                <a16:creationId xmlns:a16="http://schemas.microsoft.com/office/drawing/2014/main" id="{52A0E08F-E31B-D0F7-FBC5-11152A23FA18}"/>
              </a:ext>
            </a:extLst>
          </p:cNvPr>
          <p:cNvSpPr/>
          <p:nvPr/>
        </p:nvSpPr>
        <p:spPr>
          <a:xfrm>
            <a:off x="1691640" y="1188720"/>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7" name="Shape 15">
            <a:extLst>
              <a:ext uri="{FF2B5EF4-FFF2-40B4-BE49-F238E27FC236}">
                <a16:creationId xmlns:a16="http://schemas.microsoft.com/office/drawing/2014/main" id="{C50DD75E-DAD9-6A82-D60E-03873674B119}"/>
              </a:ext>
            </a:extLst>
          </p:cNvPr>
          <p:cNvSpPr/>
          <p:nvPr/>
        </p:nvSpPr>
        <p:spPr>
          <a:xfrm>
            <a:off x="3154680" y="1188720"/>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8" name="Shape 21">
            <a:extLst>
              <a:ext uri="{FF2B5EF4-FFF2-40B4-BE49-F238E27FC236}">
                <a16:creationId xmlns:a16="http://schemas.microsoft.com/office/drawing/2014/main" id="{8A97653C-F65C-8949-C06F-D073E965B8D3}"/>
              </a:ext>
            </a:extLst>
          </p:cNvPr>
          <p:cNvSpPr/>
          <p:nvPr/>
        </p:nvSpPr>
        <p:spPr>
          <a:xfrm>
            <a:off x="4617720" y="1188720"/>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9" name="Shape 27">
            <a:extLst>
              <a:ext uri="{FF2B5EF4-FFF2-40B4-BE49-F238E27FC236}">
                <a16:creationId xmlns:a16="http://schemas.microsoft.com/office/drawing/2014/main" id="{30E954A2-CCF6-C521-448D-A09EFE4C29EA}"/>
              </a:ext>
            </a:extLst>
          </p:cNvPr>
          <p:cNvSpPr/>
          <p:nvPr/>
        </p:nvSpPr>
        <p:spPr>
          <a:xfrm>
            <a:off x="6080760" y="1188720"/>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10" name="Shape 33">
            <a:extLst>
              <a:ext uri="{FF2B5EF4-FFF2-40B4-BE49-F238E27FC236}">
                <a16:creationId xmlns:a16="http://schemas.microsoft.com/office/drawing/2014/main" id="{7C0FD8EF-8B38-612D-305A-D0E8649182F1}"/>
              </a:ext>
            </a:extLst>
          </p:cNvPr>
          <p:cNvSpPr/>
          <p:nvPr/>
        </p:nvSpPr>
        <p:spPr>
          <a:xfrm>
            <a:off x="7543800" y="1188720"/>
            <a:ext cx="1298448"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a:p>
        </p:txBody>
      </p:sp>
      <p:sp>
        <p:nvSpPr>
          <p:cNvPr id="11" name="Shape 10">
            <a:extLst>
              <a:ext uri="{FF2B5EF4-FFF2-40B4-BE49-F238E27FC236}">
                <a16:creationId xmlns:a16="http://schemas.microsoft.com/office/drawing/2014/main" id="{3EDF608F-8E3B-0BCB-BDEF-AC216D8D1DE4}"/>
              </a:ext>
            </a:extLst>
          </p:cNvPr>
          <p:cNvSpPr/>
          <p:nvPr/>
        </p:nvSpPr>
        <p:spPr>
          <a:xfrm>
            <a:off x="1691640" y="1188720"/>
            <a:ext cx="1298448" cy="384048"/>
          </a:xfrm>
          <a:prstGeom prst="rect">
            <a:avLst/>
          </a:prstGeom>
          <a:solidFill>
            <a:srgbClr val="0D9488"/>
          </a:solidFill>
          <a:ln w="12700">
            <a:solidFill>
              <a:srgbClr val="0D9488"/>
            </a:solidFill>
            <a:prstDash val="solid"/>
          </a:ln>
        </p:spPr>
        <p:txBody>
          <a:bodyPr/>
          <a:lstStyle/>
          <a:p>
            <a:pPr algn="ctr"/>
            <a:r>
              <a:rPr lang="en-US" b="1">
                <a:solidFill>
                  <a:srgbClr val="FFFFFF"/>
                </a:solidFill>
              </a:rPr>
              <a:t>02</a:t>
            </a:r>
            <a:endParaRPr lang="en-US" dirty="0"/>
          </a:p>
        </p:txBody>
      </p:sp>
      <p:sp>
        <p:nvSpPr>
          <p:cNvPr id="12" name="Shape 16">
            <a:extLst>
              <a:ext uri="{FF2B5EF4-FFF2-40B4-BE49-F238E27FC236}">
                <a16:creationId xmlns:a16="http://schemas.microsoft.com/office/drawing/2014/main" id="{C36C4D86-82FD-49B7-DE15-35C6C291D7E4}"/>
              </a:ext>
            </a:extLst>
          </p:cNvPr>
          <p:cNvSpPr/>
          <p:nvPr/>
        </p:nvSpPr>
        <p:spPr>
          <a:xfrm>
            <a:off x="3154680" y="1188720"/>
            <a:ext cx="1298448" cy="384048"/>
          </a:xfrm>
          <a:prstGeom prst="rect">
            <a:avLst/>
          </a:prstGeom>
          <a:solidFill>
            <a:srgbClr val="1A2B5E"/>
          </a:solidFill>
          <a:ln w="12700">
            <a:solidFill>
              <a:srgbClr val="1A2B5E"/>
            </a:solidFill>
            <a:prstDash val="solid"/>
          </a:ln>
        </p:spPr>
        <p:txBody>
          <a:bodyPr/>
          <a:lstStyle/>
          <a:p>
            <a:pPr algn="ctr"/>
            <a:r>
              <a:rPr lang="en-US" b="1">
                <a:solidFill>
                  <a:srgbClr val="FFFFFF"/>
                </a:solidFill>
              </a:rPr>
              <a:t>03</a:t>
            </a:r>
            <a:endParaRPr lang="en-US" dirty="0"/>
          </a:p>
        </p:txBody>
      </p:sp>
      <p:sp>
        <p:nvSpPr>
          <p:cNvPr id="13" name="Shape 22">
            <a:extLst>
              <a:ext uri="{FF2B5EF4-FFF2-40B4-BE49-F238E27FC236}">
                <a16:creationId xmlns:a16="http://schemas.microsoft.com/office/drawing/2014/main" id="{66A63507-1A21-1208-4145-4EE4C955DDD5}"/>
              </a:ext>
            </a:extLst>
          </p:cNvPr>
          <p:cNvSpPr/>
          <p:nvPr/>
        </p:nvSpPr>
        <p:spPr>
          <a:xfrm>
            <a:off x="4617720" y="1188720"/>
            <a:ext cx="1298448" cy="384048"/>
          </a:xfrm>
          <a:prstGeom prst="rect">
            <a:avLst/>
          </a:prstGeom>
          <a:solidFill>
            <a:srgbClr val="0D9488"/>
          </a:solidFill>
          <a:ln w="12700">
            <a:solidFill>
              <a:srgbClr val="0D9488"/>
            </a:solidFill>
            <a:prstDash val="solid"/>
          </a:ln>
        </p:spPr>
        <p:txBody>
          <a:bodyPr/>
          <a:lstStyle/>
          <a:p>
            <a:pPr algn="ctr"/>
            <a:r>
              <a:rPr lang="en-US" b="1">
                <a:solidFill>
                  <a:srgbClr val="FFFFFF"/>
                </a:solidFill>
              </a:rPr>
              <a:t>04</a:t>
            </a:r>
            <a:endParaRPr lang="en-US" dirty="0"/>
          </a:p>
        </p:txBody>
      </p:sp>
      <p:sp>
        <p:nvSpPr>
          <p:cNvPr id="14" name="Shape 28">
            <a:extLst>
              <a:ext uri="{FF2B5EF4-FFF2-40B4-BE49-F238E27FC236}">
                <a16:creationId xmlns:a16="http://schemas.microsoft.com/office/drawing/2014/main" id="{4D77F618-067F-EF8C-2036-F33156E38851}"/>
              </a:ext>
            </a:extLst>
          </p:cNvPr>
          <p:cNvSpPr/>
          <p:nvPr/>
        </p:nvSpPr>
        <p:spPr>
          <a:xfrm>
            <a:off x="6080760" y="1188720"/>
            <a:ext cx="1298448" cy="384048"/>
          </a:xfrm>
          <a:prstGeom prst="rect">
            <a:avLst/>
          </a:prstGeom>
          <a:solidFill>
            <a:srgbClr val="1A2B5E"/>
          </a:solidFill>
          <a:ln w="12700">
            <a:solidFill>
              <a:srgbClr val="1A2B5E"/>
            </a:solidFill>
            <a:prstDash val="solid"/>
          </a:ln>
        </p:spPr>
        <p:txBody>
          <a:bodyPr/>
          <a:lstStyle/>
          <a:p>
            <a:pPr algn="ctr"/>
            <a:r>
              <a:rPr lang="en-US" b="1">
                <a:solidFill>
                  <a:srgbClr val="FFFFFF"/>
                </a:solidFill>
              </a:rPr>
              <a:t>05</a:t>
            </a:r>
            <a:endParaRPr lang="en-US" dirty="0"/>
          </a:p>
        </p:txBody>
      </p:sp>
      <p:sp>
        <p:nvSpPr>
          <p:cNvPr id="15" name="Shape 34">
            <a:extLst>
              <a:ext uri="{FF2B5EF4-FFF2-40B4-BE49-F238E27FC236}">
                <a16:creationId xmlns:a16="http://schemas.microsoft.com/office/drawing/2014/main" id="{659107F1-D7F9-00F0-1622-88E2CF9E08F3}"/>
              </a:ext>
            </a:extLst>
          </p:cNvPr>
          <p:cNvSpPr/>
          <p:nvPr/>
        </p:nvSpPr>
        <p:spPr>
          <a:xfrm>
            <a:off x="7543800" y="1188720"/>
            <a:ext cx="1298448" cy="384048"/>
          </a:xfrm>
          <a:prstGeom prst="rect">
            <a:avLst/>
          </a:prstGeom>
          <a:solidFill>
            <a:srgbClr val="0D9488"/>
          </a:solidFill>
          <a:ln w="12700">
            <a:solidFill>
              <a:srgbClr val="0D9488"/>
            </a:solidFill>
            <a:prstDash val="solid"/>
          </a:ln>
        </p:spPr>
        <p:txBody>
          <a:bodyPr/>
          <a:lstStyle/>
          <a:p>
            <a:pPr algn="ctr"/>
            <a:r>
              <a:rPr lang="en-US" b="1">
                <a:solidFill>
                  <a:srgbClr val="FFFFFF"/>
                </a:solidFill>
              </a:rPr>
              <a:t>06</a:t>
            </a:r>
            <a:endParaRPr lang="en-US" dirty="0"/>
          </a:p>
        </p:txBody>
      </p:sp>
      <p:sp>
        <p:nvSpPr>
          <p:cNvPr id="16" name="Text 6">
            <a:extLst>
              <a:ext uri="{FF2B5EF4-FFF2-40B4-BE49-F238E27FC236}">
                <a16:creationId xmlns:a16="http://schemas.microsoft.com/office/drawing/2014/main" id="{C4A42310-9FA4-665B-97E2-668BADEEE44B}"/>
              </a:ext>
            </a:extLst>
          </p:cNvPr>
          <p:cNvSpPr/>
          <p:nvPr/>
        </p:nvSpPr>
        <p:spPr>
          <a:xfrm>
            <a:off x="274320" y="1627632"/>
            <a:ext cx="1207008" cy="347472"/>
          </a:xfrm>
          <a:prstGeom prst="rect">
            <a:avLst/>
          </a:prstGeom>
          <a:noFill/>
          <a:ln/>
        </p:spPr>
        <p:txBody>
          <a:bodyPr wrap="square" rtlCol="0" anchor="ctr"/>
          <a:lstStyle/>
          <a:p>
            <a:pPr marL="0" indent="0" algn="ctr">
              <a:buNone/>
            </a:pPr>
            <a:r>
              <a:rPr lang="en-US" sz="1200" b="1" dirty="0">
                <a:solidFill>
                  <a:srgbClr val="0F172A"/>
                </a:solidFill>
              </a:rPr>
              <a:t>Acquisition</a:t>
            </a:r>
            <a:endParaRPr lang="en-US" sz="1200" dirty="0"/>
          </a:p>
        </p:txBody>
      </p:sp>
      <p:sp>
        <p:nvSpPr>
          <p:cNvPr id="17" name="Text 12">
            <a:extLst>
              <a:ext uri="{FF2B5EF4-FFF2-40B4-BE49-F238E27FC236}">
                <a16:creationId xmlns:a16="http://schemas.microsoft.com/office/drawing/2014/main" id="{9805945E-BC7A-C04A-15F4-0D3BCDC55BC4}"/>
              </a:ext>
            </a:extLst>
          </p:cNvPr>
          <p:cNvSpPr/>
          <p:nvPr/>
        </p:nvSpPr>
        <p:spPr>
          <a:xfrm>
            <a:off x="1737360" y="1627632"/>
            <a:ext cx="1207008" cy="347472"/>
          </a:xfrm>
          <a:prstGeom prst="rect">
            <a:avLst/>
          </a:prstGeom>
          <a:noFill/>
          <a:ln/>
        </p:spPr>
        <p:txBody>
          <a:bodyPr wrap="square" rtlCol="0" anchor="ctr"/>
          <a:lstStyle/>
          <a:p>
            <a:pPr marL="0" indent="0" algn="ctr">
              <a:buNone/>
            </a:pPr>
            <a:r>
              <a:rPr lang="en-US" sz="1200" b="1" dirty="0">
                <a:solidFill>
                  <a:srgbClr val="0F172A"/>
                </a:solidFill>
              </a:rPr>
              <a:t>Prétraitement</a:t>
            </a:r>
            <a:endParaRPr lang="en-US" sz="1200" dirty="0"/>
          </a:p>
        </p:txBody>
      </p:sp>
      <p:sp>
        <p:nvSpPr>
          <p:cNvPr id="18" name="Text 18">
            <a:extLst>
              <a:ext uri="{FF2B5EF4-FFF2-40B4-BE49-F238E27FC236}">
                <a16:creationId xmlns:a16="http://schemas.microsoft.com/office/drawing/2014/main" id="{254F8EC5-A214-0096-268D-A36BB7849C6C}"/>
              </a:ext>
            </a:extLst>
          </p:cNvPr>
          <p:cNvSpPr/>
          <p:nvPr/>
        </p:nvSpPr>
        <p:spPr>
          <a:xfrm>
            <a:off x="3200400" y="1627632"/>
            <a:ext cx="1207008" cy="347472"/>
          </a:xfrm>
          <a:prstGeom prst="rect">
            <a:avLst/>
          </a:prstGeom>
          <a:noFill/>
          <a:ln/>
        </p:spPr>
        <p:txBody>
          <a:bodyPr wrap="square" rtlCol="0" anchor="ctr"/>
          <a:lstStyle/>
          <a:p>
            <a:pPr marL="0" indent="0" algn="ctr">
              <a:buNone/>
            </a:pPr>
            <a:r>
              <a:rPr lang="en-US" sz="1200" b="1" dirty="0">
                <a:solidFill>
                  <a:srgbClr val="0F172A"/>
                </a:solidFill>
              </a:rPr>
              <a:t>YOLOv8-seg</a:t>
            </a:r>
            <a:endParaRPr lang="en-US" sz="1200" dirty="0"/>
          </a:p>
        </p:txBody>
      </p:sp>
      <p:sp>
        <p:nvSpPr>
          <p:cNvPr id="19" name="Text 24">
            <a:extLst>
              <a:ext uri="{FF2B5EF4-FFF2-40B4-BE49-F238E27FC236}">
                <a16:creationId xmlns:a16="http://schemas.microsoft.com/office/drawing/2014/main" id="{691E2DE9-3C90-78F5-A1C4-D8CB3D01DC72}"/>
              </a:ext>
            </a:extLst>
          </p:cNvPr>
          <p:cNvSpPr/>
          <p:nvPr/>
        </p:nvSpPr>
        <p:spPr>
          <a:xfrm>
            <a:off x="4663440" y="1627632"/>
            <a:ext cx="1207008" cy="347472"/>
          </a:xfrm>
          <a:prstGeom prst="rect">
            <a:avLst/>
          </a:prstGeom>
          <a:noFill/>
          <a:ln/>
        </p:spPr>
        <p:txBody>
          <a:bodyPr wrap="square" rtlCol="0" anchor="ctr"/>
          <a:lstStyle/>
          <a:p>
            <a:pPr marL="0" indent="0" algn="ctr">
              <a:buNone/>
            </a:pPr>
            <a:r>
              <a:rPr lang="en-US" sz="1200" b="1" dirty="0">
                <a:solidFill>
                  <a:srgbClr val="0F172A"/>
                </a:solidFill>
              </a:rPr>
              <a:t>Post-traitement</a:t>
            </a:r>
            <a:endParaRPr lang="en-US" sz="1200" dirty="0"/>
          </a:p>
        </p:txBody>
      </p:sp>
      <p:sp>
        <p:nvSpPr>
          <p:cNvPr id="20" name="Text 30">
            <a:extLst>
              <a:ext uri="{FF2B5EF4-FFF2-40B4-BE49-F238E27FC236}">
                <a16:creationId xmlns:a16="http://schemas.microsoft.com/office/drawing/2014/main" id="{183B03F3-9EAC-339C-D4B1-9169A6FE9D64}"/>
              </a:ext>
            </a:extLst>
          </p:cNvPr>
          <p:cNvSpPr/>
          <p:nvPr/>
        </p:nvSpPr>
        <p:spPr>
          <a:xfrm>
            <a:off x="6126480" y="1627632"/>
            <a:ext cx="1207008" cy="347472"/>
          </a:xfrm>
          <a:prstGeom prst="rect">
            <a:avLst/>
          </a:prstGeom>
          <a:noFill/>
          <a:ln/>
        </p:spPr>
        <p:txBody>
          <a:bodyPr wrap="square" rtlCol="0" anchor="ctr"/>
          <a:lstStyle/>
          <a:p>
            <a:pPr marL="0" indent="0" algn="ctr">
              <a:buNone/>
            </a:pPr>
            <a:r>
              <a:rPr lang="en-US" sz="1200" b="1" dirty="0">
                <a:solidFill>
                  <a:srgbClr val="0F172A"/>
                </a:solidFill>
              </a:rPr>
              <a:t>Extraction</a:t>
            </a:r>
            <a:endParaRPr lang="en-US" sz="1200" dirty="0"/>
          </a:p>
        </p:txBody>
      </p:sp>
      <p:sp>
        <p:nvSpPr>
          <p:cNvPr id="22" name="Text 36">
            <a:extLst>
              <a:ext uri="{FF2B5EF4-FFF2-40B4-BE49-F238E27FC236}">
                <a16:creationId xmlns:a16="http://schemas.microsoft.com/office/drawing/2014/main" id="{4A5B9AFB-3F9D-3621-197E-8108A5974F2F}"/>
              </a:ext>
            </a:extLst>
          </p:cNvPr>
          <p:cNvSpPr/>
          <p:nvPr/>
        </p:nvSpPr>
        <p:spPr>
          <a:xfrm>
            <a:off x="7589520" y="1627632"/>
            <a:ext cx="1207008" cy="347472"/>
          </a:xfrm>
          <a:prstGeom prst="rect">
            <a:avLst/>
          </a:prstGeom>
          <a:noFill/>
          <a:ln/>
        </p:spPr>
        <p:txBody>
          <a:bodyPr wrap="square" rtlCol="0" anchor="ctr"/>
          <a:lstStyle/>
          <a:p>
            <a:pPr marL="0" indent="0" algn="ctr">
              <a:buNone/>
            </a:pPr>
            <a:r>
              <a:rPr lang="en-US" sz="1200" b="1" dirty="0">
                <a:solidFill>
                  <a:srgbClr val="0F172A"/>
                </a:solidFill>
              </a:rPr>
              <a:t>Score &amp; Visu</a:t>
            </a:r>
            <a:endParaRPr lang="en-US" sz="1200" dirty="0"/>
          </a:p>
        </p:txBody>
      </p:sp>
      <p:sp>
        <p:nvSpPr>
          <p:cNvPr id="23" name="Text 7">
            <a:extLst>
              <a:ext uri="{FF2B5EF4-FFF2-40B4-BE49-F238E27FC236}">
                <a16:creationId xmlns:a16="http://schemas.microsoft.com/office/drawing/2014/main" id="{9CDAC0A9-5E85-BAFB-ACCE-A501D56AB0E7}"/>
              </a:ext>
            </a:extLst>
          </p:cNvPr>
          <p:cNvSpPr/>
          <p:nvPr/>
        </p:nvSpPr>
        <p:spPr>
          <a:xfrm>
            <a:off x="274320" y="2011680"/>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Dataset ISIC</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JPG / PNG</a:t>
            </a:r>
            <a:endParaRPr lang="en-US" sz="1000" dirty="0"/>
          </a:p>
        </p:txBody>
      </p:sp>
      <p:sp>
        <p:nvSpPr>
          <p:cNvPr id="24" name="Text 13">
            <a:extLst>
              <a:ext uri="{FF2B5EF4-FFF2-40B4-BE49-F238E27FC236}">
                <a16:creationId xmlns:a16="http://schemas.microsoft.com/office/drawing/2014/main" id="{742079D5-BC67-C93B-8BC5-7CA0203FDA2B}"/>
              </a:ext>
            </a:extLst>
          </p:cNvPr>
          <p:cNvSpPr/>
          <p:nvPr/>
        </p:nvSpPr>
        <p:spPr>
          <a:xfrm>
            <a:off x="1737360" y="2011680"/>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Resize 640px</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Normalisation [0,1]</a:t>
            </a:r>
            <a:endParaRPr lang="en-US" sz="1000" dirty="0"/>
          </a:p>
        </p:txBody>
      </p:sp>
      <p:sp>
        <p:nvSpPr>
          <p:cNvPr id="25" name="Text 19">
            <a:extLst>
              <a:ext uri="{FF2B5EF4-FFF2-40B4-BE49-F238E27FC236}">
                <a16:creationId xmlns:a16="http://schemas.microsoft.com/office/drawing/2014/main" id="{F79D774A-96F0-9A03-E78F-685903BA52B6}"/>
              </a:ext>
            </a:extLst>
          </p:cNvPr>
          <p:cNvSpPr/>
          <p:nvPr/>
        </p:nvSpPr>
        <p:spPr>
          <a:xfrm>
            <a:off x="3200400" y="2011680"/>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Inférence IA</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Masque polygonal</a:t>
            </a:r>
            <a:endParaRPr lang="en-US" sz="1000" dirty="0"/>
          </a:p>
        </p:txBody>
      </p:sp>
      <p:sp>
        <p:nvSpPr>
          <p:cNvPr id="26" name="Text 25">
            <a:extLst>
              <a:ext uri="{FF2B5EF4-FFF2-40B4-BE49-F238E27FC236}">
                <a16:creationId xmlns:a16="http://schemas.microsoft.com/office/drawing/2014/main" id="{3371C3BE-80B6-3D90-F9F2-3E0E6C021911}"/>
              </a:ext>
            </a:extLst>
          </p:cNvPr>
          <p:cNvSpPr/>
          <p:nvPr/>
        </p:nvSpPr>
        <p:spPr>
          <a:xfrm>
            <a:off x="4663440" y="2011680"/>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Morphologie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Débruitage</a:t>
            </a:r>
            <a:endParaRPr lang="en-US" sz="1000" dirty="0"/>
          </a:p>
        </p:txBody>
      </p:sp>
      <p:sp>
        <p:nvSpPr>
          <p:cNvPr id="27" name="Text 31">
            <a:extLst>
              <a:ext uri="{FF2B5EF4-FFF2-40B4-BE49-F238E27FC236}">
                <a16:creationId xmlns:a16="http://schemas.microsoft.com/office/drawing/2014/main" id="{EDFC918D-1342-DFF6-15FB-73770AEB5436}"/>
              </a:ext>
            </a:extLst>
          </p:cNvPr>
          <p:cNvSpPr/>
          <p:nvPr/>
        </p:nvSpPr>
        <p:spPr>
          <a:xfrm>
            <a:off x="6126480" y="2011680"/>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Aire · Périmètre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Circularité C</a:t>
            </a:r>
            <a:endParaRPr lang="en-US" sz="1000" dirty="0"/>
          </a:p>
        </p:txBody>
      </p:sp>
      <p:sp>
        <p:nvSpPr>
          <p:cNvPr id="28" name="Text 37">
            <a:extLst>
              <a:ext uri="{FF2B5EF4-FFF2-40B4-BE49-F238E27FC236}">
                <a16:creationId xmlns:a16="http://schemas.microsoft.com/office/drawing/2014/main" id="{BAE5D566-410E-10FD-639A-F319095BF267}"/>
              </a:ext>
            </a:extLst>
          </p:cNvPr>
          <p:cNvSpPr/>
          <p:nvPr/>
        </p:nvSpPr>
        <p:spPr>
          <a:xfrm>
            <a:off x="7589520" y="2011680"/>
            <a:ext cx="1207008" cy="77724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Score sévérité</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Image + métriques</a:t>
            </a:r>
            <a:endParaRPr lang="en-US" sz="1000" dirty="0"/>
          </a:p>
        </p:txBody>
      </p:sp>
      <p:sp>
        <p:nvSpPr>
          <p:cNvPr id="29" name="Shape 8">
            <a:extLst>
              <a:ext uri="{FF2B5EF4-FFF2-40B4-BE49-F238E27FC236}">
                <a16:creationId xmlns:a16="http://schemas.microsoft.com/office/drawing/2014/main" id="{7E49694D-E1BA-8D8A-29EC-44213DCC56EA}"/>
              </a:ext>
            </a:extLst>
          </p:cNvPr>
          <p:cNvSpPr/>
          <p:nvPr/>
        </p:nvSpPr>
        <p:spPr>
          <a:xfrm>
            <a:off x="1545336" y="2011680"/>
            <a:ext cx="128016" cy="54864"/>
          </a:xfrm>
          <a:prstGeom prst="rect">
            <a:avLst/>
          </a:prstGeom>
          <a:solidFill>
            <a:srgbClr val="F59E0B"/>
          </a:solidFill>
          <a:ln w="12700">
            <a:solidFill>
              <a:srgbClr val="F59E0B"/>
            </a:solidFill>
            <a:prstDash val="solid"/>
          </a:ln>
        </p:spPr>
        <p:txBody>
          <a:bodyPr/>
          <a:lstStyle/>
          <a:p>
            <a:endParaRPr lang="fr-CA"/>
          </a:p>
        </p:txBody>
      </p:sp>
      <p:sp>
        <p:nvSpPr>
          <p:cNvPr id="30" name="Shape 14">
            <a:extLst>
              <a:ext uri="{FF2B5EF4-FFF2-40B4-BE49-F238E27FC236}">
                <a16:creationId xmlns:a16="http://schemas.microsoft.com/office/drawing/2014/main" id="{BB4DC018-09C5-D3E5-5565-825463489E01}"/>
              </a:ext>
            </a:extLst>
          </p:cNvPr>
          <p:cNvSpPr/>
          <p:nvPr/>
        </p:nvSpPr>
        <p:spPr>
          <a:xfrm>
            <a:off x="3008376" y="2011680"/>
            <a:ext cx="128016" cy="54864"/>
          </a:xfrm>
          <a:prstGeom prst="rect">
            <a:avLst/>
          </a:prstGeom>
          <a:solidFill>
            <a:srgbClr val="F59E0B"/>
          </a:solidFill>
          <a:ln w="12700">
            <a:solidFill>
              <a:srgbClr val="F59E0B"/>
            </a:solidFill>
            <a:prstDash val="solid"/>
          </a:ln>
        </p:spPr>
        <p:txBody>
          <a:bodyPr/>
          <a:lstStyle/>
          <a:p>
            <a:endParaRPr lang="fr-CA"/>
          </a:p>
        </p:txBody>
      </p:sp>
      <p:sp>
        <p:nvSpPr>
          <p:cNvPr id="31" name="Shape 14">
            <a:extLst>
              <a:ext uri="{FF2B5EF4-FFF2-40B4-BE49-F238E27FC236}">
                <a16:creationId xmlns:a16="http://schemas.microsoft.com/office/drawing/2014/main" id="{98200025-3932-324F-96B5-7DA62C3EE414}"/>
              </a:ext>
            </a:extLst>
          </p:cNvPr>
          <p:cNvSpPr/>
          <p:nvPr/>
        </p:nvSpPr>
        <p:spPr>
          <a:xfrm>
            <a:off x="4462273" y="2039112"/>
            <a:ext cx="128016" cy="54864"/>
          </a:xfrm>
          <a:prstGeom prst="rect">
            <a:avLst/>
          </a:prstGeom>
          <a:solidFill>
            <a:srgbClr val="F59E0B"/>
          </a:solidFill>
          <a:ln w="12700">
            <a:solidFill>
              <a:srgbClr val="F59E0B"/>
            </a:solidFill>
            <a:prstDash val="solid"/>
          </a:ln>
        </p:spPr>
        <p:txBody>
          <a:bodyPr/>
          <a:lstStyle/>
          <a:p>
            <a:endParaRPr lang="fr-CA"/>
          </a:p>
        </p:txBody>
      </p:sp>
      <p:sp>
        <p:nvSpPr>
          <p:cNvPr id="32" name="Shape 14">
            <a:extLst>
              <a:ext uri="{FF2B5EF4-FFF2-40B4-BE49-F238E27FC236}">
                <a16:creationId xmlns:a16="http://schemas.microsoft.com/office/drawing/2014/main" id="{C37DD40B-C288-1965-6019-A4D815BCEE59}"/>
              </a:ext>
            </a:extLst>
          </p:cNvPr>
          <p:cNvSpPr/>
          <p:nvPr/>
        </p:nvSpPr>
        <p:spPr>
          <a:xfrm>
            <a:off x="5939028" y="2039112"/>
            <a:ext cx="128016" cy="54864"/>
          </a:xfrm>
          <a:prstGeom prst="rect">
            <a:avLst/>
          </a:prstGeom>
          <a:solidFill>
            <a:srgbClr val="F59E0B"/>
          </a:solidFill>
          <a:ln w="12700">
            <a:solidFill>
              <a:srgbClr val="F59E0B"/>
            </a:solidFill>
            <a:prstDash val="solid"/>
          </a:ln>
        </p:spPr>
        <p:txBody>
          <a:bodyPr/>
          <a:lstStyle/>
          <a:p>
            <a:endParaRPr lang="fr-CA"/>
          </a:p>
        </p:txBody>
      </p:sp>
      <p:sp>
        <p:nvSpPr>
          <p:cNvPr id="33" name="Shape 14">
            <a:extLst>
              <a:ext uri="{FF2B5EF4-FFF2-40B4-BE49-F238E27FC236}">
                <a16:creationId xmlns:a16="http://schemas.microsoft.com/office/drawing/2014/main" id="{99870829-AE7D-3C64-C996-2C9FDAA3514D}"/>
              </a:ext>
            </a:extLst>
          </p:cNvPr>
          <p:cNvSpPr/>
          <p:nvPr/>
        </p:nvSpPr>
        <p:spPr>
          <a:xfrm>
            <a:off x="7379208" y="2039112"/>
            <a:ext cx="128016" cy="54864"/>
          </a:xfrm>
          <a:prstGeom prst="rect">
            <a:avLst/>
          </a:prstGeom>
          <a:solidFill>
            <a:srgbClr val="F59E0B"/>
          </a:solidFill>
          <a:ln w="12700">
            <a:solidFill>
              <a:srgbClr val="F59E0B"/>
            </a:solidFill>
            <a:prstDash val="solid"/>
          </a:ln>
        </p:spPr>
        <p:txBody>
          <a:bodyPr/>
          <a:lstStyle/>
          <a:p>
            <a:endParaRPr lang="fr-CA"/>
          </a:p>
        </p:txBody>
      </p:sp>
      <p:sp>
        <p:nvSpPr>
          <p:cNvPr id="34" name="Shape 38">
            <a:extLst>
              <a:ext uri="{FF2B5EF4-FFF2-40B4-BE49-F238E27FC236}">
                <a16:creationId xmlns:a16="http://schemas.microsoft.com/office/drawing/2014/main" id="{D8FDA07B-7B54-884F-14AA-172F2E7F53BA}"/>
              </a:ext>
            </a:extLst>
          </p:cNvPr>
          <p:cNvSpPr/>
          <p:nvPr/>
        </p:nvSpPr>
        <p:spPr>
          <a:xfrm>
            <a:off x="320040" y="3108960"/>
            <a:ext cx="4114800" cy="1005840"/>
          </a:xfrm>
          <a:prstGeom prst="rect">
            <a:avLst/>
          </a:prstGeom>
          <a:solidFill>
            <a:srgbClr val="1A2B5E"/>
          </a:solidFill>
          <a:ln w="12700">
            <a:solidFill>
              <a:srgbClr val="1A2B5E"/>
            </a:solidFill>
            <a:prstDash val="solid"/>
          </a:ln>
          <a:effectLst>
            <a:outerShdw blurRad="101600" dist="38100" dir="8100000" algn="bl" rotWithShape="0">
              <a:srgbClr val="000000">
                <a:alpha val="12000"/>
              </a:srgbClr>
            </a:outerShdw>
          </a:effectLst>
        </p:spPr>
        <p:txBody>
          <a:bodyPr/>
          <a:lstStyle/>
          <a:p>
            <a:endParaRPr lang="fr-CA"/>
          </a:p>
        </p:txBody>
      </p:sp>
      <p:sp>
        <p:nvSpPr>
          <p:cNvPr id="35" name="Text 39">
            <a:extLst>
              <a:ext uri="{FF2B5EF4-FFF2-40B4-BE49-F238E27FC236}">
                <a16:creationId xmlns:a16="http://schemas.microsoft.com/office/drawing/2014/main" id="{7BAF8B87-F98F-1211-EB90-B802967A831B}"/>
              </a:ext>
            </a:extLst>
          </p:cNvPr>
          <p:cNvSpPr/>
          <p:nvPr/>
        </p:nvSpPr>
        <p:spPr>
          <a:xfrm>
            <a:off x="502920" y="3154680"/>
            <a:ext cx="3749040" cy="347472"/>
          </a:xfrm>
          <a:prstGeom prst="rect">
            <a:avLst/>
          </a:prstGeom>
          <a:noFill/>
          <a:ln/>
        </p:spPr>
        <p:txBody>
          <a:bodyPr wrap="square" rtlCol="0" anchor="ctr"/>
          <a:lstStyle/>
          <a:p>
            <a:pPr marL="0" indent="0">
              <a:buNone/>
            </a:pPr>
            <a:r>
              <a:rPr lang="en-US" sz="1300" b="1" dirty="0">
                <a:solidFill>
                  <a:srgbClr val="F59E0B"/>
                </a:solidFill>
              </a:rPr>
              <a:t>Formule de Circularité</a:t>
            </a:r>
            <a:endParaRPr lang="en-US" sz="1300" dirty="0"/>
          </a:p>
        </p:txBody>
      </p:sp>
      <p:sp>
        <p:nvSpPr>
          <p:cNvPr id="36" name="Text 40">
            <a:extLst>
              <a:ext uri="{FF2B5EF4-FFF2-40B4-BE49-F238E27FC236}">
                <a16:creationId xmlns:a16="http://schemas.microsoft.com/office/drawing/2014/main" id="{F69A1124-F8F3-E886-D993-F190F1A7C215}"/>
              </a:ext>
            </a:extLst>
          </p:cNvPr>
          <p:cNvSpPr/>
          <p:nvPr/>
        </p:nvSpPr>
        <p:spPr>
          <a:xfrm>
            <a:off x="502920" y="3520440"/>
            <a:ext cx="3749040" cy="50292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C = (4π × A) / P²</a:t>
            </a:r>
            <a:endParaRPr lang="en-US" sz="2000" dirty="0"/>
          </a:p>
        </p:txBody>
      </p:sp>
      <p:sp>
        <p:nvSpPr>
          <p:cNvPr id="37" name="Shape 41">
            <a:extLst>
              <a:ext uri="{FF2B5EF4-FFF2-40B4-BE49-F238E27FC236}">
                <a16:creationId xmlns:a16="http://schemas.microsoft.com/office/drawing/2014/main" id="{9D562691-02F3-15EB-71F6-55217C0B36F9}"/>
              </a:ext>
            </a:extLst>
          </p:cNvPr>
          <p:cNvSpPr/>
          <p:nvPr/>
        </p:nvSpPr>
        <p:spPr>
          <a:xfrm>
            <a:off x="4663440" y="3108960"/>
            <a:ext cx="4160520" cy="10058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fr-CA" dirty="0"/>
          </a:p>
        </p:txBody>
      </p:sp>
      <p:sp>
        <p:nvSpPr>
          <p:cNvPr id="38" name="Text 43">
            <a:extLst>
              <a:ext uri="{FF2B5EF4-FFF2-40B4-BE49-F238E27FC236}">
                <a16:creationId xmlns:a16="http://schemas.microsoft.com/office/drawing/2014/main" id="{86011B51-AA75-C482-7599-E794F22A59D2}"/>
              </a:ext>
            </a:extLst>
          </p:cNvPr>
          <p:cNvSpPr/>
          <p:nvPr/>
        </p:nvSpPr>
        <p:spPr>
          <a:xfrm>
            <a:off x="4846320" y="3493008"/>
            <a:ext cx="3794760" cy="548640"/>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Python  ·  YOLOv8 (Ultralytics)  ·  OpenCV  ·  Streamlit  ·  GPU NVIDIA T4/RTX</a:t>
            </a:r>
            <a:endParaRPr lang="en-US" sz="1100" dirty="0"/>
          </a:p>
        </p:txBody>
      </p:sp>
      <p:sp>
        <p:nvSpPr>
          <p:cNvPr id="39" name="Text 42">
            <a:extLst>
              <a:ext uri="{FF2B5EF4-FFF2-40B4-BE49-F238E27FC236}">
                <a16:creationId xmlns:a16="http://schemas.microsoft.com/office/drawing/2014/main" id="{8BFD52A7-1721-15AE-5A2B-AA99475446D8}"/>
              </a:ext>
            </a:extLst>
          </p:cNvPr>
          <p:cNvSpPr/>
          <p:nvPr/>
        </p:nvSpPr>
        <p:spPr>
          <a:xfrm>
            <a:off x="4846320" y="3154680"/>
            <a:ext cx="3794760" cy="320040"/>
          </a:xfrm>
          <a:prstGeom prst="rect">
            <a:avLst/>
          </a:prstGeom>
          <a:noFill/>
          <a:ln/>
        </p:spPr>
        <p:txBody>
          <a:bodyPr wrap="square" rtlCol="0" anchor="ctr"/>
          <a:lstStyle/>
          <a:p>
            <a:pPr marL="0" indent="0">
              <a:buNone/>
            </a:pPr>
            <a:r>
              <a:rPr lang="en-US" sz="1300" b="1" dirty="0">
                <a:solidFill>
                  <a:srgbClr val="1A2B5E"/>
                </a:solidFill>
              </a:rPr>
              <a:t>Stack Technique</a:t>
            </a:r>
            <a:endParaRPr lang="en-US" sz="1300" dirty="0"/>
          </a:p>
        </p:txBody>
      </p:sp>
      <p:sp>
        <p:nvSpPr>
          <p:cNvPr id="40" name="Shape 44">
            <a:extLst>
              <a:ext uri="{FF2B5EF4-FFF2-40B4-BE49-F238E27FC236}">
                <a16:creationId xmlns:a16="http://schemas.microsoft.com/office/drawing/2014/main" id="{F11BA495-6395-E59E-311D-1DD314EF6CF1}"/>
              </a:ext>
            </a:extLst>
          </p:cNvPr>
          <p:cNvSpPr/>
          <p:nvPr/>
        </p:nvSpPr>
        <p:spPr>
          <a:xfrm>
            <a:off x="320040" y="4297680"/>
            <a:ext cx="8503920" cy="621792"/>
          </a:xfrm>
          <a:prstGeom prst="rect">
            <a:avLst/>
          </a:prstGeom>
          <a:solidFill>
            <a:srgbClr val="0D9488">
              <a:alpha val="12000"/>
            </a:srgbClr>
          </a:solidFill>
          <a:ln w="12700">
            <a:solidFill>
              <a:srgbClr val="0D9488"/>
            </a:solidFill>
            <a:prstDash val="solid"/>
          </a:ln>
        </p:spPr>
        <p:txBody>
          <a:bodyPr/>
          <a:lstStyle/>
          <a:p>
            <a:endParaRPr lang="fr-CA"/>
          </a:p>
        </p:txBody>
      </p:sp>
      <p:sp>
        <p:nvSpPr>
          <p:cNvPr id="41" name="Text 45">
            <a:extLst>
              <a:ext uri="{FF2B5EF4-FFF2-40B4-BE49-F238E27FC236}">
                <a16:creationId xmlns:a16="http://schemas.microsoft.com/office/drawing/2014/main" id="{D1713FB3-4291-C0EB-D701-5DDD24004E85}"/>
              </a:ext>
            </a:extLst>
          </p:cNvPr>
          <p:cNvSpPr/>
          <p:nvPr/>
        </p:nvSpPr>
        <p:spPr>
          <a:xfrm>
            <a:off x="502920" y="4315968"/>
            <a:ext cx="8229600" cy="585216"/>
          </a:xfrm>
          <a:prstGeom prst="rect">
            <a:avLst/>
          </a:prstGeom>
          <a:noFill/>
          <a:ln/>
        </p:spPr>
        <p:txBody>
          <a:bodyPr wrap="square" rtlCol="0" anchor="ctr"/>
          <a:lstStyle/>
          <a:p>
            <a:pPr marL="0" indent="0">
              <a:buNone/>
            </a:pPr>
            <a:r>
              <a:rPr lang="en-US" sz="1200" dirty="0">
                <a:solidFill>
                  <a:srgbClr val="1A2B5E"/>
                </a:solidFill>
                <a:latin typeface="Calibri" pitchFamily="34" charset="0"/>
                <a:ea typeface="Calibri" pitchFamily="34" charset="-122"/>
                <a:cs typeface="Calibri" pitchFamily="34" charset="-120"/>
              </a:rPr>
              <a:t>Données : Dataset public ISIC — diversité de phototypes, images annotées avec masques de référence</a:t>
            </a:r>
            <a:endParaRPr lang="en-US" sz="1200" dirty="0"/>
          </a:p>
        </p:txBody>
      </p:sp>
      <p:sp>
        <p:nvSpPr>
          <p:cNvPr id="42" name="Rectangle: Folded Corner 41">
            <a:extLst>
              <a:ext uri="{FF2B5EF4-FFF2-40B4-BE49-F238E27FC236}">
                <a16:creationId xmlns:a16="http://schemas.microsoft.com/office/drawing/2014/main" id="{FA64572A-B2D4-FE03-1484-0CEA7A15EF35}"/>
              </a:ext>
            </a:extLst>
          </p:cNvPr>
          <p:cNvSpPr/>
          <p:nvPr/>
        </p:nvSpPr>
        <p:spPr>
          <a:xfrm>
            <a:off x="8823960" y="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p>
        </p:txBody>
      </p:sp>
    </p:spTree>
    <p:extLst>
      <p:ext uri="{BB962C8B-B14F-4D97-AF65-F5344CB8AC3E}">
        <p14:creationId xmlns:p14="http://schemas.microsoft.com/office/powerpoint/2010/main" val="3421097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82D07EF-9177-29C3-DFC0-5E69028EB010}"/>
              </a:ext>
            </a:extLst>
          </p:cNvPr>
          <p:cNvPicPr>
            <a:picLocks noChangeAspect="1"/>
          </p:cNvPicPr>
          <p:nvPr/>
        </p:nvPicPr>
        <p:blipFill>
          <a:blip r:embed="rId2"/>
          <a:stretch>
            <a:fillRect/>
          </a:stretch>
        </p:blipFill>
        <p:spPr>
          <a:xfrm>
            <a:off x="403247" y="531888"/>
            <a:ext cx="8539479" cy="4227043"/>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309F77-E773-D9AE-6C63-CAF64430FDA2}"/>
              </a:ext>
            </a:extLst>
          </p:cNvPr>
          <p:cNvSpPr txBox="1"/>
          <p:nvPr/>
        </p:nvSpPr>
        <p:spPr>
          <a:xfrm>
            <a:off x="2286000" y="2387084"/>
            <a:ext cx="4572000" cy="369332"/>
          </a:xfrm>
          <a:prstGeom prst="rect">
            <a:avLst/>
          </a:prstGeom>
          <a:noFill/>
        </p:spPr>
        <p:txBody>
          <a:bodyPr wrap="square">
            <a:spAutoFit/>
          </a:bodyPr>
          <a:lstStyle/>
          <a:p>
            <a:endParaRPr lang="fr-CA" dirty="0"/>
          </a:p>
        </p:txBody>
      </p:sp>
      <p:sp>
        <p:nvSpPr>
          <p:cNvPr id="6" name="Rectangle: Folded Corner 5">
            <a:extLst>
              <a:ext uri="{FF2B5EF4-FFF2-40B4-BE49-F238E27FC236}">
                <a16:creationId xmlns:a16="http://schemas.microsoft.com/office/drawing/2014/main" id="{DFEE6D82-C31D-F529-26DE-1355D94E36E3}"/>
              </a:ext>
            </a:extLst>
          </p:cNvPr>
          <p:cNvSpPr/>
          <p:nvPr/>
        </p:nvSpPr>
        <p:spPr>
          <a:xfrm>
            <a:off x="8823960" y="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pic>
        <p:nvPicPr>
          <p:cNvPr id="8" name="Picture 7" descr="propulsé par l'IA nuage l'informatique et Les données espace de rangement  solutions icône ensemble avec intégré artificiel intelligence et machine  apprentissage capacités. illustrer plat conception style. 67550486 Art  vectoriel chez Vecteezy">
            <a:extLst>
              <a:ext uri="{FF2B5EF4-FFF2-40B4-BE49-F238E27FC236}">
                <a16:creationId xmlns:a16="http://schemas.microsoft.com/office/drawing/2014/main" id="{1BFA35C8-07B3-433C-917E-493915352DE1}"/>
              </a:ext>
            </a:extLst>
          </p:cNvPr>
          <p:cNvPicPr>
            <a:picLocks noChangeAspect="1"/>
          </p:cNvPicPr>
          <p:nvPr/>
        </p:nvPicPr>
        <p:blipFill>
          <a:blip r:embed="rId3"/>
          <a:stretch>
            <a:fillRect/>
          </a:stretch>
        </p:blipFill>
        <p:spPr>
          <a:xfrm>
            <a:off x="2699409" y="3843445"/>
            <a:ext cx="2095500" cy="1300055"/>
          </a:xfrm>
          <a:prstGeom prst="rect">
            <a:avLst/>
          </a:prstGeom>
        </p:spPr>
      </p:pic>
    </p:spTree>
    <p:extLst>
      <p:ext uri="{BB962C8B-B14F-4D97-AF65-F5344CB8AC3E}">
        <p14:creationId xmlns:p14="http://schemas.microsoft.com/office/powerpoint/2010/main" val="284807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9CBBBD2-4133-0BA4-6523-84CF237AF0A6}"/>
              </a:ext>
            </a:extLst>
          </p:cNvPr>
          <p:cNvSpPr/>
          <p:nvPr/>
        </p:nvSpPr>
        <p:spPr>
          <a:xfrm>
            <a:off x="0" y="91687"/>
            <a:ext cx="9144000" cy="548640"/>
          </a:xfrm>
          <a:prstGeom prst="rect">
            <a:avLst/>
          </a:prstGeom>
          <a:solidFill>
            <a:schemeClr val="bg1">
              <a:lumMod val="95000"/>
            </a:schemeClr>
          </a:solidFill>
          <a:ln/>
        </p:spPr>
        <p:txBody>
          <a:bodyPr wrap="square" rtlCol="0" anchor="ctr"/>
          <a:lstStyle/>
          <a:p>
            <a:pPr marL="0" indent="0">
              <a:buNone/>
            </a:pPr>
            <a:r>
              <a:rPr lang="en-US" sz="2800" b="1" dirty="0" err="1">
                <a:latin typeface="Calibri" pitchFamily="34" charset="0"/>
                <a:ea typeface="Calibri" pitchFamily="34" charset="-122"/>
                <a:cs typeface="Calibri" pitchFamily="34" charset="-120"/>
              </a:rPr>
              <a:t>Contraintes</a:t>
            </a:r>
            <a:r>
              <a:rPr lang="en-US" sz="2800" b="1" dirty="0">
                <a:latin typeface="Calibri" pitchFamily="34" charset="0"/>
                <a:ea typeface="Calibri" pitchFamily="34" charset="-122"/>
                <a:cs typeface="Calibri" pitchFamily="34" charset="-120"/>
              </a:rPr>
              <a:t> </a:t>
            </a:r>
            <a:r>
              <a:rPr lang="en-US" sz="2800" b="1" dirty="0" err="1">
                <a:latin typeface="Calibri" pitchFamily="34" charset="0"/>
                <a:ea typeface="Calibri" pitchFamily="34" charset="-122"/>
                <a:cs typeface="Calibri" pitchFamily="34" charset="-120"/>
              </a:rPr>
              <a:t>rencontrees</a:t>
            </a:r>
            <a:r>
              <a:rPr lang="en-US" sz="2800" b="1" dirty="0">
                <a:latin typeface="Calibri" pitchFamily="34" charset="0"/>
                <a:ea typeface="Calibri" pitchFamily="34" charset="-122"/>
                <a:cs typeface="Calibri" pitchFamily="34" charset="-120"/>
              </a:rPr>
              <a:t> </a:t>
            </a:r>
            <a:endParaRPr lang="en-US" sz="2800" dirty="0"/>
          </a:p>
        </p:txBody>
      </p:sp>
      <p:sp>
        <p:nvSpPr>
          <p:cNvPr id="4" name="Shape 0">
            <a:extLst>
              <a:ext uri="{FF2B5EF4-FFF2-40B4-BE49-F238E27FC236}">
                <a16:creationId xmlns:a16="http://schemas.microsoft.com/office/drawing/2014/main" id="{D7A45EDB-07A9-9E9C-47A0-7CFD162C62B0}"/>
              </a:ext>
            </a:extLst>
          </p:cNvPr>
          <p:cNvSpPr/>
          <p:nvPr/>
        </p:nvSpPr>
        <p:spPr>
          <a:xfrm>
            <a:off x="0" y="0"/>
            <a:ext cx="9144000" cy="76200"/>
          </a:xfrm>
          <a:prstGeom prst="rect">
            <a:avLst/>
          </a:prstGeom>
          <a:solidFill>
            <a:srgbClr val="00B4D8"/>
          </a:solidFill>
          <a:ln/>
        </p:spPr>
        <p:txBody>
          <a:bodyPr/>
          <a:lstStyle/>
          <a:p>
            <a:endParaRPr lang="fr-CA"/>
          </a:p>
        </p:txBody>
      </p:sp>
      <p:pic>
        <p:nvPicPr>
          <p:cNvPr id="6" name="Picture 5">
            <a:extLst>
              <a:ext uri="{FF2B5EF4-FFF2-40B4-BE49-F238E27FC236}">
                <a16:creationId xmlns:a16="http://schemas.microsoft.com/office/drawing/2014/main" id="{6366EE8B-5039-ABB0-770C-391433AA60CD}"/>
              </a:ext>
            </a:extLst>
          </p:cNvPr>
          <p:cNvPicPr>
            <a:picLocks noChangeAspect="1"/>
          </p:cNvPicPr>
          <p:nvPr/>
        </p:nvPicPr>
        <p:blipFill>
          <a:blip r:embed="rId3"/>
          <a:stretch>
            <a:fillRect/>
          </a:stretch>
        </p:blipFill>
        <p:spPr>
          <a:xfrm>
            <a:off x="83820" y="640327"/>
            <a:ext cx="4648200" cy="4381006"/>
          </a:xfrm>
          <a:prstGeom prst="rect">
            <a:avLst/>
          </a:prstGeom>
          <a:ln>
            <a:noFill/>
          </a:ln>
          <a:effectLst>
            <a:outerShdw blurRad="292100" dist="139700" dir="2700000" algn="tl" rotWithShape="0">
              <a:srgbClr val="333333">
                <a:alpha val="65000"/>
              </a:srgbClr>
            </a:outerShdw>
          </a:effectLst>
        </p:spPr>
      </p:pic>
      <p:pic>
        <p:nvPicPr>
          <p:cNvPr id="7" name="Picture 6" descr="11 common shipping container types I Bison Blog">
            <a:extLst>
              <a:ext uri="{FF2B5EF4-FFF2-40B4-BE49-F238E27FC236}">
                <a16:creationId xmlns:a16="http://schemas.microsoft.com/office/drawing/2014/main" id="{DCDFEE73-7B56-1D33-D8F1-9AC3014652D4}"/>
              </a:ext>
            </a:extLst>
          </p:cNvPr>
          <p:cNvPicPr>
            <a:picLocks noChangeAspect="1"/>
          </p:cNvPicPr>
          <p:nvPr/>
        </p:nvPicPr>
        <p:blipFill>
          <a:blip r:embed="rId4"/>
          <a:stretch>
            <a:fillRect/>
          </a:stretch>
        </p:blipFill>
        <p:spPr>
          <a:xfrm>
            <a:off x="4914900" y="1282188"/>
            <a:ext cx="3619500" cy="302133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9" name="Rectangle: Folded Corner 8">
            <a:extLst>
              <a:ext uri="{FF2B5EF4-FFF2-40B4-BE49-F238E27FC236}">
                <a16:creationId xmlns:a16="http://schemas.microsoft.com/office/drawing/2014/main" id="{6A0C8A36-0031-3142-E09D-7A8CF053B1E8}"/>
              </a:ext>
            </a:extLst>
          </p:cNvPr>
          <p:cNvSpPr/>
          <p:nvPr/>
        </p:nvSpPr>
        <p:spPr>
          <a:xfrm>
            <a:off x="8823960" y="7620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Tree>
    <p:extLst>
      <p:ext uri="{BB962C8B-B14F-4D97-AF65-F5344CB8AC3E}">
        <p14:creationId xmlns:p14="http://schemas.microsoft.com/office/powerpoint/2010/main" val="2657768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BEB8612-51CB-ED91-3C92-EFCF9FCAE275}"/>
              </a:ext>
            </a:extLst>
          </p:cNvPr>
          <p:cNvPicPr>
            <a:picLocks noChangeAspect="1"/>
          </p:cNvPicPr>
          <p:nvPr/>
        </p:nvPicPr>
        <p:blipFill>
          <a:blip r:embed="rId2"/>
          <a:stretch>
            <a:fillRect/>
          </a:stretch>
        </p:blipFill>
        <p:spPr>
          <a:xfrm>
            <a:off x="403247" y="623842"/>
            <a:ext cx="8178799" cy="4089399"/>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0">
            <a:extLst>
              <a:ext uri="{FF2B5EF4-FFF2-40B4-BE49-F238E27FC236}">
                <a16:creationId xmlns:a16="http://schemas.microsoft.com/office/drawing/2014/main" id="{8054F615-69F5-25A7-4256-134A4B559884}"/>
              </a:ext>
            </a:extLst>
          </p:cNvPr>
          <p:cNvSpPr/>
          <p:nvPr/>
        </p:nvSpPr>
        <p:spPr>
          <a:xfrm>
            <a:off x="0" y="0"/>
            <a:ext cx="9144000" cy="497226"/>
          </a:xfrm>
          <a:prstGeom prst="rect">
            <a:avLst/>
          </a:prstGeom>
          <a:solidFill>
            <a:srgbClr val="1A2B5E"/>
          </a:solidFill>
          <a:ln w="12700">
            <a:solidFill>
              <a:srgbClr val="1A2B5E"/>
            </a:solidFill>
            <a:prstDash val="solid"/>
          </a:ln>
        </p:spPr>
        <p:txBody>
          <a:bodyPr/>
          <a:lstStyle/>
          <a:p>
            <a:endParaRPr lang="fr-CA"/>
          </a:p>
        </p:txBody>
      </p:sp>
      <p:sp>
        <p:nvSpPr>
          <p:cNvPr id="5" name="Rectangle: Folded Corner 4">
            <a:extLst>
              <a:ext uri="{FF2B5EF4-FFF2-40B4-BE49-F238E27FC236}">
                <a16:creationId xmlns:a16="http://schemas.microsoft.com/office/drawing/2014/main" id="{2A93478C-FDF8-C320-FFA7-D7FCD7E78159}"/>
              </a:ext>
            </a:extLst>
          </p:cNvPr>
          <p:cNvSpPr/>
          <p:nvPr/>
        </p:nvSpPr>
        <p:spPr>
          <a:xfrm>
            <a:off x="8823960" y="0"/>
            <a:ext cx="32657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p>
        </p:txBody>
      </p:sp>
    </p:spTree>
    <p:extLst>
      <p:ext uri="{BB962C8B-B14F-4D97-AF65-F5344CB8AC3E}">
        <p14:creationId xmlns:p14="http://schemas.microsoft.com/office/powerpoint/2010/main" val="386303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223477" y="1768"/>
            <a:ext cx="1407490" cy="1324506"/>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52897" y="4525250"/>
            <a:ext cx="484026"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77" y="4290831"/>
            <a:ext cx="1696473" cy="852668"/>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D483ED1-8FCD-8593-554A-1B02B7A78AF3}"/>
              </a:ext>
            </a:extLst>
          </p:cNvPr>
          <p:cNvPicPr>
            <a:picLocks noChangeAspect="1"/>
          </p:cNvPicPr>
          <p:nvPr/>
        </p:nvPicPr>
        <p:blipFill>
          <a:blip r:embed="rId2"/>
          <a:stretch>
            <a:fillRect/>
          </a:stretch>
        </p:blipFill>
        <p:spPr>
          <a:xfrm>
            <a:off x="482600" y="527050"/>
            <a:ext cx="8178799" cy="4089399"/>
          </a:xfrm>
          <a:prstGeom prst="rect">
            <a:avLst/>
          </a:prstGeom>
          <a:ln>
            <a:noFill/>
          </a:ln>
        </p:spPr>
      </p:pic>
      <p:sp>
        <p:nvSpPr>
          <p:cNvPr id="4" name="Rectangle: Folded Corner 3">
            <a:extLst>
              <a:ext uri="{FF2B5EF4-FFF2-40B4-BE49-F238E27FC236}">
                <a16:creationId xmlns:a16="http://schemas.microsoft.com/office/drawing/2014/main" id="{3DE2B3E1-36A8-18D6-1ABF-A31DCFEFDBE9}"/>
              </a:ext>
            </a:extLst>
          </p:cNvPr>
          <p:cNvSpPr/>
          <p:nvPr/>
        </p:nvSpPr>
        <p:spPr>
          <a:xfrm>
            <a:off x="8763000" y="0"/>
            <a:ext cx="38753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10</a:t>
            </a:r>
          </a:p>
        </p:txBody>
      </p:sp>
    </p:spTree>
    <p:extLst>
      <p:ext uri="{BB962C8B-B14F-4D97-AF65-F5344CB8AC3E}">
        <p14:creationId xmlns:p14="http://schemas.microsoft.com/office/powerpoint/2010/main" val="3580450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DF4AC7E-5A24-9AF5-2003-10A82106467E}"/>
              </a:ext>
            </a:extLst>
          </p:cNvPr>
          <p:cNvSpPr/>
          <p:nvPr/>
        </p:nvSpPr>
        <p:spPr>
          <a:xfrm>
            <a:off x="0" y="0"/>
            <a:ext cx="9144000" cy="914400"/>
          </a:xfrm>
          <a:prstGeom prst="rect">
            <a:avLst/>
          </a:prstGeom>
          <a:solidFill>
            <a:srgbClr val="0D9488"/>
          </a:solidFill>
          <a:ln w="12700">
            <a:solidFill>
              <a:srgbClr val="0D9488"/>
            </a:solidFill>
            <a:prstDash val="solid"/>
          </a:ln>
        </p:spPr>
        <p:txBody>
          <a:bodyPr/>
          <a:lstStyle/>
          <a:p>
            <a:endParaRPr lang="fr-CA"/>
          </a:p>
        </p:txBody>
      </p:sp>
      <p:sp>
        <p:nvSpPr>
          <p:cNvPr id="3" name="Text 2">
            <a:extLst>
              <a:ext uri="{FF2B5EF4-FFF2-40B4-BE49-F238E27FC236}">
                <a16:creationId xmlns:a16="http://schemas.microsoft.com/office/drawing/2014/main" id="{E7534A4C-6905-351F-DC92-F9529B59628A}"/>
              </a:ext>
            </a:extLst>
          </p:cNvPr>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06  ·  Développement &amp; Intégration</a:t>
            </a:r>
            <a:endParaRPr lang="en-US" sz="2600" dirty="0"/>
          </a:p>
        </p:txBody>
      </p:sp>
      <p:sp>
        <p:nvSpPr>
          <p:cNvPr id="4" name="Shape 1">
            <a:extLst>
              <a:ext uri="{FF2B5EF4-FFF2-40B4-BE49-F238E27FC236}">
                <a16:creationId xmlns:a16="http://schemas.microsoft.com/office/drawing/2014/main" id="{40743332-8634-686C-D649-D772E248373D}"/>
              </a:ext>
            </a:extLst>
          </p:cNvPr>
          <p:cNvSpPr/>
          <p:nvPr/>
        </p:nvSpPr>
        <p:spPr>
          <a:xfrm>
            <a:off x="0" y="914400"/>
            <a:ext cx="9144000" cy="54864"/>
          </a:xfrm>
          <a:prstGeom prst="rect">
            <a:avLst/>
          </a:prstGeom>
          <a:solidFill>
            <a:srgbClr val="F59E0B"/>
          </a:solidFill>
          <a:ln w="12700">
            <a:solidFill>
              <a:srgbClr val="F59E0B"/>
            </a:solidFill>
            <a:prstDash val="solid"/>
          </a:ln>
        </p:spPr>
        <p:txBody>
          <a:bodyPr/>
          <a:lstStyle/>
          <a:p>
            <a:endParaRPr lang="fr-CA"/>
          </a:p>
        </p:txBody>
      </p:sp>
      <p:pic>
        <p:nvPicPr>
          <p:cNvPr id="6" name="Picture 5">
            <a:extLst>
              <a:ext uri="{FF2B5EF4-FFF2-40B4-BE49-F238E27FC236}">
                <a16:creationId xmlns:a16="http://schemas.microsoft.com/office/drawing/2014/main" id="{458A3B45-7ECE-67EF-AB86-A164305F888A}"/>
              </a:ext>
            </a:extLst>
          </p:cNvPr>
          <p:cNvPicPr>
            <a:picLocks noChangeAspect="1"/>
          </p:cNvPicPr>
          <p:nvPr/>
        </p:nvPicPr>
        <p:blipFill>
          <a:blip r:embed="rId2"/>
          <a:stretch>
            <a:fillRect/>
          </a:stretch>
        </p:blipFill>
        <p:spPr>
          <a:xfrm>
            <a:off x="922020" y="1239012"/>
            <a:ext cx="7044222" cy="3383998"/>
          </a:xfrm>
          <a:prstGeom prst="rect">
            <a:avLst/>
          </a:prstGeom>
        </p:spPr>
      </p:pic>
    </p:spTree>
    <p:extLst>
      <p:ext uri="{BB962C8B-B14F-4D97-AF65-F5344CB8AC3E}">
        <p14:creationId xmlns:p14="http://schemas.microsoft.com/office/powerpoint/2010/main" val="3826321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11B1ADB-F00A-593E-B5E0-6D7888C7037B}"/>
              </a:ext>
            </a:extLst>
          </p:cNvPr>
          <p:cNvSpPr/>
          <p:nvPr/>
        </p:nvSpPr>
        <p:spPr>
          <a:xfrm>
            <a:off x="0" y="0"/>
            <a:ext cx="9144000" cy="914400"/>
          </a:xfrm>
          <a:prstGeom prst="rect">
            <a:avLst/>
          </a:prstGeom>
          <a:solidFill>
            <a:srgbClr val="1A2B5E"/>
          </a:solidFill>
          <a:ln w="12700">
            <a:solidFill>
              <a:srgbClr val="1A2B5E"/>
            </a:solidFill>
            <a:prstDash val="solid"/>
          </a:ln>
        </p:spPr>
        <p:txBody>
          <a:bodyPr/>
          <a:lstStyle/>
          <a:p>
            <a:endParaRPr lang="fr-CA"/>
          </a:p>
        </p:txBody>
      </p:sp>
      <p:sp>
        <p:nvSpPr>
          <p:cNvPr id="3" name="Text 2">
            <a:extLst>
              <a:ext uri="{FF2B5EF4-FFF2-40B4-BE49-F238E27FC236}">
                <a16:creationId xmlns:a16="http://schemas.microsoft.com/office/drawing/2014/main" id="{C2CB3385-6729-3D4C-5DD8-95D7FAB1F744}"/>
              </a:ext>
            </a:extLst>
          </p:cNvPr>
          <p:cNvSpPr/>
          <p:nvPr/>
        </p:nvSpPr>
        <p:spPr>
          <a:xfrm>
            <a:off x="365760" y="0"/>
            <a:ext cx="8412480" cy="9144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07  ·  Validation Qualité &amp; Sécurité</a:t>
            </a:r>
            <a:endParaRPr lang="en-US" sz="2600" dirty="0"/>
          </a:p>
        </p:txBody>
      </p:sp>
      <p:sp>
        <p:nvSpPr>
          <p:cNvPr id="4" name="Shape 1">
            <a:extLst>
              <a:ext uri="{FF2B5EF4-FFF2-40B4-BE49-F238E27FC236}">
                <a16:creationId xmlns:a16="http://schemas.microsoft.com/office/drawing/2014/main" id="{42CEF972-7A55-9D9D-BB3B-587ADD30A91D}"/>
              </a:ext>
            </a:extLst>
          </p:cNvPr>
          <p:cNvSpPr/>
          <p:nvPr/>
        </p:nvSpPr>
        <p:spPr>
          <a:xfrm>
            <a:off x="0" y="914400"/>
            <a:ext cx="9144000" cy="54864"/>
          </a:xfrm>
          <a:prstGeom prst="rect">
            <a:avLst/>
          </a:prstGeom>
          <a:solidFill>
            <a:srgbClr val="10B981"/>
          </a:solidFill>
          <a:ln w="12700">
            <a:solidFill>
              <a:srgbClr val="10B981"/>
            </a:solidFill>
            <a:prstDash val="solid"/>
          </a:ln>
        </p:spPr>
        <p:txBody>
          <a:bodyPr/>
          <a:lstStyle/>
          <a:p>
            <a:endParaRPr lang="fr-CA"/>
          </a:p>
        </p:txBody>
      </p:sp>
      <p:sp>
        <p:nvSpPr>
          <p:cNvPr id="5" name="Rectangle: Folded Corner 4">
            <a:extLst>
              <a:ext uri="{FF2B5EF4-FFF2-40B4-BE49-F238E27FC236}">
                <a16:creationId xmlns:a16="http://schemas.microsoft.com/office/drawing/2014/main" id="{2F27E002-5457-5CA7-C825-0156BDDBECA7}"/>
              </a:ext>
            </a:extLst>
          </p:cNvPr>
          <p:cNvSpPr/>
          <p:nvPr/>
        </p:nvSpPr>
        <p:spPr>
          <a:xfrm>
            <a:off x="8763000" y="0"/>
            <a:ext cx="38753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11</a:t>
            </a:r>
          </a:p>
        </p:txBody>
      </p:sp>
      <p:pic>
        <p:nvPicPr>
          <p:cNvPr id="7" name="Picture 6">
            <a:extLst>
              <a:ext uri="{FF2B5EF4-FFF2-40B4-BE49-F238E27FC236}">
                <a16:creationId xmlns:a16="http://schemas.microsoft.com/office/drawing/2014/main" id="{40426683-7173-3A4C-C10E-84C6A6BF3151}"/>
              </a:ext>
            </a:extLst>
          </p:cNvPr>
          <p:cNvPicPr>
            <a:picLocks noChangeAspect="1"/>
          </p:cNvPicPr>
          <p:nvPr/>
        </p:nvPicPr>
        <p:blipFill>
          <a:blip r:embed="rId2"/>
          <a:stretch>
            <a:fillRect/>
          </a:stretch>
        </p:blipFill>
        <p:spPr>
          <a:xfrm>
            <a:off x="1409699" y="969264"/>
            <a:ext cx="6127319" cy="4061931"/>
          </a:xfrm>
          <a:prstGeom prst="rect">
            <a:avLst/>
          </a:prstGeom>
        </p:spPr>
      </p:pic>
    </p:spTree>
    <p:extLst>
      <p:ext uri="{BB962C8B-B14F-4D97-AF65-F5344CB8AC3E}">
        <p14:creationId xmlns:p14="http://schemas.microsoft.com/office/powerpoint/2010/main" val="309184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FC101C0-3286-CC44-6F7A-7ABFB40060F3}"/>
              </a:ext>
            </a:extLst>
          </p:cNvPr>
          <p:cNvSpPr/>
          <p:nvPr/>
        </p:nvSpPr>
        <p:spPr>
          <a:xfrm>
            <a:off x="0" y="0"/>
            <a:ext cx="9144000" cy="914400"/>
          </a:xfrm>
          <a:prstGeom prst="rect">
            <a:avLst/>
          </a:prstGeom>
          <a:solidFill>
            <a:srgbClr val="0D9488"/>
          </a:solidFill>
          <a:ln w="12700">
            <a:solidFill>
              <a:srgbClr val="0D9488"/>
            </a:solidFill>
            <a:prstDash val="solid"/>
          </a:ln>
        </p:spPr>
        <p:txBody>
          <a:bodyPr/>
          <a:lstStyle/>
          <a:p>
            <a:endParaRPr lang="fr-CA"/>
          </a:p>
        </p:txBody>
      </p:sp>
      <p:sp>
        <p:nvSpPr>
          <p:cNvPr id="3" name="Text 2">
            <a:extLst>
              <a:ext uri="{FF2B5EF4-FFF2-40B4-BE49-F238E27FC236}">
                <a16:creationId xmlns:a16="http://schemas.microsoft.com/office/drawing/2014/main" id="{B925FC7D-D62F-3157-33AC-39189F0897EE}"/>
              </a:ext>
            </a:extLst>
          </p:cNvPr>
          <p:cNvSpPr/>
          <p:nvPr/>
        </p:nvSpPr>
        <p:spPr>
          <a:xfrm>
            <a:off x="365760" y="0"/>
            <a:ext cx="8412480" cy="91440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08  ·  Déploiement Efficace de la Solution IA</a:t>
            </a:r>
            <a:endParaRPr lang="en-US" sz="2400" dirty="0"/>
          </a:p>
        </p:txBody>
      </p:sp>
      <p:sp>
        <p:nvSpPr>
          <p:cNvPr id="4" name="Shape 1">
            <a:extLst>
              <a:ext uri="{FF2B5EF4-FFF2-40B4-BE49-F238E27FC236}">
                <a16:creationId xmlns:a16="http://schemas.microsoft.com/office/drawing/2014/main" id="{C9DAEB33-3B4C-8DCF-9665-A150799FE298}"/>
              </a:ext>
            </a:extLst>
          </p:cNvPr>
          <p:cNvSpPr/>
          <p:nvPr/>
        </p:nvSpPr>
        <p:spPr>
          <a:xfrm>
            <a:off x="0" y="914400"/>
            <a:ext cx="9144000" cy="54864"/>
          </a:xfrm>
          <a:prstGeom prst="rect">
            <a:avLst/>
          </a:prstGeom>
          <a:solidFill>
            <a:srgbClr val="F59E0B"/>
          </a:solidFill>
          <a:ln w="12700">
            <a:solidFill>
              <a:srgbClr val="F59E0B"/>
            </a:solidFill>
            <a:prstDash val="solid"/>
          </a:ln>
        </p:spPr>
        <p:txBody>
          <a:bodyPr/>
          <a:lstStyle/>
          <a:p>
            <a:endParaRPr lang="fr-CA"/>
          </a:p>
        </p:txBody>
      </p:sp>
      <p:sp>
        <p:nvSpPr>
          <p:cNvPr id="6" name="Rectangle: Folded Corner 5">
            <a:extLst>
              <a:ext uri="{FF2B5EF4-FFF2-40B4-BE49-F238E27FC236}">
                <a16:creationId xmlns:a16="http://schemas.microsoft.com/office/drawing/2014/main" id="{958FE561-A0AC-52D3-83AC-C91B25501136}"/>
              </a:ext>
            </a:extLst>
          </p:cNvPr>
          <p:cNvSpPr/>
          <p:nvPr/>
        </p:nvSpPr>
        <p:spPr>
          <a:xfrm>
            <a:off x="8763000" y="0"/>
            <a:ext cx="38753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12</a:t>
            </a:r>
          </a:p>
        </p:txBody>
      </p:sp>
      <p:sp>
        <p:nvSpPr>
          <p:cNvPr id="7" name="TextBox 6">
            <a:extLst>
              <a:ext uri="{FF2B5EF4-FFF2-40B4-BE49-F238E27FC236}">
                <a16:creationId xmlns:a16="http://schemas.microsoft.com/office/drawing/2014/main" id="{3B6C9D60-9D90-7440-5A74-EF0164C5666F}"/>
              </a:ext>
            </a:extLst>
          </p:cNvPr>
          <p:cNvSpPr txBox="1"/>
          <p:nvPr/>
        </p:nvSpPr>
        <p:spPr>
          <a:xfrm>
            <a:off x="2289266" y="2385451"/>
            <a:ext cx="4591594" cy="369332"/>
          </a:xfrm>
          <a:prstGeom prst="rect">
            <a:avLst/>
          </a:prstGeom>
          <a:noFill/>
        </p:spPr>
        <p:txBody>
          <a:bodyPr wrap="square">
            <a:spAutoFit/>
          </a:bodyPr>
          <a:lstStyle/>
          <a:p>
            <a:endParaRPr lang="fr-CA" dirty="0"/>
          </a:p>
        </p:txBody>
      </p:sp>
      <p:pic>
        <p:nvPicPr>
          <p:cNvPr id="9" name="Picture 8">
            <a:extLst>
              <a:ext uri="{FF2B5EF4-FFF2-40B4-BE49-F238E27FC236}">
                <a16:creationId xmlns:a16="http://schemas.microsoft.com/office/drawing/2014/main" id="{D2CFCA43-CC2B-59D7-0557-0D1D09F67142}"/>
              </a:ext>
            </a:extLst>
          </p:cNvPr>
          <p:cNvPicPr>
            <a:picLocks noChangeAspect="1"/>
          </p:cNvPicPr>
          <p:nvPr/>
        </p:nvPicPr>
        <p:blipFill>
          <a:blip r:embed="rId2"/>
          <a:stretch>
            <a:fillRect/>
          </a:stretch>
        </p:blipFill>
        <p:spPr>
          <a:xfrm>
            <a:off x="829491" y="969264"/>
            <a:ext cx="7230291" cy="3988239"/>
          </a:xfrm>
          <a:prstGeom prst="rect">
            <a:avLst/>
          </a:prstGeom>
        </p:spPr>
      </p:pic>
    </p:spTree>
    <p:extLst>
      <p:ext uri="{BB962C8B-B14F-4D97-AF65-F5344CB8AC3E}">
        <p14:creationId xmlns:p14="http://schemas.microsoft.com/office/powerpoint/2010/main" val="2867781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0B4D8">
              <a:alpha val="10000"/>
            </a:srgbClr>
          </a:solidFill>
          <a:ln w="12700">
            <a:solidFill>
              <a:srgbClr val="00B4D8">
                <a:alpha val="20000"/>
              </a:srgbClr>
            </a:solidFill>
            <a:prstDash val="solid"/>
          </a:ln>
        </p:spPr>
        <p:txBody>
          <a:bodyPr/>
          <a:lstStyle/>
          <a:p>
            <a:endParaRPr lang="fr-CA"/>
          </a:p>
        </p:txBody>
      </p:sp>
      <p:sp>
        <p:nvSpPr>
          <p:cNvPr id="3" name="Shape 1"/>
          <p:cNvSpPr/>
          <p:nvPr/>
        </p:nvSpPr>
        <p:spPr>
          <a:xfrm>
            <a:off x="6400800" y="2286000"/>
            <a:ext cx="3657600" cy="3657600"/>
          </a:xfrm>
          <a:prstGeom prst="ellipse">
            <a:avLst/>
          </a:prstGeom>
          <a:solidFill>
            <a:srgbClr val="06D6A0">
              <a:alpha val="10000"/>
            </a:srgbClr>
          </a:solidFill>
          <a:ln w="12700">
            <a:solidFill>
              <a:srgbClr val="06D6A0">
                <a:alpha val="20000"/>
              </a:srgbClr>
            </a:solidFill>
            <a:prstDash val="solid"/>
          </a:ln>
        </p:spPr>
        <p:txBody>
          <a:bodyPr/>
          <a:lstStyle/>
          <a:p>
            <a:endParaRPr lang="fr-CA"/>
          </a:p>
        </p:txBody>
      </p:sp>
      <p:sp>
        <p:nvSpPr>
          <p:cNvPr id="4" name="Shape 2"/>
          <p:cNvSpPr/>
          <p:nvPr/>
        </p:nvSpPr>
        <p:spPr>
          <a:xfrm>
            <a:off x="0" y="0"/>
            <a:ext cx="109728" cy="5143500"/>
          </a:xfrm>
          <a:prstGeom prst="rect">
            <a:avLst/>
          </a:prstGeom>
          <a:solidFill>
            <a:srgbClr val="06D6A0"/>
          </a:solidFill>
          <a:ln/>
        </p:spPr>
        <p:txBody>
          <a:bodyPr/>
          <a:lstStyle/>
          <a:p>
            <a:endParaRPr lang="fr-CA"/>
          </a:p>
        </p:txBody>
      </p:sp>
      <p:sp>
        <p:nvSpPr>
          <p:cNvPr id="5" name="Text 3"/>
          <p:cNvSpPr/>
          <p:nvPr/>
        </p:nvSpPr>
        <p:spPr>
          <a:xfrm>
            <a:off x="457200" y="548640"/>
            <a:ext cx="82296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6" name="Text 4"/>
          <p:cNvSpPr/>
          <p:nvPr/>
        </p:nvSpPr>
        <p:spPr>
          <a:xfrm>
            <a:off x="457200" y="1325880"/>
            <a:ext cx="8046720" cy="822960"/>
          </a:xfrm>
          <a:prstGeom prst="rect">
            <a:avLst/>
          </a:prstGeom>
          <a:noFill/>
          <a:ln/>
        </p:spPr>
        <p:txBody>
          <a:bodyPr wrap="square" rtlCol="0" anchor="ctr"/>
          <a:lstStyle/>
          <a:p>
            <a:pPr marL="0" indent="0">
              <a:buNone/>
            </a:pPr>
            <a:r>
              <a:rPr lang="en-US" sz="1500" dirty="0">
                <a:solidFill>
                  <a:srgbClr val="E8F4F8"/>
                </a:solidFill>
                <a:latin typeface="Calibri" pitchFamily="34" charset="0"/>
                <a:ea typeface="Calibri" pitchFamily="34" charset="-122"/>
                <a:cs typeface="Calibri" pitchFamily="34" charset="-120"/>
              </a:rPr>
              <a:t>Ce projet met en œuvre des techniques avancées de vision par ordinateur</a:t>
            </a:r>
            <a:endParaRPr lang="en-US" sz="1500" dirty="0"/>
          </a:p>
          <a:p>
            <a:pPr marL="0" indent="0">
              <a:buNone/>
            </a:pPr>
            <a:r>
              <a:rPr lang="en-US" sz="1500" dirty="0">
                <a:solidFill>
                  <a:srgbClr val="E8F4F8"/>
                </a:solidFill>
                <a:latin typeface="Calibri" pitchFamily="34" charset="0"/>
                <a:ea typeface="Calibri" pitchFamily="34" charset="-122"/>
                <a:cs typeface="Calibri" pitchFamily="34" charset="-120"/>
              </a:rPr>
              <a:t>pour analyser automatiquement des images de lésions cutanées.</a:t>
            </a:r>
            <a:endParaRPr lang="en-US" sz="1500" dirty="0"/>
          </a:p>
        </p:txBody>
      </p:sp>
      <p:sp>
        <p:nvSpPr>
          <p:cNvPr id="7" name="Shape 5"/>
          <p:cNvSpPr/>
          <p:nvPr/>
        </p:nvSpPr>
        <p:spPr>
          <a:xfrm>
            <a:off x="457200" y="2331720"/>
            <a:ext cx="2606040" cy="173736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8" name="Shape 6"/>
          <p:cNvSpPr/>
          <p:nvPr/>
        </p:nvSpPr>
        <p:spPr>
          <a:xfrm>
            <a:off x="457200" y="2331720"/>
            <a:ext cx="2606040" cy="64008"/>
          </a:xfrm>
          <a:prstGeom prst="rect">
            <a:avLst/>
          </a:prstGeom>
          <a:solidFill>
            <a:srgbClr val="00B4D8"/>
          </a:solidFill>
          <a:ln/>
        </p:spPr>
        <p:txBody>
          <a:bodyPr/>
          <a:lstStyle/>
          <a:p>
            <a:endParaRPr lang="fr-CA"/>
          </a:p>
        </p:txBody>
      </p:sp>
      <p:sp>
        <p:nvSpPr>
          <p:cNvPr id="9" name="Text 7"/>
          <p:cNvSpPr/>
          <p:nvPr/>
        </p:nvSpPr>
        <p:spPr>
          <a:xfrm>
            <a:off x="457200" y="2423160"/>
            <a:ext cx="26060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594360" y="3108960"/>
            <a:ext cx="2331720" cy="36576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IA appliquée</a:t>
            </a:r>
            <a:endParaRPr lang="en-US" sz="1200" dirty="0"/>
          </a:p>
        </p:txBody>
      </p:sp>
      <p:sp>
        <p:nvSpPr>
          <p:cNvPr id="11" name="Text 9"/>
          <p:cNvSpPr/>
          <p:nvPr/>
        </p:nvSpPr>
        <p:spPr>
          <a:xfrm>
            <a:off x="594360" y="3493008"/>
            <a:ext cx="2331720" cy="502920"/>
          </a:xfrm>
          <a:prstGeom prst="rect">
            <a:avLst/>
          </a:prstGeom>
          <a:noFill/>
          <a:ln/>
        </p:spPr>
        <p:txBody>
          <a:bodyPr wrap="square" rtlCol="0" anchor="ctr"/>
          <a:lstStyle/>
          <a:p>
            <a:pPr marL="0" indent="0" algn="ctr">
              <a:buNone/>
            </a:pPr>
            <a:r>
              <a:rPr lang="en-US" sz="1000" dirty="0">
                <a:solidFill>
                  <a:srgbClr val="8EAFC2"/>
                </a:solidFill>
                <a:latin typeface="Calibri" pitchFamily="34" charset="0"/>
                <a:ea typeface="Calibri" pitchFamily="34" charset="-122"/>
                <a:cs typeface="Calibri" pitchFamily="34" charset="-120"/>
              </a:rPr>
              <a:t>YOLOv8 pour la segmentation d'instance médicale</a:t>
            </a:r>
            <a:endParaRPr lang="en-US" sz="1000" dirty="0"/>
          </a:p>
        </p:txBody>
      </p:sp>
      <p:sp>
        <p:nvSpPr>
          <p:cNvPr id="12" name="Shape 10"/>
          <p:cNvSpPr/>
          <p:nvPr/>
        </p:nvSpPr>
        <p:spPr>
          <a:xfrm>
            <a:off x="3291840" y="2331720"/>
            <a:ext cx="2606040" cy="173736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3" name="Shape 11"/>
          <p:cNvSpPr/>
          <p:nvPr/>
        </p:nvSpPr>
        <p:spPr>
          <a:xfrm>
            <a:off x="3291840" y="2331720"/>
            <a:ext cx="2606040" cy="64008"/>
          </a:xfrm>
          <a:prstGeom prst="rect">
            <a:avLst/>
          </a:prstGeom>
          <a:solidFill>
            <a:srgbClr val="00B4D8"/>
          </a:solidFill>
          <a:ln/>
        </p:spPr>
        <p:txBody>
          <a:bodyPr/>
          <a:lstStyle/>
          <a:p>
            <a:endParaRPr lang="fr-CA"/>
          </a:p>
        </p:txBody>
      </p:sp>
      <p:sp>
        <p:nvSpPr>
          <p:cNvPr id="14" name="Text 12"/>
          <p:cNvSpPr/>
          <p:nvPr/>
        </p:nvSpPr>
        <p:spPr>
          <a:xfrm>
            <a:off x="3291840" y="2423160"/>
            <a:ext cx="26060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3429000" y="3108960"/>
            <a:ext cx="2331720" cy="36576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Métriques fiables</a:t>
            </a:r>
            <a:endParaRPr lang="en-US" sz="1200" dirty="0"/>
          </a:p>
        </p:txBody>
      </p:sp>
      <p:sp>
        <p:nvSpPr>
          <p:cNvPr id="16" name="Text 14"/>
          <p:cNvSpPr/>
          <p:nvPr/>
        </p:nvSpPr>
        <p:spPr>
          <a:xfrm>
            <a:off x="3429000" y="3493008"/>
            <a:ext cx="2331720" cy="502920"/>
          </a:xfrm>
          <a:prstGeom prst="rect">
            <a:avLst/>
          </a:prstGeom>
          <a:noFill/>
          <a:ln/>
        </p:spPr>
        <p:txBody>
          <a:bodyPr wrap="square" rtlCol="0" anchor="ctr"/>
          <a:lstStyle/>
          <a:p>
            <a:pPr marL="0" indent="0" algn="ctr">
              <a:buNone/>
            </a:pPr>
            <a:r>
              <a:rPr lang="en-US" sz="1000" dirty="0">
                <a:solidFill>
                  <a:srgbClr val="8EAFC2"/>
                </a:solidFill>
                <a:latin typeface="Calibri" pitchFamily="34" charset="0"/>
                <a:ea typeface="Calibri" pitchFamily="34" charset="-122"/>
                <a:cs typeface="Calibri" pitchFamily="34" charset="-120"/>
              </a:rPr>
              <a:t>Aire, périmètre, circularité et score de sévérité</a:t>
            </a:r>
            <a:endParaRPr lang="en-US" sz="1000" dirty="0"/>
          </a:p>
        </p:txBody>
      </p:sp>
      <p:sp>
        <p:nvSpPr>
          <p:cNvPr id="17" name="Shape 15"/>
          <p:cNvSpPr/>
          <p:nvPr/>
        </p:nvSpPr>
        <p:spPr>
          <a:xfrm>
            <a:off x="6126480" y="2331720"/>
            <a:ext cx="2606040" cy="1737360"/>
          </a:xfrm>
          <a:prstGeom prst="rect">
            <a:avLst/>
          </a:prstGeom>
          <a:solidFill>
            <a:srgbClr val="162535"/>
          </a:solidFill>
          <a:ln/>
          <a:effectLst>
            <a:outerShdw blurRad="101600" dist="38100" dir="8100000" algn="bl" rotWithShape="0">
              <a:srgbClr val="000000">
                <a:alpha val="25000"/>
              </a:srgbClr>
            </a:outerShdw>
          </a:effectLst>
        </p:spPr>
        <p:txBody>
          <a:bodyPr/>
          <a:lstStyle/>
          <a:p>
            <a:endParaRPr lang="fr-CA"/>
          </a:p>
        </p:txBody>
      </p:sp>
      <p:sp>
        <p:nvSpPr>
          <p:cNvPr id="18" name="Shape 16"/>
          <p:cNvSpPr/>
          <p:nvPr/>
        </p:nvSpPr>
        <p:spPr>
          <a:xfrm>
            <a:off x="6126480" y="2331720"/>
            <a:ext cx="2606040" cy="64008"/>
          </a:xfrm>
          <a:prstGeom prst="rect">
            <a:avLst/>
          </a:prstGeom>
          <a:solidFill>
            <a:srgbClr val="00B4D8"/>
          </a:solidFill>
          <a:ln/>
        </p:spPr>
        <p:txBody>
          <a:bodyPr/>
          <a:lstStyle/>
          <a:p>
            <a:endParaRPr lang="fr-CA"/>
          </a:p>
        </p:txBody>
      </p:sp>
      <p:sp>
        <p:nvSpPr>
          <p:cNvPr id="19" name="Text 17"/>
          <p:cNvSpPr/>
          <p:nvPr/>
        </p:nvSpPr>
        <p:spPr>
          <a:xfrm>
            <a:off x="6126480" y="2423160"/>
            <a:ext cx="260604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6263640" y="3108960"/>
            <a:ext cx="2331720" cy="365760"/>
          </a:xfrm>
          <a:prstGeom prst="rect">
            <a:avLst/>
          </a:prstGeom>
          <a:noFill/>
          <a:ln/>
        </p:spPr>
        <p:txBody>
          <a:bodyPr wrap="square" rtlCol="0" anchor="ctr"/>
          <a:lstStyle/>
          <a:p>
            <a:pPr marL="0" indent="0" algn="ctr">
              <a:buNone/>
            </a:pPr>
            <a:r>
              <a:rPr lang="en-US" sz="1200" b="1" dirty="0">
                <a:solidFill>
                  <a:srgbClr val="00B4D8"/>
                </a:solidFill>
                <a:latin typeface="Calibri" pitchFamily="34" charset="0"/>
                <a:ea typeface="Calibri" pitchFamily="34" charset="-122"/>
                <a:cs typeface="Calibri" pitchFamily="34" charset="-120"/>
              </a:rPr>
              <a:t>Impact réel</a:t>
            </a:r>
            <a:endParaRPr lang="en-US" sz="1200" dirty="0"/>
          </a:p>
        </p:txBody>
      </p:sp>
      <p:sp>
        <p:nvSpPr>
          <p:cNvPr id="21" name="Text 19"/>
          <p:cNvSpPr/>
          <p:nvPr/>
        </p:nvSpPr>
        <p:spPr>
          <a:xfrm>
            <a:off x="6263640" y="3493008"/>
            <a:ext cx="2331720" cy="502920"/>
          </a:xfrm>
          <a:prstGeom prst="rect">
            <a:avLst/>
          </a:prstGeom>
          <a:noFill/>
          <a:ln/>
        </p:spPr>
        <p:txBody>
          <a:bodyPr wrap="square" rtlCol="0" anchor="ctr"/>
          <a:lstStyle/>
          <a:p>
            <a:pPr marL="0" indent="0" algn="ctr">
              <a:buNone/>
            </a:pPr>
            <a:r>
              <a:rPr lang="en-US" sz="1000" dirty="0">
                <a:solidFill>
                  <a:srgbClr val="8EAFC2"/>
                </a:solidFill>
                <a:latin typeface="Calibri" pitchFamily="34" charset="0"/>
                <a:ea typeface="Calibri" pitchFamily="34" charset="-122"/>
                <a:cs typeface="Calibri" pitchFamily="34" charset="-120"/>
              </a:rPr>
              <a:t>Aide à l'analyse visuelle, non au diagnostic médical</a:t>
            </a:r>
            <a:endParaRPr lang="en-US" sz="1000" dirty="0"/>
          </a:p>
        </p:txBody>
      </p:sp>
      <p:sp>
        <p:nvSpPr>
          <p:cNvPr id="22" name="Shape 20"/>
          <p:cNvSpPr/>
          <p:nvPr/>
        </p:nvSpPr>
        <p:spPr>
          <a:xfrm>
            <a:off x="457200" y="4480560"/>
            <a:ext cx="8229600" cy="36576"/>
          </a:xfrm>
          <a:prstGeom prst="rect">
            <a:avLst/>
          </a:prstGeom>
          <a:solidFill>
            <a:srgbClr val="00B4D8">
              <a:alpha val="50000"/>
            </a:srgbClr>
          </a:solidFill>
          <a:ln/>
        </p:spPr>
        <p:txBody>
          <a:bodyPr/>
          <a:lstStyle/>
          <a:p>
            <a:endParaRPr lang="fr-CA"/>
          </a:p>
        </p:txBody>
      </p:sp>
      <p:sp>
        <p:nvSpPr>
          <p:cNvPr id="24" name="Rectangle: Folded Corner 23">
            <a:extLst>
              <a:ext uri="{FF2B5EF4-FFF2-40B4-BE49-F238E27FC236}">
                <a16:creationId xmlns:a16="http://schemas.microsoft.com/office/drawing/2014/main" id="{55FC2BDC-D6F2-F544-0163-BFD54B98CC66}"/>
              </a:ext>
            </a:extLst>
          </p:cNvPr>
          <p:cNvSpPr/>
          <p:nvPr/>
        </p:nvSpPr>
        <p:spPr>
          <a:xfrm>
            <a:off x="8763000" y="0"/>
            <a:ext cx="387536" cy="501446"/>
          </a:xfrm>
          <a:prstGeom prst="foldedCorne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3860</TotalTime>
  <Words>1655</Words>
  <Application>Microsoft Office PowerPoint</Application>
  <PresentationFormat>On-screen Show (16:9)</PresentationFormat>
  <Paragraphs>312</Paragraphs>
  <Slides>17</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System Font Regular</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Segmentation de Lésions Cutanées par IA</dc:title>
  <dc:subject>PptxGenJS Presentation</dc:subject>
  <dc:creator>PptxGenJS</dc:creator>
  <cp:lastModifiedBy>Sarah Amouri</cp:lastModifiedBy>
  <cp:revision>63</cp:revision>
  <dcterms:created xsi:type="dcterms:W3CDTF">2026-04-26T00:05:02Z</dcterms:created>
  <dcterms:modified xsi:type="dcterms:W3CDTF">2026-05-19T12:07:20Z</dcterms:modified>
</cp:coreProperties>
</file>